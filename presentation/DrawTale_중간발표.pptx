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저희는 아이가 직접 그린 그림이 이야기의 주인공이 되는 서비스, DrawTale을 만들고 있습니다. 오른쪽 네 칸은 아이가 이야기를 만들 때 고르는 장소, 문제, 행동, 결과를 뜻합니다.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부분입니다. 먼저 왜 이 서비스를 만들게 되었는지 배경조사부터 말씀드리고, 지난 한 달 동안 한 일, 영역별 작업, 그리고 지금까지의 결과와 다음 단계 순서로 이어가겠습니다.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학습 속도가 느린 아이들과 그 가족에 대해 조사했습니다. 특수교육이 필요한 학생은 올해 12만 4천여 명으로 4년 사이 20% 가까이 늘었고, 올해 처음 실시된 실태조사에서는 아동·청소년의 5.1%가 경계선 지능 위험군으로 나타났습니다. 보호자 열 명 중 여덟 명 이상은 아이의 발달과 학습 비용을 스스로 부담하고 있었습니다. 선행연구에서 부모들은 어디에도 속하지 못한 고립과 단절, 부족한 지원을 이야기합니다. 또 아이를 또래 속도에 맞추려 애쓰다가 점차 아이의 속도를 인정하고 아이에게 맞는 방식을 찾아가는 과정도 보고되었습니다. 그래서 저희는 아이에게 맞는 표현과 참여 방식, 그리고 부모가 아이의 생각을 발견할 수 있는 경험이 필요하다고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어떤 방식이 좋을까. 저희는 아이에게 글 이외의 표현 방식을 줄 수 없을까를 조사했습니다. 그림은 미술 결과물만이 아니라 아이가 경험과 생각을 표현하는 수단으로 연구되어 왔고, 2025년 Narrative Drawing 연구는 그림을 그리고 그 그림으로 이야기를 짓는 활동이 초기 문해로 이어질 가능성을 제시했습니다. 보편적 학습설계 지침도 글 외의 여러 표현 방법을 열어 두라고 권합니다. 다만 그림이 창의성을 높인다고 단정하지는 않습니다. 이런 연구를 근거로, 읽기-문제-정답 대신 그리기-표현-선택-이야기 구성이라는 참여형 방식을 골랐습니다.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교육적인 필요만으로는 프로젝트가 될 수 없어서, 기술적으로 가능한지도 조사했습니다. Meta의 Animated Drawings 연구는 아이와 아마추어가 그린 사람 그림을 캐릭터 찾기, 영역 떼어 내기, 관절 찾기, 애니메이션 네 단계로 움직였고, 이 과정에서 17만 8천여 장의 그림에 상자, 마스크, 관절을 표시한 데이터셋을 만들어 공개했습니다. 코드와 모델도 MIT 라이선스로 공개되어 있어서, 아이의 그림을 이야기 속에서 실제로 움직이는 주인공으로 쓸 수 있겠다고 판단했습니다.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이미 비슷한 서비스가 있지 않을까 조사했습니다. 실제로 있었습니다. Drawings Alive는 아이 그림을 올리면 AI로 애니메이션이나 3D로 바꿔 주고, Drawalive는 아이가 그림과 함께 이야기를 녹음하면 움직이는 콘텐츠로 만들어 AI 목소리로 읽어 줍니다. Looma도 그리고 말하고 보는 구조를 내세웁니다. 다만 아이가 이야기의 다음 장면을 직접 고르는 기능이나, 관절을 직접 바로잡는 기능은 확인한 범위에서 찾지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조사해 보니 그림을 AI로 움직이는 서비스는 물론, 그림으로 이야기를 만드는 서비스까지 이미 있었습니다. 그래서 그림을 넣으면 AI가 예쁜 영상 하나를 만들어 주는 것만으로는 부족하다고 판단했습니다. 저희가 집중한 것은 결과물의 화려함이 아니라, 아이가 만드는 과정에 얼마나 계속 참여하느냐입니다.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기술은 그림을 움직이게 하는 데서 멈춥니다. 저희는 여기서 한 걸음 더 나아가, 움직이게 된 내 그림이 내 이야기의 주인공이 된다면 어떨까 하는 질문을 던졌습니다.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지금까지의 조사를 한 번에 묶으면 이렇습니다. 사회적 배경, 교육적 배경, 기술 조사, 기존 서비스 조사를 거쳐, AI가 결과 대부분을 만들어 주면 아이의 참여가 한 번에 끝나기 쉽다는 한계를 발견했습니다. 그래서 DrawTale은 AI가 아이 대신 창작하는 서비스가 아니라, 아이의 그림과 선택이 이야기의 중심이 되는 서비스로 방향을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DrawTale을 소개합니다. 아이가 직접 그린 캐릭터를 AI가 인식해 움직이는 캐릭터로 바꾸고, 아이의 선택에 따라 자신만의 이야기를 완성하는 서비스입니다. 아이에게는 내 그림이 인정받고 살아 움직이는 경험을, 부모에게는 정답보다 아이가 무엇을 그리고 무엇을 고르는지 함께 바라보는 경험을 주고자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방식은 그림을 올리면 AI가 분석해 애니메이션을 만들고, 아이는 결과를 감상하는 데서 끝납니다. DrawTale에서는 캐릭터가 움직인 다음부터가 시작입니다. 이야기 상황이 주어지고, 아이가 다음에 무슨 일이 일어날지 고르고, 그 선택이 모여 나만의 이야기가 됩니다. 관절 확인과 보정은 필요할 때 선생님이나 보호자가 함께 도와줍니다.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주고 싶은 경험은 다섯 단어로 정리됩니다. 그리고, 움직이고, 고르고, 이야기하고, 경험하는 것. 잘 그리는 것보다 내가 만든 것이 살아나는 경험이 중요하다고 생각했습니다.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7일 프로젝트를 시작하고, 서비스 목적과 사용자 경험을 논의한 뒤 MVP 범위를 정했습니다. 그다음 네 명의 역할을 나누고, 화면, 기능, 데이터, AI 처리 방식을 함께 정했습니다. 처음에는 '아이 그림을 움직이고 이야기로 만들어 보자'라는 한 문장이었지만, 10월 2일까지 이를 화면, 기능, Backend, AI Runtime, AI Model, Dataset, 시스템 구조로 나누어 구체화했습니다.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역할은 네 영역으로 나누었습니다. 다만 각자 자기 영역만 따로 설계한 것이 아니라, 서비스 방향과 MVP 범위, 그리고 Frontend와 Backend, Backend와 AI, A1과 A2 사이의 연결 방식을 함께 논의해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육도현 담당 슬라이드입니다. 왼쪽 세 칸(왜 필요했나 → 무엇을 했나 → 다음 개발에 어떻게 쓰이나)을 채우고, 오른쪽 점선 칸에 실제 작업물 캡처를 크게 넣어 주세요. 작업 이름만 나열하지 않고, 왜 → 무엇 → 산출물 → 다음 개발 순서로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서민지 담당 슬라이드입니다. 왼쪽 세 칸(왜 필요했나 → 무엇을 했나 → 다음 개발에 어떻게 쓰이나)을 채우고, 오른쪽 점선 칸에 실제 작업물 캡처를 크게 넣어 주세요. 작업 이름만 나열하지 않고, 왜 → 무엇 → 산출물 → 다음 개발 순서로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김수정 담당 슬라이드입니다. 왼쪽 세 칸(왜 필요했나 → 무엇을 했나 → 다음 개발에 어떻게 쓰이나)을 채우고, 오른쪽 점선 칸에 실제 작업물 캡처를 크게 넣어 주세요. 작업 이름만 나열하지 않고, 왜 → 무엇 → 산출물 → 다음 개발 순서로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김민준 담당 슬라이드입니다. 왼쪽 세 칸(왜 필요했나 → 무엇을 했나 → 다음 개발에 어떻게 쓰이나)을 채우고, 오른쪽 점선 칸에 실제 작업물 캡처를 크게 넣어 주세요. 작업 이름만 나열하지 않고, 왜 → 무엇 → 산출물 → 다음 개발 순서로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'아이의 그림을 움직이고 이야기로 만들어 보자'는 한 문장이었습니다. 10월 2일 지금은 사용자 경험, 서비스 기능, 시스템 처리, 전체 구조, Backend, AI Runtime, AI Model 일곱 가지로 구체화되었습니다.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단계는 설계한 것을 하나로 이어 동작하게 만드는 것입니다. 네 영역이 각자 구현하면서, 최종적으로 아이가 그리고, AI가 이해하고, 캐릭터가 움직이고, 아이가 고르고, 이야기가 자라는 흐름을 완성하는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 주셔서 감사합니다. 질문 있으시면 편하게 말씀해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배경조사에 쓴 자료의 출처입니다. 기존 서비스 기능 비교는 발표 직전에 각 서비스의 최신 기능을 다시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seominji58/drawtale-pt_docs" TargetMode="External"/><Relationship Id="rId1" Type="http://schemas.openxmlformats.org/officeDocument/2006/relationships/image" Target="../media/Slide-21-image-1.jpe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dbpia.co.kr/journal/articleDetail?nodeId=NODE11606563" TargetMode="External"/><Relationship Id="rId3" Type="http://schemas.openxmlformats.org/officeDocument/2006/relationships/hyperlink" Target="https://www.dbpia.co.kr/journal/articleDetail?nodeId=NODE12094286" TargetMode="External"/><Relationship Id="rId4" Type="http://schemas.openxmlformats.org/officeDocument/2006/relationships/hyperlink" Target="https://www.kci.go.kr/kciportal/landing/article.kci?arti_id=ART002484150" TargetMode="External"/><Relationship Id="rId5" Type="http://schemas.openxmlformats.org/officeDocument/2006/relationships/hyperlink" Target="https://supple.kr/news/cmtnign6n0025e2tr63rvpb5o" TargetMode="External"/><Relationship Id="rId6" Type="http://schemas.openxmlformats.org/officeDocument/2006/relationships/hyperlink" Target="https://v.daum.net/v/20260729061254633" TargetMode="External"/><Relationship Id="rId7" Type="http://schemas.openxmlformats.org/officeDocument/2006/relationships/hyperlink" Target="https://www.frontiersin.org/journals/education/articles/10.3389/feduc.2025.1465714/full" TargetMode="External"/><Relationship Id="rId8" Type="http://schemas.openxmlformats.org/officeDocument/2006/relationships/hyperlink" Target="https://udlguidelines.cast.org/action-expression/expression-communication/multiple-media/" TargetMode="External"/><Relationship Id="rId9" Type="http://schemas.openxmlformats.org/officeDocument/2006/relationships/hyperlink" Target="https://arxiv.org/abs/2303.12741" TargetMode="External"/><Relationship Id="rId10" Type="http://schemas.openxmlformats.org/officeDocument/2006/relationships/hyperlink" Target="https://ai.meta.com/blog/ai-dataset-animation-drawings/" TargetMode="External"/><Relationship Id="rId11" Type="http://schemas.openxmlformats.org/officeDocument/2006/relationships/hyperlink" Target="https://drawingsalive.com/" TargetMode="External"/><Relationship Id="rId12" Type="http://schemas.openxmlformats.org/officeDocument/2006/relationships/hyperlink" Target="https://drawalive.app/" TargetMode="External"/><Relationship Id="rId13" Type="http://schemas.openxmlformats.org/officeDocument/2006/relationships/hyperlink" Target="https://www.turing.ac.uk/sites/default/files/2025-05/combined_briefing_-_understanding_the_impacts_of_generative_ai_use_on_children.pdf" TargetMode="External"/><Relationship Id="rId1" Type="http://schemas.openxmlformats.org/officeDocument/2006/relationships/image" Target="../media/Slide-22-image-1.jpe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417320"/>
            <a:ext cx="6035040" cy="365760"/>
          </a:xfrm>
          <a:prstGeom prst="rect">
            <a:avLst/>
          </a:prstGeom>
          <a:noFill/>
          <a:ln/>
        </p:spPr>
        <p:txBody>
          <a:bodyPr wrap="square" lIns="0" tIns="0" rIns="0" bIns="0" rtlCol="0" anchor="t"/>
          <a:lstStyle/>
          <a:p>
            <a:pPr algn="l" indent="0" marL="0">
              <a:lnSpc>
                <a:spcPct val="115000"/>
              </a:lnSpc>
              <a:buNone/>
            </a:pPr>
            <a:r>
              <a:rPr lang="en-US" sz="1600" b="1" dirty="0">
                <a:solidFill>
                  <a:srgbClr val="4C5CC4"/>
                </a:solidFill>
                <a:latin typeface="Malgun Gothic" pitchFamily="34" charset="0"/>
                <a:ea typeface="Malgun Gothic" pitchFamily="34" charset="-122"/>
                <a:cs typeface="Malgun Gothic" pitchFamily="34" charset="-120"/>
              </a:rPr>
              <a:t>옛날 옛적에, 그림 한 장이 이야기가 되었어요</a:t>
            </a:r>
            <a:endParaRPr lang="en-US" sz="1600" dirty="0"/>
          </a:p>
        </p:txBody>
      </p:sp>
      <p:sp>
        <p:nvSpPr>
          <p:cNvPr id="3" name="Text 1"/>
          <p:cNvSpPr txBox="1"/>
          <p:nvPr/>
        </p:nvSpPr>
        <p:spPr>
          <a:xfrm>
            <a:off x="640080" y="1874520"/>
            <a:ext cx="6035040" cy="1005840"/>
          </a:xfrm>
          <a:prstGeom prst="rect">
            <a:avLst/>
          </a:prstGeom>
          <a:noFill/>
          <a:ln/>
        </p:spPr>
        <p:txBody>
          <a:bodyPr wrap="square" lIns="0" tIns="0" rIns="0" bIns="0" rtlCol="0" anchor="t"/>
          <a:lstStyle/>
          <a:p>
            <a:pPr algn="l" indent="0" marL="0">
              <a:lnSpc>
                <a:spcPct val="115000"/>
              </a:lnSpc>
              <a:buNone/>
            </a:pPr>
            <a:r>
              <a:rPr lang="en-US" sz="6000" b="1" dirty="0">
                <a:solidFill>
                  <a:srgbClr val="39405C"/>
                </a:solidFill>
                <a:latin typeface="Malgun Gothic" pitchFamily="34" charset="0"/>
                <a:ea typeface="Malgun Gothic" pitchFamily="34" charset="-122"/>
                <a:cs typeface="Malgun Gothic" pitchFamily="34" charset="-120"/>
              </a:rPr>
              <a:t>DrawTale</a:t>
            </a:r>
            <a:endParaRPr lang="en-US" sz="6000" dirty="0"/>
          </a:p>
        </p:txBody>
      </p:sp>
      <p:sp>
        <p:nvSpPr>
          <p:cNvPr id="4" name="Text 2"/>
          <p:cNvSpPr txBox="1"/>
          <p:nvPr/>
        </p:nvSpPr>
        <p:spPr>
          <a:xfrm>
            <a:off x="640080" y="2834640"/>
            <a:ext cx="6035040" cy="457200"/>
          </a:xfrm>
          <a:prstGeom prst="rect">
            <a:avLst/>
          </a:prstGeom>
          <a:noFill/>
          <a:ln/>
        </p:spPr>
        <p:txBody>
          <a:bodyPr wrap="square" lIns="0" tIns="0" rIns="0" bIns="0" rtlCol="0" anchor="t"/>
          <a:lstStyle/>
          <a:p>
            <a:pPr algn="l" indent="0" marL="0">
              <a:lnSpc>
                <a:spcPct val="115000"/>
              </a:lnSpc>
              <a:buNone/>
            </a:pPr>
            <a:r>
              <a:rPr lang="en-US" sz="2200" b="1" dirty="0">
                <a:solidFill>
                  <a:srgbClr val="7386F5"/>
                </a:solidFill>
                <a:latin typeface="Malgun Gothic" pitchFamily="34" charset="0"/>
                <a:ea typeface="Malgun Gothic" pitchFamily="34" charset="-122"/>
                <a:cs typeface="Malgun Gothic" pitchFamily="34" charset="-120"/>
              </a:rPr>
              <a:t>한칸이야기</a:t>
            </a:r>
            <a:endParaRPr lang="en-US" sz="2200" dirty="0"/>
          </a:p>
        </p:txBody>
      </p:sp>
      <p:sp>
        <p:nvSpPr>
          <p:cNvPr id="5" name="Text 3"/>
          <p:cNvSpPr txBox="1"/>
          <p:nvPr/>
        </p:nvSpPr>
        <p:spPr>
          <a:xfrm>
            <a:off x="640080" y="3520440"/>
            <a:ext cx="6035040" cy="914400"/>
          </a:xfrm>
          <a:prstGeom prst="rect">
            <a:avLst/>
          </a:prstGeom>
          <a:noFill/>
          <a:ln/>
        </p:spPr>
        <p:txBody>
          <a:bodyPr wrap="square" lIns="0" tIns="0" rIns="0" bIns="0" rtlCol="0" anchor="t"/>
          <a:lstStyle/>
          <a:p>
            <a:pPr algn="l" indent="0" marL="0">
              <a:lnSpc>
                <a:spcPct val="130000"/>
              </a:lnSpc>
              <a:buNone/>
            </a:pPr>
            <a:r>
              <a:rPr lang="en-US" sz="2000" dirty="0">
                <a:solidFill>
                  <a:srgbClr val="39405C"/>
                </a:solidFill>
                <a:latin typeface="Malgun Gothic" pitchFamily="34" charset="0"/>
                <a:ea typeface="Malgun Gothic" pitchFamily="34" charset="-122"/>
                <a:cs typeface="Malgun Gothic" pitchFamily="34" charset="-120"/>
              </a:rPr>
              <a:t>아이의 그림이 주인공이 되고,</a:t>
            </a:r>
            <a:endParaRPr lang="en-US" sz="2000" dirty="0"/>
          </a:p>
          <a:p>
            <a:pPr algn="l" indent="0" marL="0">
              <a:lnSpc>
                <a:spcPct val="130000"/>
              </a:lnSpc>
              <a:buNone/>
            </a:pPr>
            <a:r>
              <a:rPr lang="en-US" sz="2000" dirty="0">
                <a:solidFill>
                  <a:srgbClr val="39405C"/>
                </a:solidFill>
                <a:latin typeface="Malgun Gothic" pitchFamily="34" charset="0"/>
                <a:ea typeface="Malgun Gothic" pitchFamily="34" charset="-122"/>
                <a:cs typeface="Malgun Gothic" pitchFamily="34" charset="-120"/>
              </a:rPr>
              <a:t>아이의 선택으로 완성되는 이야기</a:t>
            </a:r>
            <a:endParaRPr lang="en-US" sz="2000" dirty="0"/>
          </a:p>
        </p:txBody>
      </p:sp>
      <p:sp>
        <p:nvSpPr>
          <p:cNvPr id="6" name="Text 4"/>
          <p:cNvSpPr txBox="1"/>
          <p:nvPr/>
        </p:nvSpPr>
        <p:spPr>
          <a:xfrm>
            <a:off x="640080" y="5074920"/>
            <a:ext cx="6035040" cy="365760"/>
          </a:xfrm>
          <a:prstGeom prst="rect">
            <a:avLst/>
          </a:prstGeom>
          <a:noFill/>
          <a:ln/>
        </p:spPr>
        <p:txBody>
          <a:bodyPr wrap="square" lIns="0" tIns="0" rIns="0" bIns="0" rtlCol="0" anchor="t"/>
          <a:lstStyle/>
          <a:p>
            <a:pPr algn="l" indent="0" marL="0">
              <a:lnSpc>
                <a:spcPct val="115000"/>
              </a:lnSpc>
              <a:buNone/>
            </a:pPr>
            <a:r>
              <a:rPr lang="en-US" sz="1400" dirty="0">
                <a:solidFill>
                  <a:srgbClr val="5A6282"/>
                </a:solidFill>
                <a:latin typeface="Malgun Gothic" pitchFamily="34" charset="0"/>
                <a:ea typeface="Malgun Gothic" pitchFamily="34" charset="-122"/>
                <a:cs typeface="Malgun Gothic" pitchFamily="34" charset="-120"/>
              </a:rPr>
              <a:t>[팀 이름]  ·  2026. 10. 02  ·  캡스톤 중간 발표</a:t>
            </a:r>
            <a:endParaRPr lang="en-US" sz="1400" dirty="0"/>
          </a:p>
        </p:txBody>
      </p:sp>
      <p:sp>
        <p:nvSpPr>
          <p:cNvPr id="7" name="Shape 5"/>
          <p:cNvSpPr/>
          <p:nvPr/>
        </p:nvSpPr>
        <p:spPr>
          <a:xfrm rot="-360000">
            <a:off x="7315200" y="1417320"/>
            <a:ext cx="1920240" cy="1920240"/>
          </a:xfrm>
          <a:prstGeom prst="roundRect">
            <a:avLst>
              <a:gd name="adj" fmla="val 26000"/>
            </a:avLst>
          </a:prstGeom>
          <a:solidFill>
            <a:srgbClr val="7FB2F0"/>
          </a:solidFill>
          <a:ln/>
          <a:effectLst>
            <a:outerShdw sx="100000" sy="100000" kx="0" ky="0" algn="bl" rotWithShape="0" blurRad="152400" dist="50800" dir="5400000">
              <a:srgbClr val="5364CE">
                <a:alpha val="13000"/>
              </a:srgbClr>
            </a:outerShdw>
          </a:effectLst>
        </p:spPr>
      </p:sp>
      <p:sp>
        <p:nvSpPr>
          <p:cNvPr id="8" name="Text 6"/>
          <p:cNvSpPr txBox="1"/>
          <p:nvPr/>
        </p:nvSpPr>
        <p:spPr>
          <a:xfrm rot="-360000">
            <a:off x="7315200" y="1417320"/>
            <a:ext cx="1920240" cy="19202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장소</a:t>
            </a:r>
            <a:endParaRPr lang="en-US" sz="2200" dirty="0"/>
          </a:p>
        </p:txBody>
      </p:sp>
      <p:sp>
        <p:nvSpPr>
          <p:cNvPr id="9" name="Shape 7"/>
          <p:cNvSpPr/>
          <p:nvPr/>
        </p:nvSpPr>
        <p:spPr>
          <a:xfrm rot="300000">
            <a:off x="9464040" y="1645920"/>
            <a:ext cx="1920240" cy="1920240"/>
          </a:xfrm>
          <a:prstGeom prst="roundRect">
            <a:avLst>
              <a:gd name="adj" fmla="val 26000"/>
            </a:avLst>
          </a:prstGeom>
          <a:solidFill>
            <a:srgbClr val="F4909F"/>
          </a:solidFill>
          <a:ln/>
          <a:effectLst>
            <a:outerShdw sx="100000" sy="100000" kx="0" ky="0" algn="bl" rotWithShape="0" blurRad="152400" dist="50800" dir="5400000">
              <a:srgbClr val="5364CE">
                <a:alpha val="13000"/>
              </a:srgbClr>
            </a:outerShdw>
          </a:effectLst>
        </p:spPr>
      </p:sp>
      <p:sp>
        <p:nvSpPr>
          <p:cNvPr id="10" name="Text 8"/>
          <p:cNvSpPr txBox="1"/>
          <p:nvPr/>
        </p:nvSpPr>
        <p:spPr>
          <a:xfrm rot="300000">
            <a:off x="9464040" y="1645920"/>
            <a:ext cx="1920240" cy="19202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문제</a:t>
            </a:r>
            <a:endParaRPr lang="en-US" sz="2200" dirty="0"/>
          </a:p>
        </p:txBody>
      </p:sp>
      <p:sp>
        <p:nvSpPr>
          <p:cNvPr id="11" name="Shape 9"/>
          <p:cNvSpPr/>
          <p:nvPr/>
        </p:nvSpPr>
        <p:spPr>
          <a:xfrm rot="240000">
            <a:off x="7178040" y="3566160"/>
            <a:ext cx="1920240" cy="1920240"/>
          </a:xfrm>
          <a:prstGeom prst="roundRect">
            <a:avLst>
              <a:gd name="adj" fmla="val 26000"/>
            </a:avLst>
          </a:prstGeom>
          <a:solidFill>
            <a:srgbClr val="74CDAE"/>
          </a:solidFill>
          <a:ln/>
          <a:effectLst>
            <a:outerShdw sx="100000" sy="100000" kx="0" ky="0" algn="bl" rotWithShape="0" blurRad="152400" dist="50800" dir="5400000">
              <a:srgbClr val="5364CE">
                <a:alpha val="13000"/>
              </a:srgbClr>
            </a:outerShdw>
          </a:effectLst>
        </p:spPr>
      </p:sp>
      <p:sp>
        <p:nvSpPr>
          <p:cNvPr id="12" name="Text 10"/>
          <p:cNvSpPr txBox="1"/>
          <p:nvPr/>
        </p:nvSpPr>
        <p:spPr>
          <a:xfrm rot="240000">
            <a:off x="7178040" y="3566160"/>
            <a:ext cx="1920240" cy="19202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행동</a:t>
            </a:r>
            <a:endParaRPr lang="en-US" sz="2200" dirty="0"/>
          </a:p>
        </p:txBody>
      </p:sp>
      <p:sp>
        <p:nvSpPr>
          <p:cNvPr id="13" name="Shape 11"/>
          <p:cNvSpPr/>
          <p:nvPr/>
        </p:nvSpPr>
        <p:spPr>
          <a:xfrm rot="-240000">
            <a:off x="9326880" y="3794760"/>
            <a:ext cx="1920240" cy="1920240"/>
          </a:xfrm>
          <a:prstGeom prst="roundRect">
            <a:avLst>
              <a:gd name="adj" fmla="val 26000"/>
            </a:avLst>
          </a:prstGeom>
          <a:solidFill>
            <a:srgbClr val="F5C46B"/>
          </a:solidFill>
          <a:ln/>
          <a:effectLst>
            <a:outerShdw sx="100000" sy="100000" kx="0" ky="0" algn="bl" rotWithShape="0" blurRad="152400" dist="50800" dir="5400000">
              <a:srgbClr val="5364CE">
                <a:alpha val="13000"/>
              </a:srgbClr>
            </a:outerShdw>
          </a:effectLst>
        </p:spPr>
      </p:sp>
      <p:sp>
        <p:nvSpPr>
          <p:cNvPr id="14" name="Text 12"/>
          <p:cNvSpPr txBox="1"/>
          <p:nvPr/>
        </p:nvSpPr>
        <p:spPr>
          <a:xfrm rot="-240000">
            <a:off x="9326880" y="3794760"/>
            <a:ext cx="1920240" cy="19202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결과</a:t>
            </a:r>
            <a:endParaRPr lang="en-US" sz="2200" dirty="0"/>
          </a:p>
        </p:txBody>
      </p:sp>
      <p:sp>
        <p:nvSpPr>
          <p:cNvPr id="15" name="Shape 13"/>
          <p:cNvSpPr/>
          <p:nvPr/>
        </p:nvSpPr>
        <p:spPr>
          <a:xfrm>
            <a:off x="11292840" y="1097280"/>
            <a:ext cx="411480" cy="411480"/>
          </a:xfrm>
          <a:prstGeom prst="ellipse">
            <a:avLst/>
          </a:prstGeom>
          <a:solidFill>
            <a:srgbClr val="FDFEFF"/>
          </a:solidFill>
          <a:ln/>
        </p:spPr>
      </p:sp>
      <p:sp>
        <p:nvSpPr>
          <p:cNvPr id="16" name="Shape 14"/>
          <p:cNvSpPr/>
          <p:nvPr/>
        </p:nvSpPr>
        <p:spPr>
          <a:xfrm>
            <a:off x="6903720" y="1188720"/>
            <a:ext cx="256032" cy="256032"/>
          </a:xfrm>
          <a:prstGeom prst="ellipse">
            <a:avLst/>
          </a:prstGeom>
          <a:solidFill>
            <a:srgbClr val="F4909F">
              <a:alpha val="50000"/>
            </a:srgbClr>
          </a:solidFill>
          <a:ln/>
        </p:spPr>
      </p:sp>
      <p:sp>
        <p:nvSpPr>
          <p:cNvPr id="17" name="Shape 15"/>
          <p:cNvSpPr/>
          <p:nvPr/>
        </p:nvSpPr>
        <p:spPr>
          <a:xfrm>
            <a:off x="11430000" y="5760720"/>
            <a:ext cx="228600" cy="228600"/>
          </a:xfrm>
          <a:prstGeom prst="ellipse">
            <a:avLst/>
          </a:prstGeom>
          <a:solidFill>
            <a:srgbClr val="7FB2F0">
              <a:alpha val="6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2</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오늘 들려드릴 이야기</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왜 만들었고, 무엇을 만들기로 했고, 지난 한 달 무엇을 했는지</a:t>
            </a:r>
            <a:endParaRPr lang="en-US" sz="3000" dirty="0"/>
          </a:p>
        </p:txBody>
      </p:sp>
      <p:sp>
        <p:nvSpPr>
          <p:cNvPr id="5" name="Shape 3"/>
          <p:cNvSpPr/>
          <p:nvPr/>
        </p:nvSpPr>
        <p:spPr>
          <a:xfrm>
            <a:off x="640080" y="2103120"/>
            <a:ext cx="2487854" cy="3566160"/>
          </a:xfrm>
          <a:prstGeom prst="roundRect">
            <a:avLst>
              <a:gd name="adj" fmla="val 8086"/>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1005840" y="2514600"/>
            <a:ext cx="868680" cy="868680"/>
          </a:xfrm>
          <a:prstGeom prst="roundRect">
            <a:avLst>
              <a:gd name="adj" fmla="val 26000"/>
            </a:avLst>
          </a:prstGeom>
          <a:solidFill>
            <a:srgbClr val="7FB2F0"/>
          </a:solidFill>
          <a:ln/>
          <a:effectLst>
            <a:outerShdw sx="100000" sy="100000" kx="0" ky="0" algn="bl" rotWithShape="0" blurRad="152400" dist="50800" dir="5400000">
              <a:srgbClr val="5364CE">
                <a:alpha val="13000"/>
              </a:srgbClr>
            </a:outerShdw>
          </a:effectLst>
        </p:spPr>
      </p:sp>
      <p:sp>
        <p:nvSpPr>
          <p:cNvPr id="7" name="Text 5"/>
          <p:cNvSpPr txBox="1"/>
          <p:nvPr/>
        </p:nvSpPr>
        <p:spPr>
          <a:xfrm>
            <a:off x="1005840" y="2514600"/>
            <a:ext cx="868680" cy="868680"/>
          </a:xfrm>
          <a:prstGeom prst="rect">
            <a:avLst/>
          </a:prstGeom>
          <a:noFill/>
          <a:ln/>
        </p:spPr>
        <p:txBody>
          <a:bodyPr wrap="square" lIns="0" tIns="0" rIns="0" bIns="0" rtlCol="0" anchor="ctr"/>
          <a:lstStyle/>
          <a:p>
            <a:pPr algn="ctr" indent="0" marL="0">
              <a:buNone/>
            </a:pPr>
            <a:r>
              <a:rPr lang="en-US" sz="2600" b="1" dirty="0">
                <a:solidFill>
                  <a:srgbClr val="FDFEFF"/>
                </a:solidFill>
                <a:latin typeface="Malgun Gothic" pitchFamily="34" charset="0"/>
                <a:ea typeface="Malgun Gothic" pitchFamily="34" charset="-122"/>
                <a:cs typeface="Malgun Gothic" pitchFamily="34" charset="-120"/>
              </a:rPr>
              <a:t>1</a:t>
            </a:r>
            <a:endParaRPr lang="en-US" sz="2600" dirty="0"/>
          </a:p>
        </p:txBody>
      </p:sp>
      <p:sp>
        <p:nvSpPr>
          <p:cNvPr id="8" name="Text 6"/>
          <p:cNvSpPr txBox="1"/>
          <p:nvPr/>
        </p:nvSpPr>
        <p:spPr>
          <a:xfrm>
            <a:off x="1005840" y="3703320"/>
            <a:ext cx="1756334" cy="320040"/>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PART A</a:t>
            </a:r>
            <a:endParaRPr lang="en-US" sz="1300" dirty="0"/>
          </a:p>
        </p:txBody>
      </p:sp>
      <p:sp>
        <p:nvSpPr>
          <p:cNvPr id="9" name="Text 7"/>
          <p:cNvSpPr txBox="1"/>
          <p:nvPr/>
        </p:nvSpPr>
        <p:spPr>
          <a:xfrm>
            <a:off x="1005840" y="4041648"/>
            <a:ext cx="1756334" cy="457200"/>
          </a:xfrm>
          <a:prstGeom prst="rect">
            <a:avLst/>
          </a:prstGeom>
          <a:noFill/>
          <a:ln/>
        </p:spPr>
        <p:txBody>
          <a:bodyPr wrap="square" lIns="0" tIns="0" rIns="0" bIns="0" rtlCol="0" anchor="t"/>
          <a:lstStyle/>
          <a:p>
            <a:pPr algn="l" indent="0" marL="0">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왜 만들었나</a:t>
            </a:r>
            <a:endParaRPr lang="en-US" sz="2200" dirty="0"/>
          </a:p>
        </p:txBody>
      </p:sp>
      <p:sp>
        <p:nvSpPr>
          <p:cNvPr id="10" name="Text 8"/>
          <p:cNvSpPr txBox="1"/>
          <p:nvPr/>
        </p:nvSpPr>
        <p:spPr>
          <a:xfrm>
            <a:off x="1005840" y="4617720"/>
            <a:ext cx="1756334" cy="822960"/>
          </a:xfrm>
          <a:prstGeom prst="rect">
            <a:avLst/>
          </a:prstGeom>
          <a:noFill/>
          <a:ln/>
        </p:spPr>
        <p:txBody>
          <a:bodyPr wrap="square" lIns="0" tIns="0" rIns="0" bIns="0" rtlCol="0" anchor="t"/>
          <a:lstStyle/>
          <a:p>
            <a:pPr algn="l" indent="0" marL="0">
              <a:lnSpc>
                <a:spcPct val="130000"/>
              </a:lnSpc>
              <a:buNone/>
            </a:pPr>
            <a:r>
              <a:rPr lang="en-US" sz="1400" dirty="0">
                <a:solidFill>
                  <a:srgbClr val="5A6282"/>
                </a:solidFill>
                <a:latin typeface="Malgun Gothic" pitchFamily="34" charset="0"/>
                <a:ea typeface="Malgun Gothic" pitchFamily="34" charset="-122"/>
                <a:cs typeface="Malgun Gothic" pitchFamily="34" charset="-120"/>
              </a:rPr>
              <a:t>배경조사에서 서비스 방향까지</a:t>
            </a:r>
            <a:endParaRPr lang="en-US" sz="1400" dirty="0"/>
          </a:p>
        </p:txBody>
      </p:sp>
      <p:sp>
        <p:nvSpPr>
          <p:cNvPr id="11" name="Shape 9"/>
          <p:cNvSpPr/>
          <p:nvPr/>
        </p:nvSpPr>
        <p:spPr>
          <a:xfrm>
            <a:off x="3447974" y="2103120"/>
            <a:ext cx="2487854" cy="3566160"/>
          </a:xfrm>
          <a:prstGeom prst="roundRect">
            <a:avLst>
              <a:gd name="adj" fmla="val 8086"/>
            </a:avLst>
          </a:prstGeom>
          <a:solidFill>
            <a:srgbClr val="FDFEFF"/>
          </a:solidFill>
          <a:ln/>
          <a:effectLst>
            <a:outerShdw sx="100000" sy="100000" kx="0" ky="0" algn="bl" rotWithShape="0" blurRad="152400" dist="50800" dir="5400000">
              <a:srgbClr val="5364CE">
                <a:alpha val="13000"/>
              </a:srgbClr>
            </a:outerShdw>
          </a:effectLst>
        </p:spPr>
      </p:sp>
      <p:sp>
        <p:nvSpPr>
          <p:cNvPr id="12" name="Shape 10"/>
          <p:cNvSpPr/>
          <p:nvPr/>
        </p:nvSpPr>
        <p:spPr>
          <a:xfrm>
            <a:off x="3813734" y="2514600"/>
            <a:ext cx="868680" cy="868680"/>
          </a:xfrm>
          <a:prstGeom prst="roundRect">
            <a:avLst>
              <a:gd name="adj" fmla="val 26000"/>
            </a:avLst>
          </a:prstGeom>
          <a:solidFill>
            <a:srgbClr val="F4909F"/>
          </a:solidFill>
          <a:ln/>
          <a:effectLst>
            <a:outerShdw sx="100000" sy="100000" kx="0" ky="0" algn="bl" rotWithShape="0" blurRad="152400" dist="50800" dir="5400000">
              <a:srgbClr val="5364CE">
                <a:alpha val="13000"/>
              </a:srgbClr>
            </a:outerShdw>
          </a:effectLst>
        </p:spPr>
      </p:sp>
      <p:sp>
        <p:nvSpPr>
          <p:cNvPr id="13" name="Text 11"/>
          <p:cNvSpPr txBox="1"/>
          <p:nvPr/>
        </p:nvSpPr>
        <p:spPr>
          <a:xfrm>
            <a:off x="3813734" y="2514600"/>
            <a:ext cx="868680" cy="868680"/>
          </a:xfrm>
          <a:prstGeom prst="rect">
            <a:avLst/>
          </a:prstGeom>
          <a:noFill/>
          <a:ln/>
        </p:spPr>
        <p:txBody>
          <a:bodyPr wrap="square" lIns="0" tIns="0" rIns="0" bIns="0" rtlCol="0" anchor="ctr"/>
          <a:lstStyle/>
          <a:p>
            <a:pPr algn="ctr" indent="0" marL="0">
              <a:buNone/>
            </a:pPr>
            <a:r>
              <a:rPr lang="en-US" sz="2600" b="1" dirty="0">
                <a:solidFill>
                  <a:srgbClr val="FDFEFF"/>
                </a:solidFill>
                <a:latin typeface="Malgun Gothic" pitchFamily="34" charset="0"/>
                <a:ea typeface="Malgun Gothic" pitchFamily="34" charset="-122"/>
                <a:cs typeface="Malgun Gothic" pitchFamily="34" charset="-120"/>
              </a:rPr>
              <a:t>2</a:t>
            </a:r>
            <a:endParaRPr lang="en-US" sz="2600" dirty="0"/>
          </a:p>
        </p:txBody>
      </p:sp>
      <p:sp>
        <p:nvSpPr>
          <p:cNvPr id="14" name="Text 12"/>
          <p:cNvSpPr txBox="1"/>
          <p:nvPr/>
        </p:nvSpPr>
        <p:spPr>
          <a:xfrm>
            <a:off x="3813734" y="3703320"/>
            <a:ext cx="1756334" cy="320040"/>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PART B</a:t>
            </a:r>
            <a:endParaRPr lang="en-US" sz="1300" dirty="0"/>
          </a:p>
        </p:txBody>
      </p:sp>
      <p:sp>
        <p:nvSpPr>
          <p:cNvPr id="15" name="Text 13"/>
          <p:cNvSpPr txBox="1"/>
          <p:nvPr/>
        </p:nvSpPr>
        <p:spPr>
          <a:xfrm>
            <a:off x="3813734" y="4041648"/>
            <a:ext cx="1756334" cy="457200"/>
          </a:xfrm>
          <a:prstGeom prst="rect">
            <a:avLst/>
          </a:prstGeom>
          <a:noFill/>
          <a:ln/>
        </p:spPr>
        <p:txBody>
          <a:bodyPr wrap="square" lIns="0" tIns="0" rIns="0" bIns="0" rtlCol="0" anchor="t"/>
          <a:lstStyle/>
          <a:p>
            <a:pPr algn="l" indent="0" marL="0">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지난 한 달</a:t>
            </a:r>
            <a:endParaRPr lang="en-US" sz="2200" dirty="0"/>
          </a:p>
        </p:txBody>
      </p:sp>
      <p:sp>
        <p:nvSpPr>
          <p:cNvPr id="16" name="Text 14"/>
          <p:cNvSpPr txBox="1"/>
          <p:nvPr/>
        </p:nvSpPr>
        <p:spPr>
          <a:xfrm>
            <a:off x="3813734" y="4617720"/>
            <a:ext cx="1756334" cy="822960"/>
          </a:xfrm>
          <a:prstGeom prst="rect">
            <a:avLst/>
          </a:prstGeom>
          <a:noFill/>
          <a:ln/>
        </p:spPr>
        <p:txBody>
          <a:bodyPr wrap="square" lIns="0" tIns="0" rIns="0" bIns="0" rtlCol="0" anchor="t"/>
          <a:lstStyle/>
          <a:p>
            <a:pPr algn="l" indent="0" marL="0">
              <a:lnSpc>
                <a:spcPct val="130000"/>
              </a:lnSpc>
              <a:buNone/>
            </a:pPr>
            <a:r>
              <a:rPr lang="en-US" sz="1400" dirty="0">
                <a:solidFill>
                  <a:srgbClr val="5A6282"/>
                </a:solidFill>
                <a:latin typeface="Malgun Gothic" pitchFamily="34" charset="0"/>
                <a:ea typeface="Malgun Gothic" pitchFamily="34" charset="-122"/>
                <a:cs typeface="Malgun Gothic" pitchFamily="34" charset="-120"/>
              </a:rPr>
              <a:t>9/7 ~ 10/2, 아이디어에서 프로젝트로</a:t>
            </a:r>
            <a:endParaRPr lang="en-US" sz="1400" dirty="0"/>
          </a:p>
        </p:txBody>
      </p:sp>
      <p:sp>
        <p:nvSpPr>
          <p:cNvPr id="17" name="Shape 15"/>
          <p:cNvSpPr/>
          <p:nvPr/>
        </p:nvSpPr>
        <p:spPr>
          <a:xfrm>
            <a:off x="6255868" y="2103120"/>
            <a:ext cx="2487854" cy="3566160"/>
          </a:xfrm>
          <a:prstGeom prst="roundRect">
            <a:avLst>
              <a:gd name="adj" fmla="val 8086"/>
            </a:avLst>
          </a:prstGeom>
          <a:solidFill>
            <a:srgbClr val="FDFEFF"/>
          </a:solidFill>
          <a:ln/>
          <a:effectLst>
            <a:outerShdw sx="100000" sy="100000" kx="0" ky="0" algn="bl" rotWithShape="0" blurRad="152400" dist="50800" dir="5400000">
              <a:srgbClr val="5364CE">
                <a:alpha val="13000"/>
              </a:srgbClr>
            </a:outerShdw>
          </a:effectLst>
        </p:spPr>
      </p:sp>
      <p:sp>
        <p:nvSpPr>
          <p:cNvPr id="18" name="Shape 16"/>
          <p:cNvSpPr/>
          <p:nvPr/>
        </p:nvSpPr>
        <p:spPr>
          <a:xfrm>
            <a:off x="6621628" y="2514600"/>
            <a:ext cx="868680" cy="868680"/>
          </a:xfrm>
          <a:prstGeom prst="roundRect">
            <a:avLst>
              <a:gd name="adj" fmla="val 26000"/>
            </a:avLst>
          </a:prstGeom>
          <a:solidFill>
            <a:srgbClr val="74CDAE"/>
          </a:solidFill>
          <a:ln/>
          <a:effectLst>
            <a:outerShdw sx="100000" sy="100000" kx="0" ky="0" algn="bl" rotWithShape="0" blurRad="152400" dist="50800" dir="5400000">
              <a:srgbClr val="5364CE">
                <a:alpha val="13000"/>
              </a:srgbClr>
            </a:outerShdw>
          </a:effectLst>
        </p:spPr>
      </p:sp>
      <p:sp>
        <p:nvSpPr>
          <p:cNvPr id="19" name="Text 17"/>
          <p:cNvSpPr txBox="1"/>
          <p:nvPr/>
        </p:nvSpPr>
        <p:spPr>
          <a:xfrm>
            <a:off x="6621628" y="2514600"/>
            <a:ext cx="868680" cy="868680"/>
          </a:xfrm>
          <a:prstGeom prst="rect">
            <a:avLst/>
          </a:prstGeom>
          <a:noFill/>
          <a:ln/>
        </p:spPr>
        <p:txBody>
          <a:bodyPr wrap="square" lIns="0" tIns="0" rIns="0" bIns="0" rtlCol="0" anchor="ctr"/>
          <a:lstStyle/>
          <a:p>
            <a:pPr algn="ctr" indent="0" marL="0">
              <a:buNone/>
            </a:pPr>
            <a:r>
              <a:rPr lang="en-US" sz="2600" b="1" dirty="0">
                <a:solidFill>
                  <a:srgbClr val="FDFEFF"/>
                </a:solidFill>
                <a:latin typeface="Malgun Gothic" pitchFamily="34" charset="0"/>
                <a:ea typeface="Malgun Gothic" pitchFamily="34" charset="-122"/>
                <a:cs typeface="Malgun Gothic" pitchFamily="34" charset="-120"/>
              </a:rPr>
              <a:t>3</a:t>
            </a:r>
            <a:endParaRPr lang="en-US" sz="2600" dirty="0"/>
          </a:p>
        </p:txBody>
      </p:sp>
      <p:sp>
        <p:nvSpPr>
          <p:cNvPr id="20" name="Text 18"/>
          <p:cNvSpPr txBox="1"/>
          <p:nvPr/>
        </p:nvSpPr>
        <p:spPr>
          <a:xfrm>
            <a:off x="6621628" y="3703320"/>
            <a:ext cx="1756334" cy="320040"/>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PART C</a:t>
            </a:r>
            <a:endParaRPr lang="en-US" sz="1300" dirty="0"/>
          </a:p>
        </p:txBody>
      </p:sp>
      <p:sp>
        <p:nvSpPr>
          <p:cNvPr id="21" name="Text 19"/>
          <p:cNvSpPr txBox="1"/>
          <p:nvPr/>
        </p:nvSpPr>
        <p:spPr>
          <a:xfrm>
            <a:off x="6621628" y="4041648"/>
            <a:ext cx="1756334" cy="457200"/>
          </a:xfrm>
          <a:prstGeom prst="rect">
            <a:avLst/>
          </a:prstGeom>
          <a:noFill/>
          <a:ln/>
        </p:spPr>
        <p:txBody>
          <a:bodyPr wrap="square" lIns="0" tIns="0" rIns="0" bIns="0" rtlCol="0" anchor="t"/>
          <a:lstStyle/>
          <a:p>
            <a:pPr algn="l" indent="0" marL="0">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영역별 작업</a:t>
            </a:r>
            <a:endParaRPr lang="en-US" sz="2200" dirty="0"/>
          </a:p>
        </p:txBody>
      </p:sp>
      <p:sp>
        <p:nvSpPr>
          <p:cNvPr id="22" name="Text 20"/>
          <p:cNvSpPr txBox="1"/>
          <p:nvPr/>
        </p:nvSpPr>
        <p:spPr>
          <a:xfrm>
            <a:off x="6621628" y="4617720"/>
            <a:ext cx="1756334" cy="822960"/>
          </a:xfrm>
          <a:prstGeom prst="rect">
            <a:avLst/>
          </a:prstGeom>
          <a:noFill/>
          <a:ln/>
        </p:spPr>
        <p:txBody>
          <a:bodyPr wrap="square" lIns="0" tIns="0" rIns="0" bIns="0" rtlCol="0" anchor="t"/>
          <a:lstStyle/>
          <a:p>
            <a:pPr algn="l" indent="0" marL="0">
              <a:lnSpc>
                <a:spcPct val="130000"/>
              </a:lnSpc>
              <a:buNone/>
            </a:pPr>
            <a:r>
              <a:rPr lang="en-US" sz="1400" dirty="0">
                <a:solidFill>
                  <a:srgbClr val="5A6282"/>
                </a:solidFill>
                <a:latin typeface="Malgun Gothic" pitchFamily="34" charset="0"/>
                <a:ea typeface="Malgun Gothic" pitchFamily="34" charset="-122"/>
                <a:cs typeface="Malgun Gothic" pitchFamily="34" charset="-120"/>
              </a:rPr>
              <a:t>Frontend · Backend · AI Runtime · AI Model</a:t>
            </a:r>
            <a:endParaRPr lang="en-US" sz="1400" dirty="0"/>
          </a:p>
        </p:txBody>
      </p:sp>
      <p:sp>
        <p:nvSpPr>
          <p:cNvPr id="23" name="Shape 21"/>
          <p:cNvSpPr/>
          <p:nvPr/>
        </p:nvSpPr>
        <p:spPr>
          <a:xfrm>
            <a:off x="9063761" y="2103120"/>
            <a:ext cx="2487854" cy="3566160"/>
          </a:xfrm>
          <a:prstGeom prst="roundRect">
            <a:avLst>
              <a:gd name="adj" fmla="val 8086"/>
            </a:avLst>
          </a:prstGeom>
          <a:solidFill>
            <a:srgbClr val="FDFEFF"/>
          </a:solidFill>
          <a:ln/>
          <a:effectLst>
            <a:outerShdw sx="100000" sy="100000" kx="0" ky="0" algn="bl" rotWithShape="0" blurRad="152400" dist="50800" dir="5400000">
              <a:srgbClr val="5364CE">
                <a:alpha val="13000"/>
              </a:srgbClr>
            </a:outerShdw>
          </a:effectLst>
        </p:spPr>
      </p:sp>
      <p:sp>
        <p:nvSpPr>
          <p:cNvPr id="24" name="Shape 22"/>
          <p:cNvSpPr/>
          <p:nvPr/>
        </p:nvSpPr>
        <p:spPr>
          <a:xfrm>
            <a:off x="9429521" y="2514600"/>
            <a:ext cx="868680" cy="868680"/>
          </a:xfrm>
          <a:prstGeom prst="roundRect">
            <a:avLst>
              <a:gd name="adj" fmla="val 26000"/>
            </a:avLst>
          </a:prstGeom>
          <a:solidFill>
            <a:srgbClr val="F5C46B"/>
          </a:solidFill>
          <a:ln/>
          <a:effectLst>
            <a:outerShdw sx="100000" sy="100000" kx="0" ky="0" algn="bl" rotWithShape="0" blurRad="152400" dist="50800" dir="5400000">
              <a:srgbClr val="5364CE">
                <a:alpha val="13000"/>
              </a:srgbClr>
            </a:outerShdw>
          </a:effectLst>
        </p:spPr>
      </p:sp>
      <p:sp>
        <p:nvSpPr>
          <p:cNvPr id="25" name="Text 23"/>
          <p:cNvSpPr txBox="1"/>
          <p:nvPr/>
        </p:nvSpPr>
        <p:spPr>
          <a:xfrm>
            <a:off x="9429521" y="2514600"/>
            <a:ext cx="868680" cy="868680"/>
          </a:xfrm>
          <a:prstGeom prst="rect">
            <a:avLst/>
          </a:prstGeom>
          <a:noFill/>
          <a:ln/>
        </p:spPr>
        <p:txBody>
          <a:bodyPr wrap="square" lIns="0" tIns="0" rIns="0" bIns="0" rtlCol="0" anchor="ctr"/>
          <a:lstStyle/>
          <a:p>
            <a:pPr algn="ctr" indent="0" marL="0">
              <a:buNone/>
            </a:pPr>
            <a:r>
              <a:rPr lang="en-US" sz="2600" b="1" dirty="0">
                <a:solidFill>
                  <a:srgbClr val="FDFEFF"/>
                </a:solidFill>
                <a:latin typeface="Malgun Gothic" pitchFamily="34" charset="0"/>
                <a:ea typeface="Malgun Gothic" pitchFamily="34" charset="-122"/>
                <a:cs typeface="Malgun Gothic" pitchFamily="34" charset="-120"/>
              </a:rPr>
              <a:t>4</a:t>
            </a:r>
            <a:endParaRPr lang="en-US" sz="2600" dirty="0"/>
          </a:p>
        </p:txBody>
      </p:sp>
      <p:sp>
        <p:nvSpPr>
          <p:cNvPr id="26" name="Text 24"/>
          <p:cNvSpPr txBox="1"/>
          <p:nvPr/>
        </p:nvSpPr>
        <p:spPr>
          <a:xfrm>
            <a:off x="9429521" y="3703320"/>
            <a:ext cx="1756334" cy="320040"/>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PART D</a:t>
            </a:r>
            <a:endParaRPr lang="en-US" sz="1300" dirty="0"/>
          </a:p>
        </p:txBody>
      </p:sp>
      <p:sp>
        <p:nvSpPr>
          <p:cNvPr id="27" name="Text 25"/>
          <p:cNvSpPr txBox="1"/>
          <p:nvPr/>
        </p:nvSpPr>
        <p:spPr>
          <a:xfrm>
            <a:off x="9429521" y="4041648"/>
            <a:ext cx="1756334" cy="457200"/>
          </a:xfrm>
          <a:prstGeom prst="rect">
            <a:avLst/>
          </a:prstGeom>
          <a:noFill/>
          <a:ln/>
        </p:spPr>
        <p:txBody>
          <a:bodyPr wrap="square" lIns="0" tIns="0" rIns="0" bIns="0" rtlCol="0" anchor="t"/>
          <a:lstStyle/>
          <a:p>
            <a:pPr algn="l" indent="0" marL="0">
              <a:lnSpc>
                <a:spcPct val="115000"/>
              </a:lnSpc>
              <a:buNone/>
            </a:pPr>
            <a:r>
              <a:rPr lang="en-US" sz="2200" b="1" dirty="0">
                <a:solidFill>
                  <a:srgbClr val="39405C"/>
                </a:solidFill>
                <a:latin typeface="Malgun Gothic" pitchFamily="34" charset="0"/>
                <a:ea typeface="Malgun Gothic" pitchFamily="34" charset="-122"/>
                <a:cs typeface="Malgun Gothic" pitchFamily="34" charset="-120"/>
              </a:rPr>
              <a:t>결과와 다음</a:t>
            </a:r>
            <a:endParaRPr lang="en-US" sz="2200" dirty="0"/>
          </a:p>
        </p:txBody>
      </p:sp>
      <p:sp>
        <p:nvSpPr>
          <p:cNvPr id="28" name="Text 26"/>
          <p:cNvSpPr txBox="1"/>
          <p:nvPr/>
        </p:nvSpPr>
        <p:spPr>
          <a:xfrm>
            <a:off x="9429521" y="4617720"/>
            <a:ext cx="1756334" cy="822960"/>
          </a:xfrm>
          <a:prstGeom prst="rect">
            <a:avLst/>
          </a:prstGeom>
          <a:noFill/>
          <a:ln/>
        </p:spPr>
        <p:txBody>
          <a:bodyPr wrap="square" lIns="0" tIns="0" rIns="0" bIns="0" rtlCol="0" anchor="t"/>
          <a:lstStyle/>
          <a:p>
            <a:pPr algn="l" indent="0" marL="0">
              <a:lnSpc>
                <a:spcPct val="130000"/>
              </a:lnSpc>
              <a:buNone/>
            </a:pPr>
            <a:r>
              <a:rPr lang="en-US" sz="1400" dirty="0">
                <a:solidFill>
                  <a:srgbClr val="5A6282"/>
                </a:solidFill>
                <a:latin typeface="Malgun Gothic" pitchFamily="34" charset="0"/>
                <a:ea typeface="Malgun Gothic" pitchFamily="34" charset="-122"/>
                <a:cs typeface="Malgun Gothic" pitchFamily="34" charset="-120"/>
              </a:rPr>
              <a:t>10/2까지의 결과와 다음 단계</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3</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배경조사 ① 사회적 배경</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학습 속도가 느린 아이들은 어디에 있을까?</a:t>
            </a:r>
            <a:endParaRPr lang="en-US" sz="3000" dirty="0"/>
          </a:p>
        </p:txBody>
      </p:sp>
      <p:sp>
        <p:nvSpPr>
          <p:cNvPr id="5" name="Shape 3"/>
          <p:cNvSpPr/>
          <p:nvPr/>
        </p:nvSpPr>
        <p:spPr>
          <a:xfrm>
            <a:off x="640080" y="1783080"/>
            <a:ext cx="3383280" cy="1298448"/>
          </a:xfrm>
          <a:prstGeom prst="roundRect">
            <a:avLst>
              <a:gd name="adj" fmla="val 15493"/>
            </a:avLst>
          </a:prstGeom>
          <a:solidFill>
            <a:srgbClr val="FDFEFF"/>
          </a:solidFill>
          <a:ln/>
          <a:effectLst>
            <a:outerShdw sx="100000" sy="100000" kx="0" ky="0" algn="bl" rotWithShape="0" blurRad="152400" dist="50800" dir="5400000">
              <a:srgbClr val="5364CE">
                <a:alpha val="13000"/>
              </a:srgbClr>
            </a:outerShdw>
          </a:effectLst>
        </p:spPr>
      </p:sp>
      <p:sp>
        <p:nvSpPr>
          <p:cNvPr id="6" name="Text 4"/>
          <p:cNvSpPr txBox="1"/>
          <p:nvPr/>
        </p:nvSpPr>
        <p:spPr>
          <a:xfrm>
            <a:off x="914400" y="1947672"/>
            <a:ext cx="2834640" cy="566928"/>
          </a:xfrm>
          <a:prstGeom prst="rect">
            <a:avLst/>
          </a:prstGeom>
          <a:noFill/>
          <a:ln/>
        </p:spPr>
        <p:txBody>
          <a:bodyPr wrap="square" lIns="0" tIns="0" rIns="0" bIns="0" rtlCol="0" anchor="t"/>
          <a:lstStyle/>
          <a:p>
            <a:pPr algn="l" indent="0" marL="0">
              <a:lnSpc>
                <a:spcPct val="115000"/>
              </a:lnSpc>
              <a:buNone/>
            </a:pPr>
            <a:r>
              <a:rPr lang="en-US" sz="3000" b="1" dirty="0">
                <a:solidFill>
                  <a:srgbClr val="4C5CC4"/>
                </a:solidFill>
                <a:latin typeface="Malgun Gothic" pitchFamily="34" charset="0"/>
                <a:ea typeface="Malgun Gothic" pitchFamily="34" charset="-122"/>
                <a:cs typeface="Malgun Gothic" pitchFamily="34" charset="-120"/>
              </a:rPr>
              <a:t>12만 4,195명</a:t>
            </a:r>
            <a:endParaRPr lang="en-US" sz="3000" dirty="0"/>
          </a:p>
        </p:txBody>
      </p:sp>
      <p:sp>
        <p:nvSpPr>
          <p:cNvPr id="7" name="Text 5"/>
          <p:cNvSpPr txBox="1"/>
          <p:nvPr/>
        </p:nvSpPr>
        <p:spPr>
          <a:xfrm>
            <a:off x="914400" y="2532888"/>
            <a:ext cx="2834640" cy="457200"/>
          </a:xfrm>
          <a:prstGeom prst="rect">
            <a:avLst/>
          </a:prstGeom>
          <a:noFill/>
          <a:ln/>
        </p:spPr>
        <p:txBody>
          <a:bodyPr wrap="square" lIns="0" tIns="0" rIns="0" bIns="0" rtlCol="0" anchor="t"/>
          <a:lstStyle/>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특수교육이 필요한 학생 (2026)</a:t>
            </a:r>
            <a:endParaRPr lang="en-US" sz="1200" dirty="0"/>
          </a:p>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4년 새 19.8% 늘었습니다 [4]</a:t>
            </a:r>
            <a:endParaRPr lang="en-US" sz="1200" dirty="0"/>
          </a:p>
        </p:txBody>
      </p:sp>
      <p:sp>
        <p:nvSpPr>
          <p:cNvPr id="8" name="Shape 6"/>
          <p:cNvSpPr/>
          <p:nvPr/>
        </p:nvSpPr>
        <p:spPr>
          <a:xfrm>
            <a:off x="640080" y="3264408"/>
            <a:ext cx="3383280" cy="1298448"/>
          </a:xfrm>
          <a:prstGeom prst="roundRect">
            <a:avLst>
              <a:gd name="adj" fmla="val 15493"/>
            </a:avLst>
          </a:prstGeom>
          <a:solidFill>
            <a:srgbClr val="FDFEFF"/>
          </a:solidFill>
          <a:ln/>
          <a:effectLst>
            <a:outerShdw sx="100000" sy="100000" kx="0" ky="0" algn="bl" rotWithShape="0" blurRad="152400" dist="50800" dir="5400000">
              <a:srgbClr val="5364CE">
                <a:alpha val="13000"/>
              </a:srgbClr>
            </a:outerShdw>
          </a:effectLst>
        </p:spPr>
      </p:sp>
      <p:sp>
        <p:nvSpPr>
          <p:cNvPr id="9" name="Text 7"/>
          <p:cNvSpPr txBox="1"/>
          <p:nvPr/>
        </p:nvSpPr>
        <p:spPr>
          <a:xfrm>
            <a:off x="914400" y="3429000"/>
            <a:ext cx="2834640" cy="566928"/>
          </a:xfrm>
          <a:prstGeom prst="rect">
            <a:avLst/>
          </a:prstGeom>
          <a:noFill/>
          <a:ln/>
        </p:spPr>
        <p:txBody>
          <a:bodyPr wrap="square" lIns="0" tIns="0" rIns="0" bIns="0" rtlCol="0" anchor="t"/>
          <a:lstStyle/>
          <a:p>
            <a:pPr algn="l" indent="0" marL="0">
              <a:lnSpc>
                <a:spcPct val="115000"/>
              </a:lnSpc>
              <a:buNone/>
            </a:pPr>
            <a:r>
              <a:rPr lang="en-US" sz="3000" b="1" dirty="0">
                <a:solidFill>
                  <a:srgbClr val="4C5CC4"/>
                </a:solidFill>
                <a:latin typeface="Malgun Gothic" pitchFamily="34" charset="0"/>
                <a:ea typeface="Malgun Gothic" pitchFamily="34" charset="-122"/>
                <a:cs typeface="Malgun Gothic" pitchFamily="34" charset="-120"/>
              </a:rPr>
              <a:t>5.1%</a:t>
            </a:r>
            <a:endParaRPr lang="en-US" sz="3000" dirty="0"/>
          </a:p>
        </p:txBody>
      </p:sp>
      <p:sp>
        <p:nvSpPr>
          <p:cNvPr id="10" name="Text 8"/>
          <p:cNvSpPr txBox="1"/>
          <p:nvPr/>
        </p:nvSpPr>
        <p:spPr>
          <a:xfrm>
            <a:off x="914400" y="4014216"/>
            <a:ext cx="2834640" cy="457200"/>
          </a:xfrm>
          <a:prstGeom prst="rect">
            <a:avLst/>
          </a:prstGeom>
          <a:noFill/>
          <a:ln/>
        </p:spPr>
        <p:txBody>
          <a:bodyPr wrap="square" lIns="0" tIns="0" rIns="0" bIns="0" rtlCol="0" anchor="t"/>
          <a:lstStyle/>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아동 · 청소년 중 경계선 지능 위험군</a:t>
            </a:r>
            <a:endParaRPr lang="en-US" sz="1200" dirty="0"/>
          </a:p>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첫 실태조사 (2026) [5]</a:t>
            </a:r>
            <a:endParaRPr lang="en-US" sz="1200" dirty="0"/>
          </a:p>
        </p:txBody>
      </p:sp>
      <p:sp>
        <p:nvSpPr>
          <p:cNvPr id="11" name="Shape 9"/>
          <p:cNvSpPr/>
          <p:nvPr/>
        </p:nvSpPr>
        <p:spPr>
          <a:xfrm>
            <a:off x="640080" y="4745736"/>
            <a:ext cx="3383280" cy="1298448"/>
          </a:xfrm>
          <a:prstGeom prst="roundRect">
            <a:avLst>
              <a:gd name="adj" fmla="val 15493"/>
            </a:avLst>
          </a:prstGeom>
          <a:solidFill>
            <a:srgbClr val="FDFEFF"/>
          </a:solidFill>
          <a:ln/>
          <a:effectLst>
            <a:outerShdw sx="100000" sy="100000" kx="0" ky="0" algn="bl" rotWithShape="0" blurRad="152400" dist="50800" dir="5400000">
              <a:srgbClr val="5364CE">
                <a:alpha val="13000"/>
              </a:srgbClr>
            </a:outerShdw>
          </a:effectLst>
        </p:spPr>
      </p:sp>
      <p:sp>
        <p:nvSpPr>
          <p:cNvPr id="12" name="Text 10"/>
          <p:cNvSpPr txBox="1"/>
          <p:nvPr/>
        </p:nvSpPr>
        <p:spPr>
          <a:xfrm>
            <a:off x="914400" y="4910328"/>
            <a:ext cx="2834640" cy="566928"/>
          </a:xfrm>
          <a:prstGeom prst="rect">
            <a:avLst/>
          </a:prstGeom>
          <a:noFill/>
          <a:ln/>
        </p:spPr>
        <p:txBody>
          <a:bodyPr wrap="square" lIns="0" tIns="0" rIns="0" bIns="0" rtlCol="0" anchor="t"/>
          <a:lstStyle/>
          <a:p>
            <a:pPr algn="l" indent="0" marL="0">
              <a:lnSpc>
                <a:spcPct val="115000"/>
              </a:lnSpc>
              <a:buNone/>
            </a:pPr>
            <a:r>
              <a:rPr lang="en-US" sz="3000" b="1" dirty="0">
                <a:solidFill>
                  <a:srgbClr val="4C5CC4"/>
                </a:solidFill>
                <a:latin typeface="Malgun Gothic" pitchFamily="34" charset="0"/>
                <a:ea typeface="Malgun Gothic" pitchFamily="34" charset="-122"/>
                <a:cs typeface="Malgun Gothic" pitchFamily="34" charset="-120"/>
              </a:rPr>
              <a:t>85.1%</a:t>
            </a:r>
            <a:endParaRPr lang="en-US" sz="3000" dirty="0"/>
          </a:p>
        </p:txBody>
      </p:sp>
      <p:sp>
        <p:nvSpPr>
          <p:cNvPr id="13" name="Text 11"/>
          <p:cNvSpPr txBox="1"/>
          <p:nvPr/>
        </p:nvSpPr>
        <p:spPr>
          <a:xfrm>
            <a:off x="914400" y="5495544"/>
            <a:ext cx="2834640" cy="457200"/>
          </a:xfrm>
          <a:prstGeom prst="rect">
            <a:avLst/>
          </a:prstGeom>
          <a:noFill/>
          <a:ln/>
        </p:spPr>
        <p:txBody>
          <a:bodyPr wrap="square" lIns="0" tIns="0" rIns="0" bIns="0" rtlCol="0" anchor="t"/>
          <a:lstStyle/>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아이의 발달 · 학습 비용을</a:t>
            </a:r>
            <a:endParaRPr lang="en-US" sz="1200" dirty="0"/>
          </a:p>
          <a:p>
            <a:pPr algn="l" indent="0" marL="0">
              <a:lnSpc>
                <a:spcPct val="120000"/>
              </a:lnSpc>
              <a:buNone/>
            </a:pPr>
            <a:r>
              <a:rPr lang="en-US" sz="1200" dirty="0">
                <a:solidFill>
                  <a:srgbClr val="5A6282"/>
                </a:solidFill>
                <a:latin typeface="Malgun Gothic" pitchFamily="34" charset="0"/>
                <a:ea typeface="Malgun Gothic" pitchFamily="34" charset="-122"/>
                <a:cs typeface="Malgun Gothic" pitchFamily="34" charset="-120"/>
              </a:rPr>
              <a:t>사비로 쓴 보호자 (같은 조사) [5]</a:t>
            </a:r>
            <a:endParaRPr lang="en-US" sz="1200" dirty="0"/>
          </a:p>
        </p:txBody>
      </p:sp>
      <p:sp>
        <p:nvSpPr>
          <p:cNvPr id="14" name="Shape 12"/>
          <p:cNvSpPr/>
          <p:nvPr/>
        </p:nvSpPr>
        <p:spPr>
          <a:xfrm>
            <a:off x="4343400" y="1783080"/>
            <a:ext cx="3520440" cy="2834640"/>
          </a:xfrm>
          <a:prstGeom prst="roundRect">
            <a:avLst>
              <a:gd name="adj" fmla="val 7097"/>
            </a:avLst>
          </a:prstGeom>
          <a:solidFill>
            <a:srgbClr val="FDFEFF"/>
          </a:solidFill>
          <a:ln/>
          <a:effectLst>
            <a:outerShdw sx="100000" sy="100000" kx="0" ky="0" algn="bl" rotWithShape="0" blurRad="152400" dist="50800" dir="5400000">
              <a:srgbClr val="5364CE">
                <a:alpha val="13000"/>
              </a:srgbClr>
            </a:outerShdw>
          </a:effectLst>
        </p:spPr>
      </p:sp>
      <p:sp>
        <p:nvSpPr>
          <p:cNvPr id="15" name="Shape 13"/>
          <p:cNvSpPr/>
          <p:nvPr/>
        </p:nvSpPr>
        <p:spPr>
          <a:xfrm>
            <a:off x="4617720" y="2057400"/>
            <a:ext cx="1737360" cy="365760"/>
          </a:xfrm>
          <a:prstGeom prst="roundRect">
            <a:avLst>
              <a:gd name="adj" fmla="val 50000"/>
            </a:avLst>
          </a:prstGeom>
          <a:solidFill>
            <a:srgbClr val="EDF0FE"/>
          </a:solidFill>
          <a:ln/>
        </p:spPr>
      </p:sp>
      <p:sp>
        <p:nvSpPr>
          <p:cNvPr id="16" name="Text 14"/>
          <p:cNvSpPr txBox="1"/>
          <p:nvPr/>
        </p:nvSpPr>
        <p:spPr>
          <a:xfrm>
            <a:off x="4617720" y="2057400"/>
            <a:ext cx="17373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부모 대상 연구</a:t>
            </a:r>
            <a:endParaRPr lang="en-US" sz="1200" dirty="0"/>
          </a:p>
        </p:txBody>
      </p:sp>
      <p:sp>
        <p:nvSpPr>
          <p:cNvPr id="17" name="Text 15"/>
          <p:cNvSpPr txBox="1"/>
          <p:nvPr/>
        </p:nvSpPr>
        <p:spPr>
          <a:xfrm>
            <a:off x="4617720" y="2606040"/>
            <a:ext cx="2971800" cy="1463040"/>
          </a:xfrm>
          <a:prstGeom prst="rect">
            <a:avLst/>
          </a:prstGeom>
          <a:noFill/>
          <a:ln/>
        </p:spPr>
        <p:txBody>
          <a:bodyPr wrap="square" lIns="0" tIns="0" rIns="0" bIns="0" rtlCol="0" anchor="t"/>
          <a:lstStyle/>
          <a:p>
            <a:pPr algn="l" indent="0" marL="0">
              <a:lnSpc>
                <a:spcPct val="140000"/>
              </a:lnSpc>
              <a:buNone/>
            </a:pPr>
            <a:r>
              <a:rPr lang="en-US" sz="1400" b="1" dirty="0">
                <a:solidFill>
                  <a:srgbClr val="39405C"/>
                </a:solidFill>
                <a:latin typeface="Malgun Gothic" pitchFamily="34" charset="0"/>
                <a:ea typeface="Malgun Gothic" pitchFamily="34" charset="-122"/>
                <a:cs typeface="Malgun Gothic" pitchFamily="34" charset="-120"/>
              </a:rPr>
              <a:t>부모들은 “어디에도 속하지 못한 고립과 단절”, 부족한 지원과 열악한 교육 · 돌봄 환경을 이야기합니다</a:t>
            </a:r>
            <a:endParaRPr lang="en-US" sz="1400" dirty="0"/>
          </a:p>
        </p:txBody>
      </p:sp>
      <p:sp>
        <p:nvSpPr>
          <p:cNvPr id="18" name="Text 16"/>
          <p:cNvSpPr txBox="1"/>
          <p:nvPr/>
        </p:nvSpPr>
        <p:spPr>
          <a:xfrm>
            <a:off x="4617720" y="4023360"/>
            <a:ext cx="2971800" cy="457200"/>
          </a:xfrm>
          <a:prstGeom prst="rect">
            <a:avLst/>
          </a:prstGeom>
          <a:noFill/>
          <a:ln/>
        </p:spPr>
        <p:txBody>
          <a:bodyPr wrap="square" lIns="0" tIns="0" rIns="0" bIns="0" rtlCol="0" anchor="t"/>
          <a:lstStyle/>
          <a:p>
            <a:pPr algn="l" indent="0" marL="0">
              <a:lnSpc>
                <a:spcPct val="115000"/>
              </a:lnSpc>
              <a:buNone/>
            </a:pPr>
            <a:r>
              <a:rPr lang="en-US" sz="1000" dirty="0">
                <a:solidFill>
                  <a:srgbClr val="8A91AA"/>
                </a:solidFill>
                <a:latin typeface="Malgun Gothic" pitchFamily="34" charset="0"/>
                <a:ea typeface="Malgun Gothic" pitchFamily="34" charset="-122"/>
                <a:cs typeface="Malgun Gothic" pitchFamily="34" charset="-120"/>
              </a:rPr>
              <a:t>김초은 외 (2023), 한국가족복지학 [1]</a:t>
            </a:r>
            <a:endParaRPr lang="en-US" sz="1000" dirty="0"/>
          </a:p>
          <a:p>
            <a:pPr algn="l" indent="0" marL="0">
              <a:lnSpc>
                <a:spcPct val="115000"/>
              </a:lnSpc>
              <a:buNone/>
            </a:pPr>
            <a:r>
              <a:rPr lang="en-US" sz="1000" dirty="0">
                <a:solidFill>
                  <a:srgbClr val="8A91AA"/>
                </a:solidFill>
                <a:latin typeface="Malgun Gothic" pitchFamily="34" charset="0"/>
                <a:ea typeface="Malgun Gothic" pitchFamily="34" charset="-122"/>
                <a:cs typeface="Malgun Gothic" pitchFamily="34" charset="-120"/>
              </a:rPr>
              <a:t>손성화 · 백수진 (2025), 특수교육논총 [2]</a:t>
            </a:r>
            <a:endParaRPr lang="en-US" sz="1000" dirty="0"/>
          </a:p>
        </p:txBody>
      </p:sp>
      <p:sp>
        <p:nvSpPr>
          <p:cNvPr id="19" name="Shape 17"/>
          <p:cNvSpPr/>
          <p:nvPr/>
        </p:nvSpPr>
        <p:spPr>
          <a:xfrm>
            <a:off x="8092440" y="1783080"/>
            <a:ext cx="3520440" cy="2834640"/>
          </a:xfrm>
          <a:prstGeom prst="roundRect">
            <a:avLst>
              <a:gd name="adj" fmla="val 7097"/>
            </a:avLst>
          </a:prstGeom>
          <a:solidFill>
            <a:srgbClr val="FDFEFF"/>
          </a:solidFill>
          <a:ln/>
          <a:effectLst>
            <a:outerShdw sx="100000" sy="100000" kx="0" ky="0" algn="bl" rotWithShape="0" blurRad="152400" dist="50800" dir="5400000">
              <a:srgbClr val="5364CE">
                <a:alpha val="13000"/>
              </a:srgbClr>
            </a:outerShdw>
          </a:effectLst>
        </p:spPr>
      </p:sp>
      <p:sp>
        <p:nvSpPr>
          <p:cNvPr id="20" name="Shape 18"/>
          <p:cNvSpPr/>
          <p:nvPr/>
        </p:nvSpPr>
        <p:spPr>
          <a:xfrm>
            <a:off x="8366760" y="2057400"/>
            <a:ext cx="1737360" cy="365760"/>
          </a:xfrm>
          <a:prstGeom prst="roundRect">
            <a:avLst>
              <a:gd name="adj" fmla="val 50000"/>
            </a:avLst>
          </a:prstGeom>
          <a:solidFill>
            <a:srgbClr val="EDF0FE"/>
          </a:solidFill>
          <a:ln/>
        </p:spPr>
      </p:sp>
      <p:sp>
        <p:nvSpPr>
          <p:cNvPr id="21" name="Text 19"/>
          <p:cNvSpPr txBox="1"/>
          <p:nvPr/>
        </p:nvSpPr>
        <p:spPr>
          <a:xfrm>
            <a:off x="8366760" y="2057400"/>
            <a:ext cx="17373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양육경험 연구</a:t>
            </a:r>
            <a:endParaRPr lang="en-US" sz="1200" dirty="0"/>
          </a:p>
        </p:txBody>
      </p:sp>
      <p:sp>
        <p:nvSpPr>
          <p:cNvPr id="22" name="Text 20"/>
          <p:cNvSpPr txBox="1"/>
          <p:nvPr/>
        </p:nvSpPr>
        <p:spPr>
          <a:xfrm>
            <a:off x="8366760" y="2606040"/>
            <a:ext cx="2971800" cy="1463040"/>
          </a:xfrm>
          <a:prstGeom prst="rect">
            <a:avLst/>
          </a:prstGeom>
          <a:noFill/>
          <a:ln/>
        </p:spPr>
        <p:txBody>
          <a:bodyPr wrap="square" lIns="0" tIns="0" rIns="0" bIns="0" rtlCol="0" anchor="t"/>
          <a:lstStyle/>
          <a:p>
            <a:pPr algn="l" indent="0" marL="0">
              <a:lnSpc>
                <a:spcPct val="140000"/>
              </a:lnSpc>
              <a:buNone/>
            </a:pPr>
            <a:r>
              <a:rPr lang="en-US" sz="1400" b="1" dirty="0">
                <a:solidFill>
                  <a:srgbClr val="39405C"/>
                </a:solidFill>
                <a:latin typeface="Malgun Gothic" pitchFamily="34" charset="0"/>
                <a:ea typeface="Malgun Gothic" pitchFamily="34" charset="-122"/>
                <a:cs typeface="Malgun Gothic" pitchFamily="34" charset="-120"/>
              </a:rPr>
              <a:t>아이를 또래 속도에 맞추려 애쓰다가, 점차 아이의 특성을 이해하고 아이에게 맞는 환경을 찾아갑니다</a:t>
            </a:r>
            <a:endParaRPr lang="en-US" sz="1400" dirty="0"/>
          </a:p>
        </p:txBody>
      </p:sp>
      <p:sp>
        <p:nvSpPr>
          <p:cNvPr id="23" name="Text 21"/>
          <p:cNvSpPr txBox="1"/>
          <p:nvPr/>
        </p:nvSpPr>
        <p:spPr>
          <a:xfrm>
            <a:off x="8366760" y="4023360"/>
            <a:ext cx="2971800" cy="457200"/>
          </a:xfrm>
          <a:prstGeom prst="rect">
            <a:avLst/>
          </a:prstGeom>
          <a:noFill/>
          <a:ln/>
        </p:spPr>
        <p:txBody>
          <a:bodyPr wrap="square" lIns="0" tIns="0" rIns="0" bIns="0" rtlCol="0" anchor="t"/>
          <a:lstStyle/>
          <a:p>
            <a:pPr algn="l" indent="0" marL="0">
              <a:lnSpc>
                <a:spcPct val="115000"/>
              </a:lnSpc>
              <a:buNone/>
            </a:pPr>
            <a:r>
              <a:rPr lang="en-US" sz="1000" dirty="0">
                <a:solidFill>
                  <a:srgbClr val="8A91AA"/>
                </a:solidFill>
                <a:latin typeface="Malgun Gothic" pitchFamily="34" charset="0"/>
                <a:ea typeface="Malgun Gothic" pitchFamily="34" charset="-122"/>
                <a:cs typeface="Malgun Gothic" pitchFamily="34" charset="-120"/>
              </a:rPr>
              <a:t>임희진 · 구자경 (2019), 독서치료연구 [3]</a:t>
            </a:r>
            <a:endParaRPr lang="en-US" sz="1000" dirty="0"/>
          </a:p>
        </p:txBody>
      </p:sp>
      <p:sp>
        <p:nvSpPr>
          <p:cNvPr id="24" name="Shape 22"/>
          <p:cNvSpPr/>
          <p:nvPr/>
        </p:nvSpPr>
        <p:spPr>
          <a:xfrm>
            <a:off x="4343400" y="4828032"/>
            <a:ext cx="1572768" cy="841248"/>
          </a:xfrm>
          <a:prstGeom prst="roundRect">
            <a:avLst>
              <a:gd name="adj" fmla="val 23913"/>
            </a:avLst>
          </a:prstGeom>
          <a:solidFill>
            <a:srgbClr val="EDF0FE"/>
          </a:solidFill>
          <a:ln/>
        </p:spPr>
      </p:sp>
      <p:sp>
        <p:nvSpPr>
          <p:cNvPr id="25" name="Text 23"/>
          <p:cNvSpPr txBox="1"/>
          <p:nvPr/>
        </p:nvSpPr>
        <p:spPr>
          <a:xfrm>
            <a:off x="4343400" y="4828032"/>
            <a:ext cx="1572768" cy="841248"/>
          </a:xfrm>
          <a:prstGeom prst="rect">
            <a:avLst/>
          </a:prstGeom>
          <a:noFill/>
          <a:ln/>
        </p:spPr>
        <p:txBody>
          <a:bodyPr wrap="square" lIns="0" tIns="0" rIns="0" bIns="0" rtlCol="0" anchor="ctr"/>
          <a:lstStyle/>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아이마다 다른</a:t>
            </a:r>
            <a:endParaRPr lang="en-US" sz="1150" dirty="0"/>
          </a:p>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학습 속도</a:t>
            </a:r>
            <a:endParaRPr lang="en-US" sz="1150" dirty="0"/>
          </a:p>
        </p:txBody>
      </p:sp>
      <p:sp>
        <p:nvSpPr>
          <p:cNvPr id="26" name="Shape 24"/>
          <p:cNvSpPr/>
          <p:nvPr/>
        </p:nvSpPr>
        <p:spPr>
          <a:xfrm>
            <a:off x="5934456" y="5148072"/>
            <a:ext cx="274320" cy="201168"/>
          </a:xfrm>
          <a:prstGeom prst="rightArrow">
            <a:avLst/>
          </a:prstGeom>
          <a:solidFill>
            <a:srgbClr val="C9D2F7"/>
          </a:solidFill>
          <a:ln/>
        </p:spPr>
      </p:sp>
      <p:sp>
        <p:nvSpPr>
          <p:cNvPr id="27" name="Shape 25"/>
          <p:cNvSpPr/>
          <p:nvPr/>
        </p:nvSpPr>
        <p:spPr>
          <a:xfrm>
            <a:off x="6227064" y="4828032"/>
            <a:ext cx="1572768" cy="841248"/>
          </a:xfrm>
          <a:prstGeom prst="roundRect">
            <a:avLst>
              <a:gd name="adj" fmla="val 23913"/>
            </a:avLst>
          </a:prstGeom>
          <a:solidFill>
            <a:srgbClr val="EDF0FE"/>
          </a:solidFill>
          <a:ln/>
        </p:spPr>
      </p:sp>
      <p:sp>
        <p:nvSpPr>
          <p:cNvPr id="28" name="Text 26"/>
          <p:cNvSpPr txBox="1"/>
          <p:nvPr/>
        </p:nvSpPr>
        <p:spPr>
          <a:xfrm>
            <a:off x="6227064" y="4828032"/>
            <a:ext cx="1572768" cy="841248"/>
          </a:xfrm>
          <a:prstGeom prst="rect">
            <a:avLst/>
          </a:prstGeom>
          <a:noFill/>
          <a:ln/>
        </p:spPr>
        <p:txBody>
          <a:bodyPr wrap="square" lIns="0" tIns="0" rIns="0" bIns="0" rtlCol="0" anchor="ctr"/>
          <a:lstStyle/>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기존 학습 방식에</a:t>
            </a:r>
            <a:endParaRPr lang="en-US" sz="1150" dirty="0"/>
          </a:p>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맞추기 어려움</a:t>
            </a:r>
            <a:endParaRPr lang="en-US" sz="1150" dirty="0"/>
          </a:p>
        </p:txBody>
      </p:sp>
      <p:sp>
        <p:nvSpPr>
          <p:cNvPr id="29" name="Shape 27"/>
          <p:cNvSpPr/>
          <p:nvPr/>
        </p:nvSpPr>
        <p:spPr>
          <a:xfrm>
            <a:off x="7818120" y="5148072"/>
            <a:ext cx="274320" cy="201168"/>
          </a:xfrm>
          <a:prstGeom prst="rightArrow">
            <a:avLst/>
          </a:prstGeom>
          <a:solidFill>
            <a:srgbClr val="C9D2F7"/>
          </a:solidFill>
          <a:ln/>
        </p:spPr>
      </p:sp>
      <p:sp>
        <p:nvSpPr>
          <p:cNvPr id="30" name="Shape 28"/>
          <p:cNvSpPr/>
          <p:nvPr/>
        </p:nvSpPr>
        <p:spPr>
          <a:xfrm>
            <a:off x="8110728" y="4828032"/>
            <a:ext cx="1572768" cy="841248"/>
          </a:xfrm>
          <a:prstGeom prst="roundRect">
            <a:avLst>
              <a:gd name="adj" fmla="val 23913"/>
            </a:avLst>
          </a:prstGeom>
          <a:solidFill>
            <a:srgbClr val="EDF0FE"/>
          </a:solidFill>
          <a:ln/>
        </p:spPr>
      </p:sp>
      <p:sp>
        <p:nvSpPr>
          <p:cNvPr id="31" name="Text 29"/>
          <p:cNvSpPr txBox="1"/>
          <p:nvPr/>
        </p:nvSpPr>
        <p:spPr>
          <a:xfrm>
            <a:off x="8110728" y="4828032"/>
            <a:ext cx="1572768" cy="841248"/>
          </a:xfrm>
          <a:prstGeom prst="rect">
            <a:avLst/>
          </a:prstGeom>
          <a:noFill/>
          <a:ln/>
        </p:spPr>
        <p:txBody>
          <a:bodyPr wrap="square" lIns="0" tIns="0" rIns="0" bIns="0" rtlCol="0" anchor="ctr"/>
          <a:lstStyle/>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아이에게 맞는</a:t>
            </a:r>
            <a:endParaRPr lang="en-US" sz="1150" dirty="0"/>
          </a:p>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표현 · 참여 방식 필요</a:t>
            </a:r>
            <a:endParaRPr lang="en-US" sz="1150" dirty="0"/>
          </a:p>
        </p:txBody>
      </p:sp>
      <p:sp>
        <p:nvSpPr>
          <p:cNvPr id="32" name="Shape 30"/>
          <p:cNvSpPr/>
          <p:nvPr/>
        </p:nvSpPr>
        <p:spPr>
          <a:xfrm>
            <a:off x="9701784" y="5148072"/>
            <a:ext cx="274320" cy="201168"/>
          </a:xfrm>
          <a:prstGeom prst="rightArrow">
            <a:avLst/>
          </a:prstGeom>
          <a:solidFill>
            <a:srgbClr val="C9D2F7"/>
          </a:solidFill>
          <a:ln/>
        </p:spPr>
      </p:sp>
      <p:sp>
        <p:nvSpPr>
          <p:cNvPr id="33" name="Shape 31"/>
          <p:cNvSpPr/>
          <p:nvPr/>
        </p:nvSpPr>
        <p:spPr>
          <a:xfrm>
            <a:off x="9994392" y="4828032"/>
            <a:ext cx="1572768" cy="841248"/>
          </a:xfrm>
          <a:prstGeom prst="roundRect">
            <a:avLst>
              <a:gd name="adj" fmla="val 23913"/>
            </a:avLst>
          </a:prstGeom>
          <a:solidFill>
            <a:srgbClr val="FFEA99"/>
          </a:solidFill>
          <a:ln/>
        </p:spPr>
      </p:sp>
      <p:sp>
        <p:nvSpPr>
          <p:cNvPr id="34" name="Text 32"/>
          <p:cNvSpPr txBox="1"/>
          <p:nvPr/>
        </p:nvSpPr>
        <p:spPr>
          <a:xfrm>
            <a:off x="9994392" y="4828032"/>
            <a:ext cx="1572768" cy="841248"/>
          </a:xfrm>
          <a:prstGeom prst="rect">
            <a:avLst/>
          </a:prstGeom>
          <a:noFill/>
          <a:ln/>
        </p:spPr>
        <p:txBody>
          <a:bodyPr wrap="square" lIns="0" tIns="0" rIns="0" bIns="0" rtlCol="0" anchor="ctr"/>
          <a:lstStyle/>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부모도 아이의 생각을</a:t>
            </a:r>
            <a:endParaRPr lang="en-US" sz="1150" dirty="0"/>
          </a:p>
          <a:p>
            <a:pPr algn="ctr" indent="0" marL="0">
              <a:lnSpc>
                <a:spcPct val="120000"/>
              </a:lnSpc>
              <a:buNone/>
            </a:pPr>
            <a:r>
              <a:rPr lang="en-US" sz="1150" b="1" dirty="0">
                <a:solidFill>
                  <a:srgbClr val="39405C"/>
                </a:solidFill>
                <a:latin typeface="Malgun Gothic" pitchFamily="34" charset="0"/>
                <a:ea typeface="Malgun Gothic" pitchFamily="34" charset="-122"/>
                <a:cs typeface="Malgun Gothic" pitchFamily="34" charset="-120"/>
              </a:rPr>
              <a:t>발견하는 경험 필요</a:t>
            </a:r>
            <a:endParaRPr lang="en-US" sz="1150" dirty="0"/>
          </a:p>
        </p:txBody>
      </p:sp>
      <p:sp>
        <p:nvSpPr>
          <p:cNvPr id="35" name="Text 33"/>
          <p:cNvSpPr txBox="1"/>
          <p:nvPr/>
        </p:nvSpPr>
        <p:spPr>
          <a:xfrm>
            <a:off x="640080" y="6291072"/>
            <a:ext cx="10180015" cy="365760"/>
          </a:xfrm>
          <a:prstGeom prst="rect">
            <a:avLst/>
          </a:prstGeom>
          <a:noFill/>
          <a:ln/>
        </p:spPr>
        <p:txBody>
          <a:bodyPr wrap="square" lIns="0" tIns="0" rIns="0" bIns="0" rtlCol="0" anchor="b"/>
          <a:lstStyle/>
          <a:p>
            <a:pPr algn="l" indent="0" marL="0">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[1] 김초은 · 임해영 · 김초영 (2023)  [2] 손성화 · 백수진 (2025)  [3] 임희진 · 구자경 (2019)  [4] 교육부 2026 특수교육통계 (연합뉴스 2026.9.5)  [5] 한국보건사회연구원 경계선 지능 실태조사 (연합뉴스 2026.7.29)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4</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배경조사 ② 교육적 배경</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아이에게 글 이외의 표현 방식을 줄 수 없을까?</a:t>
            </a:r>
            <a:endParaRPr lang="en-US" sz="3000" dirty="0"/>
          </a:p>
        </p:txBody>
      </p:sp>
      <p:sp>
        <p:nvSpPr>
          <p:cNvPr id="5" name="Shape 3"/>
          <p:cNvSpPr/>
          <p:nvPr/>
        </p:nvSpPr>
        <p:spPr>
          <a:xfrm>
            <a:off x="640080" y="1783080"/>
            <a:ext cx="4754880" cy="3931920"/>
          </a:xfrm>
          <a:prstGeom prst="roundRect">
            <a:avLst>
              <a:gd name="adj" fmla="val 5116"/>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960120" y="2103120"/>
            <a:ext cx="2194560" cy="365760"/>
          </a:xfrm>
          <a:prstGeom prst="roundRect">
            <a:avLst>
              <a:gd name="adj" fmla="val 50000"/>
            </a:avLst>
          </a:prstGeom>
          <a:solidFill>
            <a:srgbClr val="EDF0FE"/>
          </a:solidFill>
          <a:ln/>
        </p:spPr>
      </p:sp>
      <p:sp>
        <p:nvSpPr>
          <p:cNvPr id="7" name="Text 5"/>
          <p:cNvSpPr txBox="1"/>
          <p:nvPr/>
        </p:nvSpPr>
        <p:spPr>
          <a:xfrm>
            <a:off x="960120" y="2103120"/>
            <a:ext cx="21945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Narrative Drawing · 2025</a:t>
            </a:r>
            <a:endParaRPr lang="en-US" sz="1200" dirty="0"/>
          </a:p>
        </p:txBody>
      </p:sp>
      <p:sp>
        <p:nvSpPr>
          <p:cNvPr id="8" name="Text 6"/>
          <p:cNvSpPr txBox="1"/>
          <p:nvPr/>
        </p:nvSpPr>
        <p:spPr>
          <a:xfrm>
            <a:off x="960120" y="2651760"/>
            <a:ext cx="4114800" cy="1737360"/>
          </a:xfrm>
          <a:prstGeom prst="rect">
            <a:avLst/>
          </a:prstGeom>
          <a:noFill/>
          <a:ln/>
        </p:spPr>
        <p:txBody>
          <a:bodyPr wrap="square" lIns="0" tIns="0" rIns="0" bIns="0" rtlCol="0" anchor="t"/>
          <a:lstStyle/>
          <a:p>
            <a:pPr algn="l" indent="0" marL="0">
              <a:lnSpc>
                <a:spcPct val="140000"/>
              </a:lnSpc>
              <a:buNone/>
            </a:pPr>
            <a:r>
              <a:rPr lang="en-US" sz="1700" b="1" dirty="0">
                <a:solidFill>
                  <a:srgbClr val="39405C"/>
                </a:solidFill>
                <a:latin typeface="Malgun Gothic" pitchFamily="34" charset="0"/>
                <a:ea typeface="Malgun Gothic" pitchFamily="34" charset="-122"/>
                <a:cs typeface="Malgun Gothic" pitchFamily="34" charset="-120"/>
              </a:rPr>
              <a:t>아이가 그림을 그리고 그 그림으로 이야기를 지어 보는 활동은 초기 문해로 이어질 가능성이 있습니다</a:t>
            </a:r>
            <a:endParaRPr lang="en-US" sz="1700" dirty="0"/>
          </a:p>
        </p:txBody>
      </p:sp>
      <p:sp>
        <p:nvSpPr>
          <p:cNvPr id="9" name="Text 7"/>
          <p:cNvSpPr txBox="1"/>
          <p:nvPr/>
        </p:nvSpPr>
        <p:spPr>
          <a:xfrm>
            <a:off x="960120" y="4160520"/>
            <a:ext cx="4114800" cy="1005840"/>
          </a:xfrm>
          <a:prstGeom prst="rect">
            <a:avLst/>
          </a:prstGeom>
          <a:noFill/>
          <a:ln/>
        </p:spPr>
        <p:txBody>
          <a:bodyPr wrap="square" lIns="0" tIns="0" rIns="0" bIns="0" rtlCol="0" anchor="t"/>
          <a:lstStyle/>
          <a:p>
            <a:pPr algn="l" indent="0" marL="0">
              <a:lnSpc>
                <a:spcPct val="135000"/>
              </a:lnSpc>
              <a:buNone/>
            </a:pPr>
            <a:r>
              <a:rPr lang="en-US" sz="1300" dirty="0">
                <a:solidFill>
                  <a:srgbClr val="5A6282"/>
                </a:solidFill>
                <a:latin typeface="Malgun Gothic" pitchFamily="34" charset="0"/>
                <a:ea typeface="Malgun Gothic" pitchFamily="34" charset="-122"/>
                <a:cs typeface="Malgun Gothic" pitchFamily="34" charset="-120"/>
              </a:rPr>
              <a:t>보편적 학습설계(UDL 3.0)도 글 외에 그림 · 스토리텔링 · 애니메이션 같은 여러 표현 방법을 열어 두라고 권합니다.</a:t>
            </a:r>
            <a:endParaRPr lang="en-US" sz="1300" dirty="0"/>
          </a:p>
        </p:txBody>
      </p:sp>
      <p:sp>
        <p:nvSpPr>
          <p:cNvPr id="10" name="Text 8"/>
          <p:cNvSpPr txBox="1"/>
          <p:nvPr/>
        </p:nvSpPr>
        <p:spPr>
          <a:xfrm>
            <a:off x="960120" y="5212080"/>
            <a:ext cx="4114800" cy="411480"/>
          </a:xfrm>
          <a:prstGeom prst="rect">
            <a:avLst/>
          </a:prstGeom>
          <a:noFill/>
          <a:ln/>
        </p:spPr>
        <p:txBody>
          <a:bodyPr wrap="square" lIns="0" tIns="0" rIns="0" bIns="0" rtlCol="0" anchor="t"/>
          <a:lstStyle/>
          <a:p>
            <a:pPr algn="l" indent="0" marL="0">
              <a:lnSpc>
                <a:spcPct val="115000"/>
              </a:lnSpc>
              <a:buNone/>
            </a:pPr>
            <a:r>
              <a:rPr lang="en-US" sz="1000" dirty="0">
                <a:solidFill>
                  <a:srgbClr val="8A91AA"/>
                </a:solidFill>
                <a:latin typeface="Malgun Gothic" pitchFamily="34" charset="0"/>
                <a:ea typeface="Malgun Gothic" pitchFamily="34" charset="-122"/>
                <a:cs typeface="Malgun Gothic" pitchFamily="34" charset="-120"/>
              </a:rPr>
              <a:t>Pitri &amp; Michaelidou (2025), Frontiers in Education · 사례연구 [6]   CAST UDL 3.0 (2024) [7]</a:t>
            </a:r>
            <a:endParaRPr lang="en-US" sz="1000" dirty="0"/>
          </a:p>
        </p:txBody>
      </p:sp>
      <p:sp>
        <p:nvSpPr>
          <p:cNvPr id="11" name="Text 9"/>
          <p:cNvSpPr txBox="1"/>
          <p:nvPr/>
        </p:nvSpPr>
        <p:spPr>
          <a:xfrm>
            <a:off x="5760720" y="1828800"/>
            <a:ext cx="5790895" cy="320040"/>
          </a:xfrm>
          <a:prstGeom prst="rect">
            <a:avLst/>
          </a:prstGeom>
          <a:noFill/>
          <a:ln/>
        </p:spPr>
        <p:txBody>
          <a:bodyPr wrap="square" lIns="0" tIns="0" rIns="0" bIns="0" rtlCol="0" anchor="t"/>
          <a:lstStyle/>
          <a:p>
            <a:pPr algn="l" indent="0" marL="0">
              <a:lnSpc>
                <a:spcPct val="115000"/>
              </a:lnSpc>
              <a:buNone/>
            </a:pPr>
            <a:r>
              <a:rPr lang="en-US" sz="1300" b="1" dirty="0">
                <a:solidFill>
                  <a:srgbClr val="8A91AA"/>
                </a:solidFill>
                <a:latin typeface="Malgun Gothic" pitchFamily="34" charset="0"/>
                <a:ea typeface="Malgun Gothic" pitchFamily="34" charset="-122"/>
                <a:cs typeface="Malgun Gothic" pitchFamily="34" charset="-120"/>
              </a:rPr>
              <a:t>학습을 이렇게만 보지 않고</a:t>
            </a:r>
            <a:endParaRPr lang="en-US" sz="1300" dirty="0"/>
          </a:p>
        </p:txBody>
      </p:sp>
      <p:sp>
        <p:nvSpPr>
          <p:cNvPr id="12" name="Shape 10"/>
          <p:cNvSpPr/>
          <p:nvPr/>
        </p:nvSpPr>
        <p:spPr>
          <a:xfrm>
            <a:off x="5760720" y="2240280"/>
            <a:ext cx="1600200" cy="731520"/>
          </a:xfrm>
          <a:prstGeom prst="roundRect">
            <a:avLst>
              <a:gd name="adj" fmla="val 27500"/>
            </a:avLst>
          </a:prstGeom>
          <a:solidFill>
            <a:srgbClr val="EEF0F4"/>
          </a:solidFill>
          <a:ln/>
        </p:spPr>
      </p:sp>
      <p:sp>
        <p:nvSpPr>
          <p:cNvPr id="13" name="Text 11"/>
          <p:cNvSpPr txBox="1"/>
          <p:nvPr/>
        </p:nvSpPr>
        <p:spPr>
          <a:xfrm>
            <a:off x="5760720" y="2240280"/>
            <a:ext cx="1600200" cy="731520"/>
          </a:xfrm>
          <a:prstGeom prst="rect">
            <a:avLst/>
          </a:prstGeom>
          <a:noFill/>
          <a:ln/>
        </p:spPr>
        <p:txBody>
          <a:bodyPr wrap="square" lIns="0" tIns="0" rIns="0" bIns="0" rtlCol="0" anchor="ctr"/>
          <a:lstStyle/>
          <a:p>
            <a:pPr algn="ctr" indent="0" marL="0">
              <a:lnSpc>
                <a:spcPct val="115000"/>
              </a:lnSpc>
              <a:buNone/>
            </a:pPr>
            <a:r>
              <a:rPr lang="en-US" sz="1700" b="1" dirty="0">
                <a:solidFill>
                  <a:srgbClr val="5A6282"/>
                </a:solidFill>
                <a:latin typeface="Malgun Gothic" pitchFamily="34" charset="0"/>
                <a:ea typeface="Malgun Gothic" pitchFamily="34" charset="-122"/>
                <a:cs typeface="Malgun Gothic" pitchFamily="34" charset="-120"/>
              </a:rPr>
              <a:t>읽기</a:t>
            </a:r>
            <a:endParaRPr lang="en-US" sz="1700" dirty="0"/>
          </a:p>
        </p:txBody>
      </p:sp>
      <p:sp>
        <p:nvSpPr>
          <p:cNvPr id="14" name="Shape 12"/>
          <p:cNvSpPr/>
          <p:nvPr/>
        </p:nvSpPr>
        <p:spPr>
          <a:xfrm>
            <a:off x="7406640" y="2505456"/>
            <a:ext cx="310896" cy="201168"/>
          </a:xfrm>
          <a:prstGeom prst="rightArrow">
            <a:avLst/>
          </a:prstGeom>
          <a:solidFill>
            <a:srgbClr val="C3C8D6"/>
          </a:solidFill>
          <a:ln/>
        </p:spPr>
      </p:sp>
      <p:sp>
        <p:nvSpPr>
          <p:cNvPr id="15" name="Shape 13"/>
          <p:cNvSpPr/>
          <p:nvPr/>
        </p:nvSpPr>
        <p:spPr>
          <a:xfrm>
            <a:off x="7772400" y="2240280"/>
            <a:ext cx="1600200" cy="731520"/>
          </a:xfrm>
          <a:prstGeom prst="roundRect">
            <a:avLst>
              <a:gd name="adj" fmla="val 27500"/>
            </a:avLst>
          </a:prstGeom>
          <a:solidFill>
            <a:srgbClr val="EEF0F4"/>
          </a:solidFill>
          <a:ln/>
        </p:spPr>
      </p:sp>
      <p:sp>
        <p:nvSpPr>
          <p:cNvPr id="16" name="Text 14"/>
          <p:cNvSpPr txBox="1"/>
          <p:nvPr/>
        </p:nvSpPr>
        <p:spPr>
          <a:xfrm>
            <a:off x="7772400" y="2240280"/>
            <a:ext cx="1600200" cy="731520"/>
          </a:xfrm>
          <a:prstGeom prst="rect">
            <a:avLst/>
          </a:prstGeom>
          <a:noFill/>
          <a:ln/>
        </p:spPr>
        <p:txBody>
          <a:bodyPr wrap="square" lIns="0" tIns="0" rIns="0" bIns="0" rtlCol="0" anchor="ctr"/>
          <a:lstStyle/>
          <a:p>
            <a:pPr algn="ctr" indent="0" marL="0">
              <a:lnSpc>
                <a:spcPct val="115000"/>
              </a:lnSpc>
              <a:buNone/>
            </a:pPr>
            <a:r>
              <a:rPr lang="en-US" sz="1700" b="1" dirty="0">
                <a:solidFill>
                  <a:srgbClr val="5A6282"/>
                </a:solidFill>
                <a:latin typeface="Malgun Gothic" pitchFamily="34" charset="0"/>
                <a:ea typeface="Malgun Gothic" pitchFamily="34" charset="-122"/>
                <a:cs typeface="Malgun Gothic" pitchFamily="34" charset="-120"/>
              </a:rPr>
              <a:t>문제</a:t>
            </a:r>
            <a:endParaRPr lang="en-US" sz="1700" dirty="0"/>
          </a:p>
        </p:txBody>
      </p:sp>
      <p:sp>
        <p:nvSpPr>
          <p:cNvPr id="17" name="Shape 15"/>
          <p:cNvSpPr/>
          <p:nvPr/>
        </p:nvSpPr>
        <p:spPr>
          <a:xfrm>
            <a:off x="9418320" y="2505456"/>
            <a:ext cx="310896" cy="201168"/>
          </a:xfrm>
          <a:prstGeom prst="rightArrow">
            <a:avLst/>
          </a:prstGeom>
          <a:solidFill>
            <a:srgbClr val="C3C8D6"/>
          </a:solidFill>
          <a:ln/>
        </p:spPr>
      </p:sp>
      <p:sp>
        <p:nvSpPr>
          <p:cNvPr id="18" name="Shape 16"/>
          <p:cNvSpPr/>
          <p:nvPr/>
        </p:nvSpPr>
        <p:spPr>
          <a:xfrm>
            <a:off x="9784080" y="2240280"/>
            <a:ext cx="1600200" cy="731520"/>
          </a:xfrm>
          <a:prstGeom prst="roundRect">
            <a:avLst>
              <a:gd name="adj" fmla="val 27500"/>
            </a:avLst>
          </a:prstGeom>
          <a:solidFill>
            <a:srgbClr val="EEF0F4"/>
          </a:solidFill>
          <a:ln/>
        </p:spPr>
      </p:sp>
      <p:sp>
        <p:nvSpPr>
          <p:cNvPr id="19" name="Text 17"/>
          <p:cNvSpPr txBox="1"/>
          <p:nvPr/>
        </p:nvSpPr>
        <p:spPr>
          <a:xfrm>
            <a:off x="9784080" y="2240280"/>
            <a:ext cx="1600200" cy="731520"/>
          </a:xfrm>
          <a:prstGeom prst="rect">
            <a:avLst/>
          </a:prstGeom>
          <a:noFill/>
          <a:ln/>
        </p:spPr>
        <p:txBody>
          <a:bodyPr wrap="square" lIns="0" tIns="0" rIns="0" bIns="0" rtlCol="0" anchor="ctr"/>
          <a:lstStyle/>
          <a:p>
            <a:pPr algn="ctr" indent="0" marL="0">
              <a:lnSpc>
                <a:spcPct val="115000"/>
              </a:lnSpc>
              <a:buNone/>
            </a:pPr>
            <a:r>
              <a:rPr lang="en-US" sz="1700" b="1" dirty="0">
                <a:solidFill>
                  <a:srgbClr val="5A6282"/>
                </a:solidFill>
                <a:latin typeface="Malgun Gothic" pitchFamily="34" charset="0"/>
                <a:ea typeface="Malgun Gothic" pitchFamily="34" charset="-122"/>
                <a:cs typeface="Malgun Gothic" pitchFamily="34" charset="-120"/>
              </a:rPr>
              <a:t>정답</a:t>
            </a:r>
            <a:endParaRPr lang="en-US" sz="1700" dirty="0"/>
          </a:p>
        </p:txBody>
      </p:sp>
      <p:sp>
        <p:nvSpPr>
          <p:cNvPr id="20" name="Text 18"/>
          <p:cNvSpPr txBox="1"/>
          <p:nvPr/>
        </p:nvSpPr>
        <p:spPr>
          <a:xfrm>
            <a:off x="5760720" y="3337560"/>
            <a:ext cx="5790895" cy="320040"/>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참여하는 경험으로 접근합니다</a:t>
            </a:r>
            <a:endParaRPr lang="en-US" sz="1300" dirty="0"/>
          </a:p>
        </p:txBody>
      </p:sp>
      <p:sp>
        <p:nvSpPr>
          <p:cNvPr id="21" name="Shape 19"/>
          <p:cNvSpPr/>
          <p:nvPr/>
        </p:nvSpPr>
        <p:spPr>
          <a:xfrm>
            <a:off x="5760720" y="3749040"/>
            <a:ext cx="1298448" cy="1298448"/>
          </a:xfrm>
          <a:prstGeom prst="roundRect">
            <a:avLst>
              <a:gd name="adj" fmla="val 26000"/>
            </a:avLst>
          </a:prstGeom>
          <a:solidFill>
            <a:srgbClr val="7FB2F0"/>
          </a:solidFill>
          <a:ln/>
          <a:effectLst>
            <a:outerShdw sx="100000" sy="100000" kx="0" ky="0" algn="bl" rotWithShape="0" blurRad="152400" dist="50800" dir="5400000">
              <a:srgbClr val="5364CE">
                <a:alpha val="13000"/>
              </a:srgbClr>
            </a:outerShdw>
          </a:effectLst>
        </p:spPr>
      </p:sp>
      <p:sp>
        <p:nvSpPr>
          <p:cNvPr id="22" name="Text 20"/>
          <p:cNvSpPr txBox="1"/>
          <p:nvPr/>
        </p:nvSpPr>
        <p:spPr>
          <a:xfrm>
            <a:off x="5760720" y="3749040"/>
            <a:ext cx="1298448" cy="1298448"/>
          </a:xfrm>
          <a:prstGeom prst="rect">
            <a:avLst/>
          </a:prstGeom>
          <a:noFill/>
          <a:ln/>
        </p:spPr>
        <p:txBody>
          <a:bodyPr wrap="square" lIns="0" tIns="0" rIns="0" bIns="0" rtlCol="0" anchor="ctr"/>
          <a:lstStyle/>
          <a:p>
            <a:pPr algn="ctr" indent="0" marL="0">
              <a:buNone/>
            </a:pPr>
            <a:r>
              <a:rPr lang="en-US" sz="1700" b="1" dirty="0">
                <a:solidFill>
                  <a:srgbClr val="FDFEFF"/>
                </a:solidFill>
                <a:latin typeface="Malgun Gothic" pitchFamily="34" charset="0"/>
                <a:ea typeface="Malgun Gothic" pitchFamily="34" charset="-122"/>
                <a:cs typeface="Malgun Gothic" pitchFamily="34" charset="-120"/>
              </a:rPr>
              <a:t>그리기</a:t>
            </a:r>
            <a:endParaRPr lang="en-US" sz="1700" dirty="0"/>
          </a:p>
        </p:txBody>
      </p:sp>
      <p:sp>
        <p:nvSpPr>
          <p:cNvPr id="23" name="Shape 21"/>
          <p:cNvSpPr/>
          <p:nvPr/>
        </p:nvSpPr>
        <p:spPr>
          <a:xfrm>
            <a:off x="7068312" y="4297680"/>
            <a:ext cx="237744" cy="201168"/>
          </a:xfrm>
          <a:prstGeom prst="rightArrow">
            <a:avLst/>
          </a:prstGeom>
          <a:solidFill>
            <a:srgbClr val="C9D2F7"/>
          </a:solidFill>
          <a:ln/>
        </p:spPr>
      </p:sp>
      <p:sp>
        <p:nvSpPr>
          <p:cNvPr id="24" name="Shape 22"/>
          <p:cNvSpPr/>
          <p:nvPr/>
        </p:nvSpPr>
        <p:spPr>
          <a:xfrm>
            <a:off x="7315200" y="3749040"/>
            <a:ext cx="1298448" cy="1298448"/>
          </a:xfrm>
          <a:prstGeom prst="roundRect">
            <a:avLst>
              <a:gd name="adj" fmla="val 26000"/>
            </a:avLst>
          </a:prstGeom>
          <a:solidFill>
            <a:srgbClr val="F4909F"/>
          </a:solidFill>
          <a:ln/>
          <a:effectLst>
            <a:outerShdw sx="100000" sy="100000" kx="0" ky="0" algn="bl" rotWithShape="0" blurRad="152400" dist="50800" dir="5400000">
              <a:srgbClr val="5364CE">
                <a:alpha val="13000"/>
              </a:srgbClr>
            </a:outerShdw>
          </a:effectLst>
        </p:spPr>
      </p:sp>
      <p:sp>
        <p:nvSpPr>
          <p:cNvPr id="25" name="Text 23"/>
          <p:cNvSpPr txBox="1"/>
          <p:nvPr/>
        </p:nvSpPr>
        <p:spPr>
          <a:xfrm>
            <a:off x="7315200" y="3749040"/>
            <a:ext cx="1298448" cy="1298448"/>
          </a:xfrm>
          <a:prstGeom prst="rect">
            <a:avLst/>
          </a:prstGeom>
          <a:noFill/>
          <a:ln/>
        </p:spPr>
        <p:txBody>
          <a:bodyPr wrap="square" lIns="0" tIns="0" rIns="0" bIns="0" rtlCol="0" anchor="ctr"/>
          <a:lstStyle/>
          <a:p>
            <a:pPr algn="ctr" indent="0" marL="0">
              <a:buNone/>
            </a:pPr>
            <a:r>
              <a:rPr lang="en-US" sz="1700" b="1" dirty="0">
                <a:solidFill>
                  <a:srgbClr val="FDFEFF"/>
                </a:solidFill>
                <a:latin typeface="Malgun Gothic" pitchFamily="34" charset="0"/>
                <a:ea typeface="Malgun Gothic" pitchFamily="34" charset="-122"/>
                <a:cs typeface="Malgun Gothic" pitchFamily="34" charset="-120"/>
              </a:rPr>
              <a:t>표현</a:t>
            </a:r>
            <a:endParaRPr lang="en-US" sz="1700" dirty="0"/>
          </a:p>
        </p:txBody>
      </p:sp>
      <p:sp>
        <p:nvSpPr>
          <p:cNvPr id="26" name="Shape 24"/>
          <p:cNvSpPr/>
          <p:nvPr/>
        </p:nvSpPr>
        <p:spPr>
          <a:xfrm>
            <a:off x="8622792" y="4297680"/>
            <a:ext cx="237744" cy="201168"/>
          </a:xfrm>
          <a:prstGeom prst="rightArrow">
            <a:avLst/>
          </a:prstGeom>
          <a:solidFill>
            <a:srgbClr val="C9D2F7"/>
          </a:solidFill>
          <a:ln/>
        </p:spPr>
      </p:sp>
      <p:sp>
        <p:nvSpPr>
          <p:cNvPr id="27" name="Shape 25"/>
          <p:cNvSpPr/>
          <p:nvPr/>
        </p:nvSpPr>
        <p:spPr>
          <a:xfrm>
            <a:off x="8869680" y="3749040"/>
            <a:ext cx="1298448" cy="1298448"/>
          </a:xfrm>
          <a:prstGeom prst="roundRect">
            <a:avLst>
              <a:gd name="adj" fmla="val 26000"/>
            </a:avLst>
          </a:prstGeom>
          <a:solidFill>
            <a:srgbClr val="74CDAE"/>
          </a:solidFill>
          <a:ln/>
          <a:effectLst>
            <a:outerShdw sx="100000" sy="100000" kx="0" ky="0" algn="bl" rotWithShape="0" blurRad="152400" dist="50800" dir="5400000">
              <a:srgbClr val="5364CE">
                <a:alpha val="13000"/>
              </a:srgbClr>
            </a:outerShdw>
          </a:effectLst>
        </p:spPr>
      </p:sp>
      <p:sp>
        <p:nvSpPr>
          <p:cNvPr id="28" name="Text 26"/>
          <p:cNvSpPr txBox="1"/>
          <p:nvPr/>
        </p:nvSpPr>
        <p:spPr>
          <a:xfrm>
            <a:off x="8869680" y="3749040"/>
            <a:ext cx="1298448" cy="1298448"/>
          </a:xfrm>
          <a:prstGeom prst="rect">
            <a:avLst/>
          </a:prstGeom>
          <a:noFill/>
          <a:ln/>
        </p:spPr>
        <p:txBody>
          <a:bodyPr wrap="square" lIns="0" tIns="0" rIns="0" bIns="0" rtlCol="0" anchor="ctr"/>
          <a:lstStyle/>
          <a:p>
            <a:pPr algn="ctr" indent="0" marL="0">
              <a:buNone/>
            </a:pPr>
            <a:r>
              <a:rPr lang="en-US" sz="1700" b="1" dirty="0">
                <a:solidFill>
                  <a:srgbClr val="FDFEFF"/>
                </a:solidFill>
                <a:latin typeface="Malgun Gothic" pitchFamily="34" charset="0"/>
                <a:ea typeface="Malgun Gothic" pitchFamily="34" charset="-122"/>
                <a:cs typeface="Malgun Gothic" pitchFamily="34" charset="-120"/>
              </a:rPr>
              <a:t>선택</a:t>
            </a:r>
            <a:endParaRPr lang="en-US" sz="1700" dirty="0"/>
          </a:p>
        </p:txBody>
      </p:sp>
      <p:sp>
        <p:nvSpPr>
          <p:cNvPr id="29" name="Shape 27"/>
          <p:cNvSpPr/>
          <p:nvPr/>
        </p:nvSpPr>
        <p:spPr>
          <a:xfrm>
            <a:off x="10177272" y="4297680"/>
            <a:ext cx="237744" cy="201168"/>
          </a:xfrm>
          <a:prstGeom prst="rightArrow">
            <a:avLst/>
          </a:prstGeom>
          <a:solidFill>
            <a:srgbClr val="C9D2F7"/>
          </a:solidFill>
          <a:ln/>
        </p:spPr>
      </p:sp>
      <p:sp>
        <p:nvSpPr>
          <p:cNvPr id="30" name="Shape 28"/>
          <p:cNvSpPr/>
          <p:nvPr/>
        </p:nvSpPr>
        <p:spPr>
          <a:xfrm>
            <a:off x="10424160" y="3749040"/>
            <a:ext cx="1298448" cy="1298448"/>
          </a:xfrm>
          <a:prstGeom prst="roundRect">
            <a:avLst>
              <a:gd name="adj" fmla="val 26000"/>
            </a:avLst>
          </a:prstGeom>
          <a:solidFill>
            <a:srgbClr val="F5C46B"/>
          </a:solidFill>
          <a:ln/>
          <a:effectLst>
            <a:outerShdw sx="100000" sy="100000" kx="0" ky="0" algn="bl" rotWithShape="0" blurRad="152400" dist="50800" dir="5400000">
              <a:srgbClr val="5364CE">
                <a:alpha val="13000"/>
              </a:srgbClr>
            </a:outerShdw>
          </a:effectLst>
        </p:spPr>
      </p:sp>
      <p:sp>
        <p:nvSpPr>
          <p:cNvPr id="31" name="Text 29"/>
          <p:cNvSpPr txBox="1"/>
          <p:nvPr/>
        </p:nvSpPr>
        <p:spPr>
          <a:xfrm>
            <a:off x="10424160" y="3749040"/>
            <a:ext cx="1298448" cy="1298448"/>
          </a:xfrm>
          <a:prstGeom prst="rect">
            <a:avLst/>
          </a:prstGeom>
          <a:noFill/>
          <a:ln/>
        </p:spPr>
        <p:txBody>
          <a:bodyPr wrap="square" lIns="0" tIns="0" rIns="0" bIns="0" rtlCol="0" anchor="ctr"/>
          <a:lstStyle/>
          <a:p>
            <a:pPr algn="ctr" indent="0" marL="0">
              <a:buNone/>
            </a:pPr>
            <a:r>
              <a:rPr lang="en-US" sz="1400" b="1" dirty="0">
                <a:solidFill>
                  <a:srgbClr val="FDFEFF"/>
                </a:solidFill>
                <a:latin typeface="Malgun Gothic" pitchFamily="34" charset="0"/>
                <a:ea typeface="Malgun Gothic" pitchFamily="34" charset="-122"/>
                <a:cs typeface="Malgun Gothic" pitchFamily="34" charset="-120"/>
              </a:rPr>
              <a:t>이야기 구성</a:t>
            </a:r>
            <a:endParaRPr lang="en-US" sz="1400" dirty="0"/>
          </a:p>
        </p:txBody>
      </p:sp>
      <p:sp>
        <p:nvSpPr>
          <p:cNvPr id="32" name="Shape 30"/>
          <p:cNvSpPr/>
          <p:nvPr/>
        </p:nvSpPr>
        <p:spPr>
          <a:xfrm>
            <a:off x="5760720" y="5303520"/>
            <a:ext cx="5790895" cy="566928"/>
          </a:xfrm>
          <a:prstGeom prst="roundRect">
            <a:avLst>
              <a:gd name="adj" fmla="val 35484"/>
            </a:avLst>
          </a:prstGeom>
          <a:solidFill>
            <a:srgbClr val="FFEA99"/>
          </a:solidFill>
          <a:ln/>
        </p:spPr>
      </p:sp>
      <p:sp>
        <p:nvSpPr>
          <p:cNvPr id="33" name="Text 31"/>
          <p:cNvSpPr txBox="1"/>
          <p:nvPr/>
        </p:nvSpPr>
        <p:spPr>
          <a:xfrm>
            <a:off x="5989320" y="5303520"/>
            <a:ext cx="5333695" cy="566928"/>
          </a:xfrm>
          <a:prstGeom prst="rect">
            <a:avLst/>
          </a:prstGeom>
          <a:noFill/>
          <a:ln/>
        </p:spPr>
        <p:txBody>
          <a:bodyPr wrap="square" lIns="0" tIns="0" rIns="0" bIns="0" rtlCol="0" anchor="ctr"/>
          <a:lstStyle/>
          <a:p>
            <a:pPr algn="l"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그림이 창의성을 높인다고 단정하지 않습니다. 선행연구를 근거로 ‘그림 + 이야기’라는 서비스 방식을 골랐습니다.</a:t>
            </a:r>
            <a:endParaRPr lang="en-US" sz="1200" dirty="0"/>
          </a:p>
        </p:txBody>
      </p:sp>
      <p:sp>
        <p:nvSpPr>
          <p:cNvPr id="34" name="Text 32"/>
          <p:cNvSpPr txBox="1"/>
          <p:nvPr/>
        </p:nvSpPr>
        <p:spPr>
          <a:xfrm>
            <a:off x="640080" y="6291072"/>
            <a:ext cx="10180015" cy="365760"/>
          </a:xfrm>
          <a:prstGeom prst="rect">
            <a:avLst/>
          </a:prstGeom>
          <a:noFill/>
          <a:ln/>
        </p:spPr>
        <p:txBody>
          <a:bodyPr wrap="square" lIns="0" tIns="0" rIns="0" bIns="0" rtlCol="0" anchor="b"/>
          <a:lstStyle/>
          <a:p>
            <a:pPr algn="l" indent="0" marL="0">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[6] Pitri, E. &amp; Michaelidou, A. (2025). The contribution of narrative drawing in early literacy. Frontiers in Education, 10.  [7] CAST (2024). UDL Guidelines 3.0, 5.1 Use multiple media for communication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5</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배경조사 ③ 기술 조사</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아이의 그림을 실제로 움직일 수 있을까?</a:t>
            </a:r>
            <a:endParaRPr lang="en-US" sz="3000" dirty="0"/>
          </a:p>
        </p:txBody>
      </p:sp>
      <p:sp>
        <p:nvSpPr>
          <p:cNvPr id="5" name="Shape 3"/>
          <p:cNvSpPr/>
          <p:nvPr/>
        </p:nvSpPr>
        <p:spPr>
          <a:xfrm>
            <a:off x="530352" y="1673352"/>
            <a:ext cx="1682496" cy="2693880"/>
          </a:xfrm>
          <a:prstGeom prst="roundRect">
            <a:avLst>
              <a:gd name="adj" fmla="val 11957"/>
            </a:avLst>
          </a:prstGeom>
          <a:solidFill>
            <a:srgbClr val="FDFEFF"/>
          </a:solidFill>
          <a:ln/>
          <a:effectLst>
            <a:outerShdw sx="100000" sy="100000" kx="0" ky="0" algn="bl" rotWithShape="0" blurRad="152400" dist="50800" dir="5400000">
              <a:srgbClr val="5364CE">
                <a:alpha val="13000"/>
              </a:srgbClr>
            </a:outerShdw>
          </a:effectLst>
        </p:spPr>
      </p:sp>
      <p:pic>
        <p:nvPicPr>
          <p:cNvPr id="6" name="Image 0" descr="C:\Users\Omnyumyum\AppData\Local\Temp\claude\C--Users-Omnyumyum-Desktop-hankan-story\3d346593-c4f1-4834-b828-783ff9d03845\scratchpad\ppt\char-plain-sm.jpg">    </p:cNvPr>
          <p:cNvPicPr>
            <a:picLocks noChangeAspect="1"/>
          </p:cNvPicPr>
          <p:nvPr/>
        </p:nvPicPr>
        <p:blipFill>
          <a:blip r:embed="rId2"/>
          <a:stretch>
            <a:fillRect/>
          </a:stretch>
        </p:blipFill>
        <p:spPr>
          <a:xfrm>
            <a:off x="640080" y="1783080"/>
            <a:ext cx="1463040" cy="1733760"/>
          </a:xfrm>
          <a:prstGeom prst="rect">
            <a:avLst/>
          </a:prstGeom>
        </p:spPr>
      </p:pic>
      <p:sp>
        <p:nvSpPr>
          <p:cNvPr id="7" name="Text 4"/>
          <p:cNvSpPr txBox="1"/>
          <p:nvPr/>
        </p:nvSpPr>
        <p:spPr>
          <a:xfrm>
            <a:off x="640080" y="3608280"/>
            <a:ext cx="1463040" cy="685800"/>
          </a:xfrm>
          <a:prstGeom prst="rect">
            <a:avLst/>
          </a:prstGeom>
          <a:noFill/>
          <a:ln/>
        </p:spPr>
        <p:txBody>
          <a:bodyPr wrap="square" lIns="0" tIns="0" rIns="0" bIns="0" rtlCol="0" anchor="t"/>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아이의 그림</a:t>
            </a:r>
            <a:endParaRPr lang="en-US" sz="1250" dirty="0"/>
          </a:p>
        </p:txBody>
      </p:sp>
      <p:sp>
        <p:nvSpPr>
          <p:cNvPr id="8" name="Shape 5"/>
          <p:cNvSpPr/>
          <p:nvPr/>
        </p:nvSpPr>
        <p:spPr>
          <a:xfrm>
            <a:off x="2212848" y="2558520"/>
            <a:ext cx="237744" cy="201168"/>
          </a:xfrm>
          <a:prstGeom prst="rightArrow">
            <a:avLst/>
          </a:prstGeom>
          <a:solidFill>
            <a:srgbClr val="C9D2F7"/>
          </a:solidFill>
          <a:ln/>
        </p:spPr>
      </p:sp>
      <p:sp>
        <p:nvSpPr>
          <p:cNvPr id="9" name="Shape 6"/>
          <p:cNvSpPr/>
          <p:nvPr/>
        </p:nvSpPr>
        <p:spPr>
          <a:xfrm>
            <a:off x="2377440" y="1673352"/>
            <a:ext cx="1682496" cy="2693880"/>
          </a:xfrm>
          <a:prstGeom prst="roundRect">
            <a:avLst>
              <a:gd name="adj" fmla="val 11957"/>
            </a:avLst>
          </a:prstGeom>
          <a:solidFill>
            <a:srgbClr val="FDFEFF"/>
          </a:solidFill>
          <a:ln/>
          <a:effectLst>
            <a:outerShdw sx="100000" sy="100000" kx="0" ky="0" algn="bl" rotWithShape="0" blurRad="152400" dist="50800" dir="5400000">
              <a:srgbClr val="5364CE">
                <a:alpha val="13000"/>
              </a:srgbClr>
            </a:outerShdw>
          </a:effectLst>
        </p:spPr>
      </p:sp>
      <p:pic>
        <p:nvPicPr>
          <p:cNvPr id="10" name="Image 1" descr="C:\Users\Omnyumyum\AppData\Local\Temp\claude\C--Users-Omnyumyum-Desktop-hankan-story\3d346593-c4f1-4834-b828-783ff9d03845\scratchpad\ppt\char-bbox-sm.jpg">    </p:cNvPr>
          <p:cNvPicPr>
            <a:picLocks noChangeAspect="1"/>
          </p:cNvPicPr>
          <p:nvPr/>
        </p:nvPicPr>
        <p:blipFill>
          <a:blip r:embed="rId3"/>
          <a:stretch>
            <a:fillRect/>
          </a:stretch>
        </p:blipFill>
        <p:spPr>
          <a:xfrm>
            <a:off x="2487168" y="1783080"/>
            <a:ext cx="1463040" cy="1733760"/>
          </a:xfrm>
          <a:prstGeom prst="rect">
            <a:avLst/>
          </a:prstGeom>
        </p:spPr>
      </p:pic>
      <p:sp>
        <p:nvSpPr>
          <p:cNvPr id="11" name="Text 7"/>
          <p:cNvSpPr txBox="1"/>
          <p:nvPr/>
        </p:nvSpPr>
        <p:spPr>
          <a:xfrm>
            <a:off x="2487168" y="3608280"/>
            <a:ext cx="1463040" cy="685800"/>
          </a:xfrm>
          <a:prstGeom prst="rect">
            <a:avLst/>
          </a:prstGeom>
          <a:noFill/>
          <a:ln/>
        </p:spPr>
        <p:txBody>
          <a:bodyPr wrap="square" lIns="0" tIns="0" rIns="0" bIns="0" rtlCol="0" anchor="t"/>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캐릭터 찾기</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Detection</a:t>
            </a:r>
            <a:endParaRPr lang="en-US" sz="1250" dirty="0"/>
          </a:p>
        </p:txBody>
      </p:sp>
      <p:sp>
        <p:nvSpPr>
          <p:cNvPr id="12" name="Shape 8"/>
          <p:cNvSpPr/>
          <p:nvPr/>
        </p:nvSpPr>
        <p:spPr>
          <a:xfrm>
            <a:off x="4059936" y="2558520"/>
            <a:ext cx="237744" cy="201168"/>
          </a:xfrm>
          <a:prstGeom prst="rightArrow">
            <a:avLst/>
          </a:prstGeom>
          <a:solidFill>
            <a:srgbClr val="C9D2F7"/>
          </a:solidFill>
          <a:ln/>
        </p:spPr>
      </p:sp>
      <p:sp>
        <p:nvSpPr>
          <p:cNvPr id="13" name="Shape 9"/>
          <p:cNvSpPr/>
          <p:nvPr/>
        </p:nvSpPr>
        <p:spPr>
          <a:xfrm>
            <a:off x="4224528" y="1673352"/>
            <a:ext cx="1682496" cy="2693880"/>
          </a:xfrm>
          <a:prstGeom prst="roundRect">
            <a:avLst>
              <a:gd name="adj" fmla="val 11957"/>
            </a:avLst>
          </a:prstGeom>
          <a:solidFill>
            <a:srgbClr val="FDFEFF"/>
          </a:solidFill>
          <a:ln/>
          <a:effectLst>
            <a:outerShdw sx="100000" sy="100000" kx="0" ky="0" algn="bl" rotWithShape="0" blurRad="152400" dist="50800" dir="5400000">
              <a:srgbClr val="5364CE">
                <a:alpha val="13000"/>
              </a:srgbClr>
            </a:outerShdw>
          </a:effectLst>
        </p:spPr>
      </p:sp>
      <p:pic>
        <p:nvPicPr>
          <p:cNvPr id="14" name="Image 2" descr="C:\Users\Omnyumyum\AppData\Local\Temp\claude\C--Users-Omnyumyum-Desktop-hankan-story\3d346593-c4f1-4834-b828-783ff9d03845\scratchpad\ppt\char-mask-sm.jpg">    </p:cNvPr>
          <p:cNvPicPr>
            <a:picLocks noChangeAspect="1"/>
          </p:cNvPicPr>
          <p:nvPr/>
        </p:nvPicPr>
        <p:blipFill>
          <a:blip r:embed="rId4"/>
          <a:stretch>
            <a:fillRect/>
          </a:stretch>
        </p:blipFill>
        <p:spPr>
          <a:xfrm>
            <a:off x="4334256" y="1783080"/>
            <a:ext cx="1463040" cy="1733760"/>
          </a:xfrm>
          <a:prstGeom prst="rect">
            <a:avLst/>
          </a:prstGeom>
        </p:spPr>
      </p:pic>
      <p:sp>
        <p:nvSpPr>
          <p:cNvPr id="15" name="Text 10"/>
          <p:cNvSpPr txBox="1"/>
          <p:nvPr/>
        </p:nvSpPr>
        <p:spPr>
          <a:xfrm>
            <a:off x="4334256" y="3608280"/>
            <a:ext cx="1463040" cy="685800"/>
          </a:xfrm>
          <a:prstGeom prst="rect">
            <a:avLst/>
          </a:prstGeom>
          <a:noFill/>
          <a:ln/>
        </p:spPr>
        <p:txBody>
          <a:bodyPr wrap="square" lIns="0" tIns="0" rIns="0" bIns="0" rtlCol="0" anchor="t"/>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영역 떼어 내기</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Segmentation</a:t>
            </a:r>
            <a:endParaRPr lang="en-US" sz="1250" dirty="0"/>
          </a:p>
        </p:txBody>
      </p:sp>
      <p:sp>
        <p:nvSpPr>
          <p:cNvPr id="16" name="Shape 11"/>
          <p:cNvSpPr/>
          <p:nvPr/>
        </p:nvSpPr>
        <p:spPr>
          <a:xfrm>
            <a:off x="5907024" y="2558520"/>
            <a:ext cx="237744" cy="201168"/>
          </a:xfrm>
          <a:prstGeom prst="rightArrow">
            <a:avLst/>
          </a:prstGeom>
          <a:solidFill>
            <a:srgbClr val="C9D2F7"/>
          </a:solidFill>
          <a:ln/>
        </p:spPr>
      </p:sp>
      <p:sp>
        <p:nvSpPr>
          <p:cNvPr id="17" name="Shape 12"/>
          <p:cNvSpPr/>
          <p:nvPr/>
        </p:nvSpPr>
        <p:spPr>
          <a:xfrm>
            <a:off x="6071616" y="1673352"/>
            <a:ext cx="1682496" cy="2693880"/>
          </a:xfrm>
          <a:prstGeom prst="roundRect">
            <a:avLst>
              <a:gd name="adj" fmla="val 11957"/>
            </a:avLst>
          </a:prstGeom>
          <a:solidFill>
            <a:srgbClr val="FDFEFF"/>
          </a:solidFill>
          <a:ln/>
          <a:effectLst>
            <a:outerShdw sx="100000" sy="100000" kx="0" ky="0" algn="bl" rotWithShape="0" blurRad="152400" dist="50800" dir="5400000">
              <a:srgbClr val="5364CE">
                <a:alpha val="13000"/>
              </a:srgbClr>
            </a:outerShdw>
          </a:effectLst>
        </p:spPr>
      </p:sp>
      <p:pic>
        <p:nvPicPr>
          <p:cNvPr id="18" name="Image 3" descr="C:\Users\Omnyumyum\AppData\Local\Temp\claude\C--Users-Omnyumyum-Desktop-hankan-story\3d346593-c4f1-4834-b828-783ff9d03845\scratchpad\ppt\char-joints-sm.jpg">    </p:cNvPr>
          <p:cNvPicPr>
            <a:picLocks noChangeAspect="1"/>
          </p:cNvPicPr>
          <p:nvPr/>
        </p:nvPicPr>
        <p:blipFill>
          <a:blip r:embed="rId5"/>
          <a:stretch>
            <a:fillRect/>
          </a:stretch>
        </p:blipFill>
        <p:spPr>
          <a:xfrm>
            <a:off x="6181344" y="1783080"/>
            <a:ext cx="1463040" cy="1733760"/>
          </a:xfrm>
          <a:prstGeom prst="rect">
            <a:avLst/>
          </a:prstGeom>
        </p:spPr>
      </p:pic>
      <p:sp>
        <p:nvSpPr>
          <p:cNvPr id="19" name="Text 13"/>
          <p:cNvSpPr txBox="1"/>
          <p:nvPr/>
        </p:nvSpPr>
        <p:spPr>
          <a:xfrm>
            <a:off x="6181344" y="3608280"/>
            <a:ext cx="1463040" cy="685800"/>
          </a:xfrm>
          <a:prstGeom prst="rect">
            <a:avLst/>
          </a:prstGeom>
          <a:noFill/>
          <a:ln/>
        </p:spPr>
        <p:txBody>
          <a:bodyPr wrap="square" lIns="0" tIns="0" rIns="0" bIns="0" rtlCol="0" anchor="t"/>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관절 찾기</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Joint Detection</a:t>
            </a:r>
            <a:endParaRPr lang="en-US" sz="1250" dirty="0"/>
          </a:p>
        </p:txBody>
      </p:sp>
      <p:sp>
        <p:nvSpPr>
          <p:cNvPr id="20" name="Shape 14"/>
          <p:cNvSpPr/>
          <p:nvPr/>
        </p:nvSpPr>
        <p:spPr>
          <a:xfrm>
            <a:off x="530352" y="4553712"/>
            <a:ext cx="7223760" cy="1280160"/>
          </a:xfrm>
          <a:prstGeom prst="roundRect">
            <a:avLst>
              <a:gd name="adj" fmla="val 15714"/>
            </a:avLst>
          </a:prstGeom>
          <a:solidFill>
            <a:srgbClr val="FDFEFF"/>
          </a:solidFill>
          <a:ln/>
          <a:effectLst>
            <a:outerShdw sx="100000" sy="100000" kx="0" ky="0" algn="bl" rotWithShape="0" blurRad="152400" dist="50800" dir="5400000">
              <a:srgbClr val="5364CE">
                <a:alpha val="13000"/>
              </a:srgbClr>
            </a:outerShdw>
          </a:effectLst>
        </p:spPr>
      </p:sp>
      <p:sp>
        <p:nvSpPr>
          <p:cNvPr id="21" name="Text 15"/>
          <p:cNvSpPr txBox="1"/>
          <p:nvPr/>
        </p:nvSpPr>
        <p:spPr>
          <a:xfrm>
            <a:off x="822960" y="4617720"/>
            <a:ext cx="6638544" cy="1152144"/>
          </a:xfrm>
          <a:prstGeom prst="rect">
            <a:avLst/>
          </a:prstGeom>
          <a:noFill/>
          <a:ln/>
        </p:spPr>
        <p:txBody>
          <a:bodyPr wrap="square" lIns="0" tIns="0" rIns="0" bIns="0" rtlCol="0" anchor="ctr"/>
          <a:lstStyle/>
          <a:p>
            <a:pPr algn="l" indent="0" marL="0">
              <a:lnSpc>
                <a:spcPct val="135000"/>
              </a:lnSpc>
              <a:buNone/>
            </a:pPr>
            <a:r>
              <a:rPr lang="en-US" sz="1250" dirty="0">
                <a:solidFill>
                  <a:srgbClr val="5A6282"/>
                </a:solidFill>
                <a:latin typeface="Malgun Gothic" pitchFamily="34" charset="0"/>
                <a:ea typeface="Malgun Gothic" pitchFamily="34" charset="-122"/>
                <a:cs typeface="Malgun Gothic" pitchFamily="34" charset="-120"/>
              </a:rPr>
              <a:t>Meta의 Animated Drawings 연구는 아이와 아마추어가 그린 사람 그림을 ‘캐릭터 찾기 → 영역 떼어 내기 → 관절 찾기 → 애니메이션’ 네 단계로 움직였습니다. 2021년 데모를 연 뒤 9개월 동안 670만 장의 그림이 올라왔고, 2023년에는 코드와 데이터셋을 공개했습니다.</a:t>
            </a:r>
            <a:endParaRPr lang="en-US" sz="1250" dirty="0"/>
          </a:p>
        </p:txBody>
      </p:sp>
      <p:sp>
        <p:nvSpPr>
          <p:cNvPr id="22" name="Shape 16"/>
          <p:cNvSpPr/>
          <p:nvPr/>
        </p:nvSpPr>
        <p:spPr>
          <a:xfrm>
            <a:off x="7964424" y="1673352"/>
            <a:ext cx="3587191" cy="2057400"/>
          </a:xfrm>
          <a:prstGeom prst="roundRect">
            <a:avLst>
              <a:gd name="adj" fmla="val 9778"/>
            </a:avLst>
          </a:prstGeom>
          <a:solidFill>
            <a:srgbClr val="FDFEFF"/>
          </a:solidFill>
          <a:ln/>
          <a:effectLst>
            <a:outerShdw sx="100000" sy="100000" kx="0" ky="0" algn="bl" rotWithShape="0" blurRad="152400" dist="50800" dir="5400000">
              <a:srgbClr val="5364CE">
                <a:alpha val="13000"/>
              </a:srgbClr>
            </a:outerShdw>
          </a:effectLst>
        </p:spPr>
      </p:sp>
      <p:sp>
        <p:nvSpPr>
          <p:cNvPr id="23" name="Text 17"/>
          <p:cNvSpPr txBox="1"/>
          <p:nvPr/>
        </p:nvSpPr>
        <p:spPr>
          <a:xfrm>
            <a:off x="8284464" y="1874520"/>
            <a:ext cx="2947111" cy="731520"/>
          </a:xfrm>
          <a:prstGeom prst="rect">
            <a:avLst/>
          </a:prstGeom>
          <a:noFill/>
          <a:ln/>
        </p:spPr>
        <p:txBody>
          <a:bodyPr wrap="square" lIns="0" tIns="0" rIns="0" bIns="0" rtlCol="0" anchor="t"/>
          <a:lstStyle/>
          <a:p>
            <a:pPr algn="l" indent="0" marL="0">
              <a:lnSpc>
                <a:spcPct val="115000"/>
              </a:lnSpc>
              <a:buNone/>
            </a:pPr>
            <a:r>
              <a:rPr lang="en-US" sz="3600" b="1" dirty="0">
                <a:solidFill>
                  <a:srgbClr val="4C5CC4"/>
                </a:solidFill>
                <a:latin typeface="Malgun Gothic" pitchFamily="34" charset="0"/>
                <a:ea typeface="Malgun Gothic" pitchFamily="34" charset="-122"/>
                <a:cs typeface="Malgun Gothic" pitchFamily="34" charset="-120"/>
              </a:rPr>
              <a:t>178,166장</a:t>
            </a:r>
            <a:endParaRPr lang="en-US" sz="3600" dirty="0"/>
          </a:p>
        </p:txBody>
      </p:sp>
      <p:sp>
        <p:nvSpPr>
          <p:cNvPr id="24" name="Text 18"/>
          <p:cNvSpPr txBox="1"/>
          <p:nvPr/>
        </p:nvSpPr>
        <p:spPr>
          <a:xfrm>
            <a:off x="8284464" y="2606040"/>
            <a:ext cx="2947111" cy="1005840"/>
          </a:xfrm>
          <a:prstGeom prst="rect">
            <a:avLst/>
          </a:prstGeom>
          <a:noFill/>
          <a:ln/>
        </p:spPr>
        <p:txBody>
          <a:bodyPr wrap="square" lIns="0" tIns="0" rIns="0" bIns="0" rtlCol="0" anchor="t"/>
          <a:lstStyle/>
          <a:p>
            <a:pPr algn="l" indent="0" marL="0">
              <a:lnSpc>
                <a:spcPct val="130000"/>
              </a:lnSpc>
              <a:buNone/>
            </a:pPr>
            <a:r>
              <a:rPr lang="en-US" sz="1300" dirty="0">
                <a:solidFill>
                  <a:srgbClr val="5A6282"/>
                </a:solidFill>
                <a:latin typeface="Malgun Gothic" pitchFamily="34" charset="0"/>
                <a:ea typeface="Malgun Gothic" pitchFamily="34" charset="-122"/>
                <a:cs typeface="Malgun Gothic" pitchFamily="34" charset="-120"/>
              </a:rPr>
              <a:t>Meta Amateur Drawings Dataset</a:t>
            </a:r>
            <a:endParaRPr lang="en-US" sz="1300" dirty="0"/>
          </a:p>
          <a:p>
            <a:pPr algn="l" indent="0" marL="0">
              <a:lnSpc>
                <a:spcPct val="130000"/>
              </a:lnSpc>
              <a:buNone/>
            </a:pPr>
            <a:r>
              <a:rPr lang="en-US" sz="1300" dirty="0">
                <a:solidFill>
                  <a:srgbClr val="5A6282"/>
                </a:solidFill>
                <a:latin typeface="Malgun Gothic" pitchFamily="34" charset="0"/>
                <a:ea typeface="Malgun Gothic" pitchFamily="34" charset="-122"/>
                <a:cs typeface="Malgun Gothic" pitchFamily="34" charset="-120"/>
              </a:rPr>
              <a:t>캐릭터 상자 · 영역 마스크 · 관절 표시 포함, MIT 오픈소스 [8][9]</a:t>
            </a:r>
            <a:endParaRPr lang="en-US" sz="1300" dirty="0"/>
          </a:p>
        </p:txBody>
      </p:sp>
      <p:sp>
        <p:nvSpPr>
          <p:cNvPr id="25" name="Shape 19"/>
          <p:cNvSpPr/>
          <p:nvPr/>
        </p:nvSpPr>
        <p:spPr>
          <a:xfrm>
            <a:off x="7964424" y="3913632"/>
            <a:ext cx="3587191" cy="1847088"/>
          </a:xfrm>
          <a:prstGeom prst="roundRect">
            <a:avLst>
              <a:gd name="adj" fmla="val 10891"/>
            </a:avLst>
          </a:prstGeom>
          <a:solidFill>
            <a:srgbClr val="EDF0FE"/>
          </a:solidFill>
          <a:ln/>
        </p:spPr>
      </p:sp>
      <p:sp>
        <p:nvSpPr>
          <p:cNvPr id="26" name="Text 20"/>
          <p:cNvSpPr txBox="1"/>
          <p:nvPr/>
        </p:nvSpPr>
        <p:spPr>
          <a:xfrm>
            <a:off x="8284464" y="4069080"/>
            <a:ext cx="2947111" cy="320040"/>
          </a:xfrm>
          <a:prstGeom prst="rect">
            <a:avLst/>
          </a:prstGeom>
          <a:noFill/>
          <a:ln/>
        </p:spPr>
        <p:txBody>
          <a:bodyPr wrap="square" lIns="0" tIns="0" rIns="0" bIns="0" rtlCol="0" anchor="t"/>
          <a:lstStyle/>
          <a:p>
            <a:pPr algn="l"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그래서 우리는</a:t>
            </a:r>
            <a:endParaRPr lang="en-US" sz="1200" dirty="0"/>
          </a:p>
        </p:txBody>
      </p:sp>
      <p:sp>
        <p:nvSpPr>
          <p:cNvPr id="27" name="Text 21"/>
          <p:cNvSpPr txBox="1"/>
          <p:nvPr/>
        </p:nvSpPr>
        <p:spPr>
          <a:xfrm>
            <a:off x="8284464" y="4434840"/>
            <a:ext cx="2947111" cy="1234440"/>
          </a:xfrm>
          <a:prstGeom prst="rect">
            <a:avLst/>
          </a:prstGeom>
          <a:noFill/>
          <a:ln/>
        </p:spPr>
        <p:txBody>
          <a:bodyPr wrap="square" lIns="0" tIns="0" rIns="0" bIns="0" rtlCol="0" anchor="t"/>
          <a:lstStyle/>
          <a:p>
            <a:pPr algn="l" indent="0" marL="0">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아이의 그림을 이야기 속에서</a:t>
            </a:r>
            <a:endParaRPr lang="en-US" sz="1600" dirty="0"/>
          </a:p>
          <a:p>
            <a:pPr algn="l" indent="0" marL="0">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실제로 움직이는 주인공으로</a:t>
            </a:r>
            <a:endParaRPr lang="en-US" sz="1600" dirty="0"/>
          </a:p>
          <a:p>
            <a:pPr algn="l" indent="0" marL="0">
              <a:lnSpc>
                <a:spcPct val="135000"/>
              </a:lnSpc>
              <a:buNone/>
            </a:pPr>
            <a:r>
              <a:rPr lang="en-US" sz="1600" b="1" dirty="0">
                <a:solidFill>
                  <a:srgbClr val="39405C"/>
                </a:solidFill>
                <a:latin typeface="Malgun Gothic" pitchFamily="34" charset="0"/>
                <a:ea typeface="Malgun Gothic" pitchFamily="34" charset="-122"/>
                <a:cs typeface="Malgun Gothic" pitchFamily="34" charset="-120"/>
              </a:rPr>
              <a:t>쓸 수 있겠다고 판단했습니다.</a:t>
            </a:r>
            <a:endParaRPr lang="en-US" sz="1600" dirty="0"/>
          </a:p>
        </p:txBody>
      </p:sp>
      <p:sp>
        <p:nvSpPr>
          <p:cNvPr id="28" name="Text 22"/>
          <p:cNvSpPr txBox="1"/>
          <p:nvPr/>
        </p:nvSpPr>
        <p:spPr>
          <a:xfrm>
            <a:off x="640080" y="6291072"/>
            <a:ext cx="10180015" cy="365760"/>
          </a:xfrm>
          <a:prstGeom prst="rect">
            <a:avLst/>
          </a:prstGeom>
          <a:noFill/>
          <a:ln/>
        </p:spPr>
        <p:txBody>
          <a:bodyPr wrap="square" lIns="0" tIns="0" rIns="0" bIns="0" rtlCol="0" anchor="b"/>
          <a:lstStyle/>
          <a:p>
            <a:pPr algn="l" indent="0" marL="0">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[8] Smith, H. J. et al. (2023). A Method for Animating Children's Drawings of the Human Figure. ACM Transactions on Graphics 42(3).  [9] Meta AI (2023.4.13). Animated Drawings 오픈소스 공개.  그림: 저장소 예제 char1 (MIT)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6</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기존 서비스 조사</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그런데, 이미 비슷한 서비스가 있지 않을까?</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651760"/>
                <a:gridCol w="1645920"/>
                <a:gridCol w="1645920"/>
                <a:gridCol w="1645920"/>
                <a:gridCol w="1645920"/>
                <a:gridCol w="1676095"/>
              </a:tblGrid>
              <a:tr h="566928">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조사 대상</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그림 입력</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애니메이션</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이야기</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아이의 선택</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c>
                  <a:txBody>
                    <a:bodyPr/>
                    <a:lstStyle/>
                    <a:p>
                      <a:pPr algn="ctr" indent="0" marL="0">
                        <a:buNone/>
                      </a:pPr>
                      <a:r>
                        <a:rPr lang="en-US" sz="1400" b="1" dirty="0">
                          <a:solidFill>
                            <a:srgbClr val="4C5CC4"/>
                          </a:solidFill>
                          <a:latin typeface="Malgun Gothic" pitchFamily="34" charset="0"/>
                          <a:ea typeface="Malgun Gothic" pitchFamily="34" charset="-122"/>
                          <a:cs typeface="Malgun Gothic" pitchFamily="34" charset="-120"/>
                        </a:rPr>
                        <a:t>관절 직접 보정</a:t>
                      </a:r>
                      <a:endParaRPr lang="en-US" sz="1400" dirty="0">
                        <a:latin typeface="Malgun Gothic" charset="0"/>
                        <a:ea typeface="Malgun Gothic" charset="0"/>
                        <a:cs typeface="Malgun Gothic" charset="0"/>
                      </a:endParaRPr>
                    </a:p>
                  </a:txBody>
                  <a:tcPr marL="137160" marR="137160" marT="45720" marB="45720" anchor="ctr">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EDF0FE"/>
                    </a:solidFill>
                  </a:tcPr>
                </a:tc>
              </a:tr>
              <a:tr h="566928">
                <a:tc>
                  <a:txBody>
                    <a:bodyPr/>
                    <a:lstStyle/>
                    <a:p>
                      <a:pPr algn="l" indent="0" marL="0">
                        <a:buNone/>
                      </a:pPr>
                      <a:r>
                        <a:rPr lang="en-US" sz="1400" b="1" dirty="0">
                          <a:solidFill>
                            <a:srgbClr val="39405C"/>
                          </a:solidFill>
                          <a:latin typeface="Malgun Gothic" pitchFamily="34" charset="0"/>
                          <a:ea typeface="Malgun Gothic" pitchFamily="34" charset="-122"/>
                          <a:cs typeface="Malgun Gothic" pitchFamily="34" charset="-120"/>
                        </a:rPr>
                        <a:t>Meta Animated Drawings 데모</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r>
              <a:tr h="566928">
                <a:tc>
                  <a:txBody>
                    <a:bodyPr/>
                    <a:lstStyle/>
                    <a:p>
                      <a:pPr algn="l" indent="0" marL="0">
                        <a:buNone/>
                      </a:pPr>
                      <a:r>
                        <a:rPr lang="en-US" sz="1400" b="1" dirty="0">
                          <a:solidFill>
                            <a:srgbClr val="39405C"/>
                          </a:solidFill>
                          <a:latin typeface="Malgun Gothic" pitchFamily="34" charset="0"/>
                          <a:ea typeface="Malgun Gothic" pitchFamily="34" charset="-122"/>
                          <a:cs typeface="Malgun Gothic" pitchFamily="34" charset="-120"/>
                        </a:rPr>
                        <a:t>Drawings Alive</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r>
              <a:tr h="566928">
                <a:tc>
                  <a:txBody>
                    <a:bodyPr/>
                    <a:lstStyle/>
                    <a:p>
                      <a:pPr algn="l" indent="0" marL="0">
                        <a:buNone/>
                      </a:pPr>
                      <a:r>
                        <a:rPr lang="en-US" sz="1400" b="1" dirty="0">
                          <a:solidFill>
                            <a:srgbClr val="39405C"/>
                          </a:solidFill>
                          <a:latin typeface="Malgun Gothic" pitchFamily="34" charset="0"/>
                          <a:ea typeface="Malgun Gothic" pitchFamily="34" charset="-122"/>
                          <a:cs typeface="Malgun Gothic" pitchFamily="34" charset="-120"/>
                        </a:rPr>
                        <a:t>Drawalive</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  일부</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r>
              <a:tr h="566928">
                <a:tc>
                  <a:txBody>
                    <a:bodyPr/>
                    <a:lstStyle/>
                    <a:p>
                      <a:pPr algn="l" indent="0" marL="0">
                        <a:buNone/>
                      </a:pPr>
                      <a:r>
                        <a:rPr lang="en-US" sz="1400" b="1" dirty="0">
                          <a:solidFill>
                            <a:srgbClr val="39405C"/>
                          </a:solidFill>
                          <a:latin typeface="Malgun Gothic" pitchFamily="34" charset="0"/>
                          <a:ea typeface="Malgun Gothic" pitchFamily="34" charset="-122"/>
                          <a:cs typeface="Malgun Gothic" pitchFamily="34" charset="-120"/>
                        </a:rPr>
                        <a:t>Looma *</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39405C"/>
                          </a:solidFill>
                          <a:latin typeface="Malgun Gothic" pitchFamily="34" charset="0"/>
                          <a:ea typeface="Malgun Gothic" pitchFamily="34" charset="-122"/>
                          <a:cs typeface="Malgun Gothic" pitchFamily="34" charset="-120"/>
                        </a:rPr>
                        <a:t>◐  제한적</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c>
                  <a:txBody>
                    <a:bodyPr/>
                    <a:lstStyle/>
                    <a:p>
                      <a:pPr algn="ctr" indent="0" marL="0">
                        <a:buNone/>
                      </a:pPr>
                      <a:r>
                        <a:rPr lang="en-US" sz="1400" dirty="0">
                          <a:solidFill>
                            <a:srgbClr val="8A91AA"/>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DFEFF"/>
                    </a:solidFill>
                  </a:tcPr>
                </a:tc>
              </a:tr>
              <a:tr h="566928">
                <a:tc>
                  <a:txBody>
                    <a:bodyPr/>
                    <a:lstStyle/>
                    <a:p>
                      <a:pPr algn="l" indent="0" marL="0">
                        <a:buNone/>
                      </a:pPr>
                      <a:r>
                        <a:rPr lang="en-US" sz="1400" b="1" dirty="0">
                          <a:solidFill>
                            <a:srgbClr val="4C5CC4"/>
                          </a:solidFill>
                          <a:latin typeface="Malgun Gothic" pitchFamily="34" charset="0"/>
                          <a:ea typeface="Malgun Gothic" pitchFamily="34" charset="-122"/>
                          <a:cs typeface="Malgun Gothic" pitchFamily="34" charset="-120"/>
                        </a:rPr>
                        <a:t>DrawTale</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c>
                  <a:txBody>
                    <a:bodyPr/>
                    <a:lstStyle/>
                    <a:p>
                      <a:pPr algn="ctr" indent="0" marL="0">
                        <a:buNone/>
                      </a:pPr>
                      <a:r>
                        <a:rPr lang="en-US" sz="1400" b="1"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c>
                  <a:txBody>
                    <a:bodyPr/>
                    <a:lstStyle/>
                    <a:p>
                      <a:pPr algn="ctr" indent="0" marL="0">
                        <a:buNone/>
                      </a:pPr>
                      <a:r>
                        <a:rPr lang="en-US" sz="1400" b="1"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c>
                  <a:txBody>
                    <a:bodyPr/>
                    <a:lstStyle/>
                    <a:p>
                      <a:pPr algn="ctr" indent="0" marL="0">
                        <a:buNone/>
                      </a:pPr>
                      <a:r>
                        <a:rPr lang="en-US" sz="1400" b="1"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c>
                  <a:txBody>
                    <a:bodyPr/>
                    <a:lstStyle/>
                    <a:p>
                      <a:pPr algn="ctr" indent="0" marL="0">
                        <a:buNone/>
                      </a:pPr>
                      <a:r>
                        <a:rPr lang="en-US" sz="1400" b="1"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c>
                  <a:txBody>
                    <a:bodyPr/>
                    <a:lstStyle/>
                    <a:p>
                      <a:pPr algn="ctr" indent="0" marL="0">
                        <a:buNone/>
                      </a:pPr>
                      <a:r>
                        <a:rPr lang="en-US" sz="1400" b="1" dirty="0">
                          <a:solidFill>
                            <a:srgbClr val="39405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37160" marR="137160" marT="45720" marB="45720">
                    <a:lnL w="9525" cap="flat" cmpd="sng" algn="ctr">
                      <a:solidFill>
                        <a:srgbClr val="DCE3F6"/>
                      </a:solidFill>
                      <a:prstDash val="solid"/>
                      <a:round/>
                      <a:headEnd type="none" w="med" len="med"/>
                      <a:tailEnd type="none" w="med" len="med"/>
                    </a:lnL>
                    <a:lnR w="9525" cap="flat" cmpd="sng" algn="ctr">
                      <a:solidFill>
                        <a:srgbClr val="DCE3F6"/>
                      </a:solidFill>
                      <a:prstDash val="solid"/>
                      <a:round/>
                      <a:headEnd type="none" w="med" len="med"/>
                      <a:tailEnd type="none" w="med" len="med"/>
                    </a:lnR>
                    <a:lnT w="9525" cap="flat" cmpd="sng" algn="ctr">
                      <a:solidFill>
                        <a:srgbClr val="DCE3F6"/>
                      </a:solidFill>
                      <a:prstDash val="solid"/>
                      <a:round/>
                      <a:headEnd type="none" w="med" len="med"/>
                      <a:tailEnd type="none" w="med" len="med"/>
                    </a:lnT>
                    <a:lnB w="9525" cap="flat" cmpd="sng" algn="ctr">
                      <a:solidFill>
                        <a:srgbClr val="DCE3F6"/>
                      </a:solidFill>
                      <a:prstDash val="solid"/>
                      <a:round/>
                      <a:headEnd type="none" w="med" len="med"/>
                      <a:tailEnd type="none" w="med" len="med"/>
                    </a:lnB>
                    <a:solidFill>
                      <a:srgbClr val="FFEA99"/>
                    </a:solidFill>
                  </a:tcPr>
                </a:tc>
              </a:tr>
            </a:tbl>
          </a:graphicData>
        </a:graphic>
      </p:graphicFrame>
      <p:sp>
        <p:nvSpPr>
          <p:cNvPr id="6" name="Text 3"/>
          <p:cNvSpPr txBox="1"/>
          <p:nvPr/>
        </p:nvSpPr>
        <p:spPr>
          <a:xfrm>
            <a:off x="640080" y="5532120"/>
            <a:ext cx="5486400" cy="274320"/>
          </a:xfrm>
          <a:prstGeom prst="rect">
            <a:avLst/>
          </a:prstGeom>
          <a:noFill/>
          <a:ln/>
        </p:spPr>
        <p:txBody>
          <a:bodyPr wrap="square" lIns="0" tIns="0" rIns="0" bIns="0" rtlCol="0" anchor="t"/>
          <a:lstStyle/>
          <a:p>
            <a:pPr algn="l" indent="0" marL="0">
              <a:lnSpc>
                <a:spcPct val="115000"/>
              </a:lnSpc>
              <a:buNone/>
            </a:pPr>
            <a:r>
              <a:rPr lang="en-US" sz="1100" dirty="0">
                <a:solidFill>
                  <a:srgbClr val="5A6282"/>
                </a:solidFill>
                <a:latin typeface="Malgun Gothic" pitchFamily="34" charset="0"/>
                <a:ea typeface="Malgun Gothic" pitchFamily="34" charset="-122"/>
                <a:cs typeface="Malgun Gothic" pitchFamily="34" charset="-120"/>
              </a:rPr>
              <a:t>●  있음      ◐  일부 · 제한적      —  없음</a:t>
            </a:r>
            <a:endParaRPr lang="en-US" sz="1100" dirty="0"/>
          </a:p>
        </p:txBody>
      </p:sp>
      <p:sp>
        <p:nvSpPr>
          <p:cNvPr id="7" name="Text 4"/>
          <p:cNvSpPr txBox="1"/>
          <p:nvPr/>
        </p:nvSpPr>
        <p:spPr>
          <a:xfrm>
            <a:off x="640080" y="6291072"/>
            <a:ext cx="10180015" cy="365760"/>
          </a:xfrm>
          <a:prstGeom prst="rect">
            <a:avLst/>
          </a:prstGeom>
          <a:noFill/>
          <a:ln/>
        </p:spPr>
        <p:txBody>
          <a:bodyPr wrap="square" lIns="0" tIns="0" rIns="0" bIns="0" rtlCol="0" anchor="b"/>
          <a:lstStyle/>
          <a:p>
            <a:pPr algn="l" indent="0" marL="0">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각 서비스 공식 사이트 · 스토어 설명 (2026.9.30 확인) [10][11], Meta 데모는 논문 Fig. 9 [8].  * Looma는 팀원 조사 기준이며 공식 사이트를 아직 확인하지 못했습니다. 발표 직전 각 서비스의 최신 기능을 다시 확인합니다.</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7</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조사에서 발견한 한계</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그림을 움직이는 서비스도, 그림으로 이야기를 만드는 서비스도 이미 있었습니다</a:t>
            </a:r>
            <a:endParaRPr lang="en-US" sz="3000" dirty="0"/>
          </a:p>
        </p:txBody>
      </p:sp>
      <p:sp>
        <p:nvSpPr>
          <p:cNvPr id="5" name="Text 3"/>
          <p:cNvSpPr txBox="1"/>
          <p:nvPr/>
        </p:nvSpPr>
        <p:spPr>
          <a:xfrm>
            <a:off x="640080" y="4873752"/>
            <a:ext cx="10911535" cy="411480"/>
          </a:xfrm>
          <a:prstGeom prst="rect">
            <a:avLst/>
          </a:prstGeom>
          <a:noFill/>
          <a:ln/>
        </p:spPr>
        <p:txBody>
          <a:bodyPr wrap="square" lIns="0" tIns="0" rIns="0" bIns="0" rtlCol="0" anchor="t"/>
          <a:lstStyle/>
          <a:p>
            <a:pPr algn="l" indent="0" marL="0">
              <a:lnSpc>
                <a:spcPct val="115000"/>
              </a:lnSpc>
              <a:buNone/>
            </a:pPr>
            <a:r>
              <a:rPr lang="en-US" sz="1200" i="1" dirty="0">
                <a:solidFill>
                  <a:srgbClr val="5A6282"/>
                </a:solidFill>
                <a:latin typeface="Malgun Gothic" pitchFamily="34" charset="0"/>
                <a:ea typeface="Malgun Gothic" pitchFamily="34" charset="-122"/>
                <a:cs typeface="Malgun Gothic" pitchFamily="34" charset="-120"/>
              </a:rPr>
              <a:t>연구자들도 AI는 아이의 손작업을 ‘대신’하지 말고 ‘곁에서’ 도와야 한다고 말합니다 — “alongside – not instead of” (Alan Turing Institute, 2025) [12]</a:t>
            </a:r>
            <a:endParaRPr lang="en-US" sz="1200" dirty="0"/>
          </a:p>
        </p:txBody>
      </p:sp>
      <p:sp>
        <p:nvSpPr>
          <p:cNvPr id="6" name="Text 4"/>
          <p:cNvSpPr txBox="1"/>
          <p:nvPr/>
        </p:nvSpPr>
        <p:spPr>
          <a:xfrm>
            <a:off x="640080" y="6291072"/>
            <a:ext cx="10180015" cy="365760"/>
          </a:xfrm>
          <a:prstGeom prst="rect">
            <a:avLst/>
          </a:prstGeom>
          <a:noFill/>
          <a:ln/>
        </p:spPr>
        <p:txBody>
          <a:bodyPr wrap="square" lIns="0" tIns="0" rIns="0" bIns="0" rtlCol="0" anchor="b"/>
          <a:lstStyle/>
          <a:p>
            <a:pPr algn="l" indent="0" marL="0">
              <a:lnSpc>
                <a:spcPct val="105000"/>
              </a:lnSpc>
              <a:buNone/>
            </a:pPr>
            <a:r>
              <a:rPr lang="en-US" sz="900" dirty="0">
                <a:solidFill>
                  <a:srgbClr val="8A91AA"/>
                </a:solidFill>
                <a:latin typeface="Malgun Gothic" pitchFamily="34" charset="0"/>
                <a:ea typeface="Malgun Gothic" pitchFamily="34" charset="-122"/>
                <a:cs typeface="Malgun Gothic" pitchFamily="34" charset="-120"/>
              </a:rPr>
              <a:t>출처: [12] The Alan Turing Institute (2025). Understanding the Impacts of Generative AI Use on Children</a:t>
            </a:r>
            <a:endParaRPr lang="en-US" sz="900" dirty="0"/>
          </a:p>
        </p:txBody>
      </p:sp>
      <p:sp>
        <p:nvSpPr>
          <p:cNvPr id="7" name="Shape 5"/>
          <p:cNvSpPr/>
          <p:nvPr/>
        </p:nvSpPr>
        <p:spPr>
          <a:xfrm>
            <a:off x="640080" y="2148840"/>
            <a:ext cx="5044288" cy="2560320"/>
          </a:xfrm>
          <a:prstGeom prst="roundRect">
            <a:avLst>
              <a:gd name="adj" fmla="val 7857"/>
            </a:avLst>
          </a:prstGeom>
          <a:solidFill>
            <a:srgbClr val="F1F2F6"/>
          </a:solidFill>
          <a:ln/>
        </p:spPr>
      </p:sp>
      <p:sp>
        <p:nvSpPr>
          <p:cNvPr id="8" name="Text 6"/>
          <p:cNvSpPr txBox="1"/>
          <p:nvPr/>
        </p:nvSpPr>
        <p:spPr>
          <a:xfrm>
            <a:off x="1005840" y="2468880"/>
            <a:ext cx="4312768" cy="411480"/>
          </a:xfrm>
          <a:prstGeom prst="rect">
            <a:avLst/>
          </a:prstGeom>
          <a:noFill/>
          <a:ln/>
        </p:spPr>
        <p:txBody>
          <a:bodyPr wrap="square" lIns="0" tIns="0" rIns="0" bIns="0" rtlCol="0" anchor="t"/>
          <a:lstStyle/>
          <a:p>
            <a:pPr algn="l" indent="0" marL="0">
              <a:lnSpc>
                <a:spcPct val="115000"/>
              </a:lnSpc>
              <a:buNone/>
            </a:pPr>
            <a:r>
              <a:rPr lang="en-US" sz="1800" b="1" dirty="0">
                <a:solidFill>
                  <a:srgbClr val="5A6282"/>
                </a:solidFill>
                <a:latin typeface="Malgun Gothic" pitchFamily="34" charset="0"/>
                <a:ea typeface="Malgun Gothic" pitchFamily="34" charset="-122"/>
                <a:cs typeface="Malgun Gothic" pitchFamily="34" charset="-120"/>
              </a:rPr>
              <a:t>AI가 만들어 주는 결과</a:t>
            </a:r>
            <a:endParaRPr lang="en-US" sz="1800" dirty="0"/>
          </a:p>
        </p:txBody>
      </p:sp>
      <p:sp>
        <p:nvSpPr>
          <p:cNvPr id="9" name="Text 7"/>
          <p:cNvSpPr txBox="1"/>
          <p:nvPr/>
        </p:nvSpPr>
        <p:spPr>
          <a:xfrm>
            <a:off x="1005840" y="3108960"/>
            <a:ext cx="4312768" cy="457200"/>
          </a:xfrm>
          <a:prstGeom prst="rect">
            <a:avLst/>
          </a:prstGeom>
          <a:noFill/>
          <a:ln/>
        </p:spPr>
        <p:txBody>
          <a:bodyPr wrap="square" lIns="0" tIns="0" rIns="0" bIns="0" rtlCol="0" anchor="t"/>
          <a:lstStyle/>
          <a:p>
            <a:pPr algn="l" indent="0" marL="0">
              <a:lnSpc>
                <a:spcPct val="115000"/>
              </a:lnSpc>
              <a:buNone/>
            </a:pPr>
            <a:r>
              <a:rPr lang="en-US" sz="1500" dirty="0">
                <a:solidFill>
                  <a:srgbClr val="5A6282"/>
                </a:solidFill>
                <a:latin typeface="Malgun Gothic" pitchFamily="34" charset="0"/>
                <a:ea typeface="Malgun Gothic" pitchFamily="34" charset="-122"/>
                <a:cs typeface="Malgun Gothic" pitchFamily="34" charset="-120"/>
              </a:rPr>
              <a:t>1   그림을 넣으면</a:t>
            </a:r>
            <a:endParaRPr lang="en-US" sz="1500" dirty="0"/>
          </a:p>
        </p:txBody>
      </p:sp>
      <p:sp>
        <p:nvSpPr>
          <p:cNvPr id="10" name="Text 8"/>
          <p:cNvSpPr txBox="1"/>
          <p:nvPr/>
        </p:nvSpPr>
        <p:spPr>
          <a:xfrm>
            <a:off x="1005840" y="3657600"/>
            <a:ext cx="4312768" cy="457200"/>
          </a:xfrm>
          <a:prstGeom prst="rect">
            <a:avLst/>
          </a:prstGeom>
          <a:noFill/>
          <a:ln/>
        </p:spPr>
        <p:txBody>
          <a:bodyPr wrap="square" lIns="0" tIns="0" rIns="0" bIns="0" rtlCol="0" anchor="t"/>
          <a:lstStyle/>
          <a:p>
            <a:pPr algn="l" indent="0" marL="0">
              <a:lnSpc>
                <a:spcPct val="115000"/>
              </a:lnSpc>
              <a:buNone/>
            </a:pPr>
            <a:r>
              <a:rPr lang="en-US" sz="1500" dirty="0">
                <a:solidFill>
                  <a:srgbClr val="5A6282"/>
                </a:solidFill>
                <a:latin typeface="Malgun Gothic" pitchFamily="34" charset="0"/>
                <a:ea typeface="Malgun Gothic" pitchFamily="34" charset="-122"/>
                <a:cs typeface="Malgun Gothic" pitchFamily="34" charset="-120"/>
              </a:rPr>
              <a:t>2   AI가 예쁜 영상 하나를 만들고</a:t>
            </a:r>
            <a:endParaRPr lang="en-US" sz="1500" dirty="0"/>
          </a:p>
        </p:txBody>
      </p:sp>
      <p:sp>
        <p:nvSpPr>
          <p:cNvPr id="11" name="Text 9"/>
          <p:cNvSpPr txBox="1"/>
          <p:nvPr/>
        </p:nvSpPr>
        <p:spPr>
          <a:xfrm>
            <a:off x="1005840" y="4206240"/>
            <a:ext cx="4312768" cy="457200"/>
          </a:xfrm>
          <a:prstGeom prst="rect">
            <a:avLst/>
          </a:prstGeom>
          <a:noFill/>
          <a:ln/>
        </p:spPr>
        <p:txBody>
          <a:bodyPr wrap="square" lIns="0" tIns="0" rIns="0" bIns="0" rtlCol="0" anchor="t"/>
          <a:lstStyle/>
          <a:p>
            <a:pPr algn="l" indent="0" marL="0">
              <a:lnSpc>
                <a:spcPct val="115000"/>
              </a:lnSpc>
              <a:buNone/>
            </a:pPr>
            <a:r>
              <a:rPr lang="en-US" sz="1500" dirty="0">
                <a:solidFill>
                  <a:srgbClr val="5A6282"/>
                </a:solidFill>
                <a:latin typeface="Malgun Gothic" pitchFamily="34" charset="0"/>
                <a:ea typeface="Malgun Gothic" pitchFamily="34" charset="-122"/>
                <a:cs typeface="Malgun Gothic" pitchFamily="34" charset="-120"/>
              </a:rPr>
              <a:t>3   아이는 결과를 감상합니다</a:t>
            </a:r>
            <a:endParaRPr lang="en-US" sz="1500" dirty="0"/>
          </a:p>
        </p:txBody>
      </p:sp>
      <p:sp>
        <p:nvSpPr>
          <p:cNvPr id="12" name="Shape 10"/>
          <p:cNvSpPr/>
          <p:nvPr/>
        </p:nvSpPr>
        <p:spPr>
          <a:xfrm>
            <a:off x="6507328" y="2148840"/>
            <a:ext cx="5044288" cy="2560320"/>
          </a:xfrm>
          <a:prstGeom prst="roundRect">
            <a:avLst>
              <a:gd name="adj" fmla="val 7857"/>
            </a:avLst>
          </a:prstGeom>
          <a:solidFill>
            <a:srgbClr val="FDFEFF"/>
          </a:solidFill>
          <a:ln/>
          <a:effectLst>
            <a:outerShdw sx="100000" sy="100000" kx="0" ky="0" algn="bl" rotWithShape="0" blurRad="152400" dist="50800" dir="5400000">
              <a:srgbClr val="5364CE">
                <a:alpha val="13000"/>
              </a:srgbClr>
            </a:outerShdw>
          </a:effectLst>
        </p:spPr>
      </p:sp>
      <p:sp>
        <p:nvSpPr>
          <p:cNvPr id="13" name="Text 11"/>
          <p:cNvSpPr txBox="1"/>
          <p:nvPr/>
        </p:nvSpPr>
        <p:spPr>
          <a:xfrm>
            <a:off x="6873088" y="2468880"/>
            <a:ext cx="4312768" cy="411480"/>
          </a:xfrm>
          <a:prstGeom prst="rect">
            <a:avLst/>
          </a:prstGeom>
          <a:noFill/>
          <a:ln/>
        </p:spPr>
        <p:txBody>
          <a:bodyPr wrap="square" lIns="0" tIns="0" rIns="0" bIns="0" rtlCol="0" anchor="t"/>
          <a:lstStyle/>
          <a:p>
            <a:pPr algn="l" indent="0" marL="0">
              <a:lnSpc>
                <a:spcPct val="115000"/>
              </a:lnSpc>
              <a:buNone/>
            </a:pPr>
            <a:r>
              <a:rPr lang="en-US" sz="1800" b="1" dirty="0">
                <a:solidFill>
                  <a:srgbClr val="4C5CC4"/>
                </a:solidFill>
                <a:latin typeface="Malgun Gothic" pitchFamily="34" charset="0"/>
                <a:ea typeface="Malgun Gothic" pitchFamily="34" charset="-122"/>
                <a:cs typeface="Malgun Gothic" pitchFamily="34" charset="-120"/>
              </a:rPr>
              <a:t>아이가 이어 가는 과정</a:t>
            </a:r>
            <a:endParaRPr lang="en-US" sz="1800" dirty="0"/>
          </a:p>
        </p:txBody>
      </p:sp>
      <p:sp>
        <p:nvSpPr>
          <p:cNvPr id="14" name="Text 12"/>
          <p:cNvSpPr txBox="1"/>
          <p:nvPr/>
        </p:nvSpPr>
        <p:spPr>
          <a:xfrm>
            <a:off x="6873088" y="3108960"/>
            <a:ext cx="4312768" cy="457200"/>
          </a:xfrm>
          <a:prstGeom prst="rect">
            <a:avLst/>
          </a:prstGeom>
          <a:noFill/>
          <a:ln/>
        </p:spPr>
        <p:txBody>
          <a:bodyPr wrap="square" lIns="0" tIns="0" rIns="0" bIns="0" rtlCol="0" anchor="t"/>
          <a:lstStyle/>
          <a:p>
            <a:pPr algn="l" indent="0" marL="0">
              <a:lnSpc>
                <a:spcPct val="115000"/>
              </a:lnSpc>
              <a:buNone/>
            </a:pPr>
            <a:r>
              <a:rPr lang="en-US" sz="1500" b="1" dirty="0">
                <a:solidFill>
                  <a:srgbClr val="39405C"/>
                </a:solidFill>
                <a:latin typeface="Malgun Gothic" pitchFamily="34" charset="0"/>
                <a:ea typeface="Malgun Gothic" pitchFamily="34" charset="-122"/>
                <a:cs typeface="Malgun Gothic" pitchFamily="34" charset="-120"/>
              </a:rPr>
              <a:t>1   내 그림이 주인공이 되고</a:t>
            </a:r>
            <a:endParaRPr lang="en-US" sz="1500" dirty="0"/>
          </a:p>
        </p:txBody>
      </p:sp>
      <p:sp>
        <p:nvSpPr>
          <p:cNvPr id="15" name="Text 13"/>
          <p:cNvSpPr txBox="1"/>
          <p:nvPr/>
        </p:nvSpPr>
        <p:spPr>
          <a:xfrm>
            <a:off x="6873088" y="3657600"/>
            <a:ext cx="4312768" cy="457200"/>
          </a:xfrm>
          <a:prstGeom prst="rect">
            <a:avLst/>
          </a:prstGeom>
          <a:noFill/>
          <a:ln/>
        </p:spPr>
        <p:txBody>
          <a:bodyPr wrap="square" lIns="0" tIns="0" rIns="0" bIns="0" rtlCol="0" anchor="t"/>
          <a:lstStyle/>
          <a:p>
            <a:pPr algn="l" indent="0" marL="0">
              <a:lnSpc>
                <a:spcPct val="115000"/>
              </a:lnSpc>
              <a:buNone/>
            </a:pPr>
            <a:r>
              <a:rPr lang="en-US" sz="1500" b="1" dirty="0">
                <a:solidFill>
                  <a:srgbClr val="39405C"/>
                </a:solidFill>
                <a:latin typeface="Malgun Gothic" pitchFamily="34" charset="0"/>
                <a:ea typeface="Malgun Gothic" pitchFamily="34" charset="-122"/>
                <a:cs typeface="Malgun Gothic" pitchFamily="34" charset="-120"/>
              </a:rPr>
              <a:t>2   다음에 무슨 일이 일어날지 아이가 고르고</a:t>
            </a:r>
            <a:endParaRPr lang="en-US" sz="1500" dirty="0"/>
          </a:p>
        </p:txBody>
      </p:sp>
      <p:sp>
        <p:nvSpPr>
          <p:cNvPr id="16" name="Text 14"/>
          <p:cNvSpPr txBox="1"/>
          <p:nvPr/>
        </p:nvSpPr>
        <p:spPr>
          <a:xfrm>
            <a:off x="6873088" y="4206240"/>
            <a:ext cx="4312768" cy="457200"/>
          </a:xfrm>
          <a:prstGeom prst="rect">
            <a:avLst/>
          </a:prstGeom>
          <a:noFill/>
          <a:ln/>
        </p:spPr>
        <p:txBody>
          <a:bodyPr wrap="square" lIns="0" tIns="0" rIns="0" bIns="0" rtlCol="0" anchor="t"/>
          <a:lstStyle/>
          <a:p>
            <a:pPr algn="l" indent="0" marL="0">
              <a:lnSpc>
                <a:spcPct val="115000"/>
              </a:lnSpc>
              <a:buNone/>
            </a:pPr>
            <a:r>
              <a:rPr lang="en-US" sz="1500" b="1" dirty="0">
                <a:solidFill>
                  <a:srgbClr val="39405C"/>
                </a:solidFill>
                <a:latin typeface="Malgun Gothic" pitchFamily="34" charset="0"/>
                <a:ea typeface="Malgun Gothic" pitchFamily="34" charset="-122"/>
                <a:cs typeface="Malgun Gothic" pitchFamily="34" charset="-120"/>
              </a:rPr>
              <a:t>3   고른 것이 모여 나만의 이야기가 됩니다</a:t>
            </a:r>
            <a:endParaRPr lang="en-US" sz="1500" dirty="0"/>
          </a:p>
        </p:txBody>
      </p:sp>
      <p:sp>
        <p:nvSpPr>
          <p:cNvPr id="17" name="Shape 15"/>
          <p:cNvSpPr/>
          <p:nvPr/>
        </p:nvSpPr>
        <p:spPr>
          <a:xfrm>
            <a:off x="5867248" y="3246120"/>
            <a:ext cx="457200" cy="365760"/>
          </a:xfrm>
          <a:prstGeom prst="rightArrow">
            <a:avLst/>
          </a:prstGeom>
          <a:solidFill>
            <a:srgbClr val="7386F5"/>
          </a:solidFill>
          <a:ln/>
        </p:spPr>
      </p:sp>
      <p:sp>
        <p:nvSpPr>
          <p:cNvPr id="18" name="Shape 16"/>
          <p:cNvSpPr/>
          <p:nvPr/>
        </p:nvSpPr>
        <p:spPr>
          <a:xfrm>
            <a:off x="640080" y="5440680"/>
            <a:ext cx="10911535" cy="658368"/>
          </a:xfrm>
          <a:prstGeom prst="roundRect">
            <a:avLst>
              <a:gd name="adj" fmla="val 30556"/>
            </a:avLst>
          </a:prstGeom>
          <a:solidFill>
            <a:srgbClr val="FFEA99"/>
          </a:solidFill>
          <a:ln/>
        </p:spPr>
      </p:sp>
      <p:sp>
        <p:nvSpPr>
          <p:cNvPr id="19" name="Text 17"/>
          <p:cNvSpPr txBox="1"/>
          <p:nvPr/>
        </p:nvSpPr>
        <p:spPr>
          <a:xfrm>
            <a:off x="960120" y="5440680"/>
            <a:ext cx="10271455" cy="658368"/>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우리가 집중한 것은 AI가 결과물을 얼마나 화려하게 만드느냐가 아니라, 아이가 만드는 과정에 얼마나 계속 참여하느냐입니다.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8</a:t>
            </a:r>
            <a:endParaRPr lang="en-US" sz="1000" dirty="0"/>
          </a:p>
        </p:txBody>
      </p:sp>
      <p:sp>
        <p:nvSpPr>
          <p:cNvPr id="3" name="Shape 1"/>
          <p:cNvSpPr/>
          <p:nvPr/>
        </p:nvSpPr>
        <p:spPr>
          <a:xfrm>
            <a:off x="640080" y="1463040"/>
            <a:ext cx="3108960" cy="411480"/>
          </a:xfrm>
          <a:prstGeom prst="roundRect">
            <a:avLst>
              <a:gd name="adj" fmla="val 50000"/>
            </a:avLst>
          </a:prstGeom>
          <a:solidFill>
            <a:srgbClr val="FFEA99"/>
          </a:solidFill>
          <a:ln/>
        </p:spPr>
      </p:sp>
      <p:sp>
        <p:nvSpPr>
          <p:cNvPr id="4" name="Text 2"/>
          <p:cNvSpPr txBox="1"/>
          <p:nvPr/>
        </p:nvSpPr>
        <p:spPr>
          <a:xfrm>
            <a:off x="640080" y="1463040"/>
            <a:ext cx="3108960" cy="411480"/>
          </a:xfrm>
          <a:prstGeom prst="rect">
            <a:avLst/>
          </a:prstGeom>
          <a:noFill/>
          <a:ln/>
        </p:spPr>
        <p:txBody>
          <a:bodyPr wrap="square" lIns="0" tIns="0" rIns="0" bIns="0" rtlCol="0" anchor="ctr"/>
          <a:lstStyle/>
          <a:p>
            <a:pPr algn="ctr" indent="0" marL="0">
              <a:lnSpc>
                <a:spcPct val="115000"/>
              </a:lnSpc>
              <a:buNone/>
            </a:pPr>
            <a:r>
              <a:rPr lang="en-US" sz="1300" b="1" dirty="0">
                <a:solidFill>
                  <a:srgbClr val="39405C"/>
                </a:solidFill>
                <a:latin typeface="Malgun Gothic" pitchFamily="34" charset="0"/>
                <a:ea typeface="Malgun Gothic" pitchFamily="34" charset="-122"/>
                <a:cs typeface="Malgun Gothic" pitchFamily="34" charset="-120"/>
              </a:rPr>
              <a:t>여기서 우리가 발견한 가능성</a:t>
            </a:r>
            <a:endParaRPr lang="en-US" sz="1300" dirty="0"/>
          </a:p>
        </p:txBody>
      </p:sp>
      <p:sp>
        <p:nvSpPr>
          <p:cNvPr id="5" name="Text 3"/>
          <p:cNvSpPr txBox="1"/>
          <p:nvPr/>
        </p:nvSpPr>
        <p:spPr>
          <a:xfrm>
            <a:off x="640080" y="2286000"/>
            <a:ext cx="5486400" cy="365760"/>
          </a:xfrm>
          <a:prstGeom prst="rect">
            <a:avLst/>
          </a:prstGeom>
          <a:noFill/>
          <a:ln/>
        </p:spPr>
        <p:txBody>
          <a:bodyPr wrap="square" lIns="0" tIns="0" rIns="0" bIns="0" rtlCol="0" anchor="t"/>
          <a:lstStyle/>
          <a:p>
            <a:pPr algn="l" indent="0" marL="0">
              <a:lnSpc>
                <a:spcPct val="115000"/>
              </a:lnSpc>
              <a:buNone/>
            </a:pPr>
            <a:r>
              <a:rPr lang="en-US" sz="1500" b="1" dirty="0">
                <a:solidFill>
                  <a:srgbClr val="D6DCFB"/>
                </a:solidFill>
                <a:latin typeface="Malgun Gothic" pitchFamily="34" charset="0"/>
                <a:ea typeface="Malgun Gothic" pitchFamily="34" charset="-122"/>
                <a:cs typeface="Malgun Gothic" pitchFamily="34" charset="-120"/>
              </a:rPr>
              <a:t>기존 기술</a:t>
            </a:r>
            <a:endParaRPr lang="en-US" sz="1500" dirty="0"/>
          </a:p>
        </p:txBody>
      </p:sp>
      <p:sp>
        <p:nvSpPr>
          <p:cNvPr id="6" name="Text 4"/>
          <p:cNvSpPr txBox="1"/>
          <p:nvPr/>
        </p:nvSpPr>
        <p:spPr>
          <a:xfrm>
            <a:off x="640080" y="2651760"/>
            <a:ext cx="10058400" cy="731520"/>
          </a:xfrm>
          <a:prstGeom prst="rect">
            <a:avLst/>
          </a:prstGeom>
          <a:noFill/>
          <a:ln/>
        </p:spPr>
        <p:txBody>
          <a:bodyPr wrap="square" lIns="0" tIns="0" rIns="0" bIns="0" rtlCol="0" anchor="t"/>
          <a:lstStyle/>
          <a:p>
            <a:pPr algn="l" indent="0" marL="0">
              <a:lnSpc>
                <a:spcPct val="115000"/>
              </a:lnSpc>
              <a:buNone/>
            </a:pPr>
            <a:r>
              <a:rPr lang="en-US" sz="2800" b="1" dirty="0">
                <a:solidFill>
                  <a:srgbClr val="D6DCFB"/>
                </a:solidFill>
                <a:latin typeface="Malgun Gothic" pitchFamily="34" charset="0"/>
                <a:ea typeface="Malgun Gothic" pitchFamily="34" charset="-122"/>
                <a:cs typeface="Malgun Gothic" pitchFamily="34" charset="-120"/>
              </a:rPr>
              <a:t>“그림을 움직이게 한다.”</a:t>
            </a:r>
            <a:endParaRPr lang="en-US" sz="2800" dirty="0"/>
          </a:p>
        </p:txBody>
      </p:sp>
      <p:sp>
        <p:nvSpPr>
          <p:cNvPr id="7" name="Text 5"/>
          <p:cNvSpPr txBox="1"/>
          <p:nvPr/>
        </p:nvSpPr>
        <p:spPr>
          <a:xfrm>
            <a:off x="640080" y="3657600"/>
            <a:ext cx="5486400" cy="365760"/>
          </a:xfrm>
          <a:prstGeom prst="rect">
            <a:avLst/>
          </a:prstGeom>
          <a:noFill/>
          <a:ln/>
        </p:spPr>
        <p:txBody>
          <a:bodyPr wrap="square" lIns="0" tIns="0" rIns="0" bIns="0" rtlCol="0" anchor="t"/>
          <a:lstStyle/>
          <a:p>
            <a:pPr algn="l" indent="0" marL="0">
              <a:lnSpc>
                <a:spcPct val="115000"/>
              </a:lnSpc>
              <a:buNone/>
            </a:pPr>
            <a:r>
              <a:rPr lang="en-US" sz="1500" b="1" dirty="0">
                <a:solidFill>
                  <a:srgbClr val="FFEA99"/>
                </a:solidFill>
                <a:latin typeface="Malgun Gothic" pitchFamily="34" charset="0"/>
                <a:ea typeface="Malgun Gothic" pitchFamily="34" charset="-122"/>
                <a:cs typeface="Malgun Gothic" pitchFamily="34" charset="-120"/>
              </a:rPr>
              <a:t>DrawTale의 질문</a:t>
            </a:r>
            <a:endParaRPr lang="en-US" sz="1500" dirty="0"/>
          </a:p>
        </p:txBody>
      </p:sp>
      <p:sp>
        <p:nvSpPr>
          <p:cNvPr id="8" name="Text 6"/>
          <p:cNvSpPr txBox="1"/>
          <p:nvPr/>
        </p:nvSpPr>
        <p:spPr>
          <a:xfrm>
            <a:off x="640080" y="4023360"/>
            <a:ext cx="10058400" cy="1554480"/>
          </a:xfrm>
          <a:prstGeom prst="rect">
            <a:avLst/>
          </a:prstGeom>
          <a:noFill/>
          <a:ln/>
        </p:spPr>
        <p:txBody>
          <a:bodyPr wrap="square" lIns="0" tIns="0" rIns="0" bIns="0" rtlCol="0" anchor="t"/>
          <a:lstStyle/>
          <a:p>
            <a:pPr algn="l" indent="0" marL="0">
              <a:lnSpc>
                <a:spcPct val="125000"/>
              </a:lnSpc>
              <a:buNone/>
            </a:pPr>
            <a:r>
              <a:rPr lang="en-US" sz="3800" b="1" dirty="0">
                <a:solidFill>
                  <a:srgbClr val="FDFEFF"/>
                </a:solidFill>
                <a:latin typeface="Malgun Gothic" pitchFamily="34" charset="0"/>
                <a:ea typeface="Malgun Gothic" pitchFamily="34" charset="-122"/>
                <a:cs typeface="Malgun Gothic" pitchFamily="34" charset="-120"/>
              </a:rPr>
              <a:t>“움직이게 된 내 그림이</a:t>
            </a:r>
            <a:endParaRPr lang="en-US" sz="3800" dirty="0"/>
          </a:p>
          <a:p>
            <a:pPr algn="l" indent="0" marL="0">
              <a:lnSpc>
                <a:spcPct val="125000"/>
              </a:lnSpc>
              <a:buNone/>
            </a:pPr>
            <a:r>
              <a:rPr lang="en-US" sz="3800" b="1" dirty="0">
                <a:solidFill>
                  <a:srgbClr val="FDFEFF"/>
                </a:solidFill>
                <a:latin typeface="Malgun Gothic" pitchFamily="34" charset="0"/>
                <a:ea typeface="Malgun Gothic" pitchFamily="34" charset="-122"/>
                <a:cs typeface="Malgun Gothic" pitchFamily="34" charset="-120"/>
              </a:rPr>
              <a:t>내 이야기의 주인공이 된다면?”</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9</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조사 결과를 한 번에</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조사에서 서비스 방향이 나오기까지</a:t>
            </a:r>
            <a:endParaRPr lang="en-US" sz="3000" dirty="0"/>
          </a:p>
        </p:txBody>
      </p:sp>
      <p:sp>
        <p:nvSpPr>
          <p:cNvPr id="5" name="Shape 3"/>
          <p:cNvSpPr/>
          <p:nvPr/>
        </p:nvSpPr>
        <p:spPr>
          <a:xfrm>
            <a:off x="640080" y="1691640"/>
            <a:ext cx="7589520" cy="676656"/>
          </a:xfrm>
          <a:prstGeom prst="roundRect">
            <a:avLst>
              <a:gd name="adj" fmla="val 29730"/>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868680" y="1847088"/>
            <a:ext cx="310896" cy="310896"/>
          </a:xfrm>
          <a:prstGeom prst="ellipse">
            <a:avLst/>
          </a:prstGeom>
          <a:solidFill>
            <a:srgbClr val="7FB2F0"/>
          </a:solidFill>
          <a:ln/>
        </p:spPr>
      </p:sp>
      <p:sp>
        <p:nvSpPr>
          <p:cNvPr id="7" name="Text 5"/>
          <p:cNvSpPr txBox="1"/>
          <p:nvPr/>
        </p:nvSpPr>
        <p:spPr>
          <a:xfrm>
            <a:off x="1371600" y="1691640"/>
            <a:ext cx="1554480" cy="676656"/>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사회적 배경</a:t>
            </a:r>
            <a:endParaRPr lang="en-US" sz="1400" dirty="0"/>
          </a:p>
        </p:txBody>
      </p:sp>
      <p:sp>
        <p:nvSpPr>
          <p:cNvPr id="8" name="Text 6"/>
          <p:cNvSpPr txBox="1"/>
          <p:nvPr/>
        </p:nvSpPr>
        <p:spPr>
          <a:xfrm>
            <a:off x="2926080" y="1691640"/>
            <a:ext cx="5120640" cy="676656"/>
          </a:xfrm>
          <a:prstGeom prst="rect">
            <a:avLst/>
          </a:prstGeom>
          <a:noFill/>
          <a:ln/>
        </p:spPr>
        <p:txBody>
          <a:bodyPr wrap="square" lIns="0" tIns="0" rIns="0" bIns="0" rtlCol="0" anchor="ctr"/>
          <a:lstStyle/>
          <a:p>
            <a:pPr algn="l" indent="0" marL="0">
              <a:lnSpc>
                <a:spcPct val="115000"/>
              </a:lnSpc>
              <a:buNone/>
            </a:pPr>
            <a:r>
              <a:rPr lang="en-US" sz="1350" dirty="0">
                <a:solidFill>
                  <a:srgbClr val="5A6282"/>
                </a:solidFill>
                <a:latin typeface="Malgun Gothic" pitchFamily="34" charset="0"/>
                <a:ea typeface="Malgun Gothic" pitchFamily="34" charset="-122"/>
                <a:cs typeface="Malgun Gothic" pitchFamily="34" charset="-120"/>
              </a:rPr>
              <a:t>느린학습자와 부모가 겪는 학습 · 지원의 어려움</a:t>
            </a:r>
            <a:endParaRPr lang="en-US" sz="1350" dirty="0"/>
          </a:p>
        </p:txBody>
      </p:sp>
      <p:sp>
        <p:nvSpPr>
          <p:cNvPr id="9" name="Shape 7"/>
          <p:cNvSpPr/>
          <p:nvPr/>
        </p:nvSpPr>
        <p:spPr>
          <a:xfrm>
            <a:off x="640080" y="2606040"/>
            <a:ext cx="7589520" cy="676656"/>
          </a:xfrm>
          <a:prstGeom prst="roundRect">
            <a:avLst>
              <a:gd name="adj" fmla="val 29730"/>
            </a:avLst>
          </a:prstGeom>
          <a:solidFill>
            <a:srgbClr val="FDFEFF"/>
          </a:solidFill>
          <a:ln/>
          <a:effectLst>
            <a:outerShdw sx="100000" sy="100000" kx="0" ky="0" algn="bl" rotWithShape="0" blurRad="152400" dist="50800" dir="5400000">
              <a:srgbClr val="5364CE">
                <a:alpha val="13000"/>
              </a:srgbClr>
            </a:outerShdw>
          </a:effectLst>
        </p:spPr>
      </p:sp>
      <p:sp>
        <p:nvSpPr>
          <p:cNvPr id="10" name="Shape 8"/>
          <p:cNvSpPr/>
          <p:nvPr/>
        </p:nvSpPr>
        <p:spPr>
          <a:xfrm>
            <a:off x="868680" y="2761488"/>
            <a:ext cx="310896" cy="310896"/>
          </a:xfrm>
          <a:prstGeom prst="ellipse">
            <a:avLst/>
          </a:prstGeom>
          <a:solidFill>
            <a:srgbClr val="F4909F"/>
          </a:solidFill>
          <a:ln/>
        </p:spPr>
      </p:sp>
      <p:sp>
        <p:nvSpPr>
          <p:cNvPr id="11" name="Text 9"/>
          <p:cNvSpPr txBox="1"/>
          <p:nvPr/>
        </p:nvSpPr>
        <p:spPr>
          <a:xfrm>
            <a:off x="1371600" y="2606040"/>
            <a:ext cx="1554480" cy="676656"/>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교육적 배경</a:t>
            </a:r>
            <a:endParaRPr lang="en-US" sz="1400" dirty="0"/>
          </a:p>
        </p:txBody>
      </p:sp>
      <p:sp>
        <p:nvSpPr>
          <p:cNvPr id="12" name="Text 10"/>
          <p:cNvSpPr txBox="1"/>
          <p:nvPr/>
        </p:nvSpPr>
        <p:spPr>
          <a:xfrm>
            <a:off x="2926080" y="2606040"/>
            <a:ext cx="5120640" cy="676656"/>
          </a:xfrm>
          <a:prstGeom prst="rect">
            <a:avLst/>
          </a:prstGeom>
          <a:noFill/>
          <a:ln/>
        </p:spPr>
        <p:txBody>
          <a:bodyPr wrap="square" lIns="0" tIns="0" rIns="0" bIns="0" rtlCol="0" anchor="ctr"/>
          <a:lstStyle/>
          <a:p>
            <a:pPr algn="l" indent="0" marL="0">
              <a:lnSpc>
                <a:spcPct val="115000"/>
              </a:lnSpc>
              <a:buNone/>
            </a:pPr>
            <a:r>
              <a:rPr lang="en-US" sz="1350" dirty="0">
                <a:solidFill>
                  <a:srgbClr val="5A6282"/>
                </a:solidFill>
                <a:latin typeface="Malgun Gothic" pitchFamily="34" charset="0"/>
                <a:ea typeface="Malgun Gothic" pitchFamily="34" charset="-122"/>
                <a:cs typeface="Malgun Gothic" pitchFamily="34" charset="-120"/>
              </a:rPr>
              <a:t>그림과 이야기로 아이가 생각을 표현하는 Narrative 활동의 가능성</a:t>
            </a:r>
            <a:endParaRPr lang="en-US" sz="1350" dirty="0"/>
          </a:p>
        </p:txBody>
      </p:sp>
      <p:sp>
        <p:nvSpPr>
          <p:cNvPr id="13" name="Shape 11"/>
          <p:cNvSpPr/>
          <p:nvPr/>
        </p:nvSpPr>
        <p:spPr>
          <a:xfrm>
            <a:off x="640080" y="3520440"/>
            <a:ext cx="7589520" cy="676656"/>
          </a:xfrm>
          <a:prstGeom prst="roundRect">
            <a:avLst>
              <a:gd name="adj" fmla="val 29730"/>
            </a:avLst>
          </a:prstGeom>
          <a:solidFill>
            <a:srgbClr val="FDFEFF"/>
          </a:solidFill>
          <a:ln/>
          <a:effectLst>
            <a:outerShdw sx="100000" sy="100000" kx="0" ky="0" algn="bl" rotWithShape="0" blurRad="152400" dist="50800" dir="5400000">
              <a:srgbClr val="5364CE">
                <a:alpha val="13000"/>
              </a:srgbClr>
            </a:outerShdw>
          </a:effectLst>
        </p:spPr>
      </p:sp>
      <p:sp>
        <p:nvSpPr>
          <p:cNvPr id="14" name="Shape 12"/>
          <p:cNvSpPr/>
          <p:nvPr/>
        </p:nvSpPr>
        <p:spPr>
          <a:xfrm>
            <a:off x="868680" y="3675888"/>
            <a:ext cx="310896" cy="310896"/>
          </a:xfrm>
          <a:prstGeom prst="ellipse">
            <a:avLst/>
          </a:prstGeom>
          <a:solidFill>
            <a:srgbClr val="74CDAE"/>
          </a:solidFill>
          <a:ln/>
        </p:spPr>
      </p:sp>
      <p:sp>
        <p:nvSpPr>
          <p:cNvPr id="15" name="Text 13"/>
          <p:cNvSpPr txBox="1"/>
          <p:nvPr/>
        </p:nvSpPr>
        <p:spPr>
          <a:xfrm>
            <a:off x="1371600" y="3520440"/>
            <a:ext cx="1554480" cy="676656"/>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기술 조사</a:t>
            </a:r>
            <a:endParaRPr lang="en-US" sz="1400" dirty="0"/>
          </a:p>
        </p:txBody>
      </p:sp>
      <p:sp>
        <p:nvSpPr>
          <p:cNvPr id="16" name="Text 14"/>
          <p:cNvSpPr txBox="1"/>
          <p:nvPr/>
        </p:nvSpPr>
        <p:spPr>
          <a:xfrm>
            <a:off x="2926080" y="3520440"/>
            <a:ext cx="5120640" cy="676656"/>
          </a:xfrm>
          <a:prstGeom prst="rect">
            <a:avLst/>
          </a:prstGeom>
          <a:noFill/>
          <a:ln/>
        </p:spPr>
        <p:txBody>
          <a:bodyPr wrap="square" lIns="0" tIns="0" rIns="0" bIns="0" rtlCol="0" anchor="ctr"/>
          <a:lstStyle/>
          <a:p>
            <a:pPr algn="l" indent="0" marL="0">
              <a:lnSpc>
                <a:spcPct val="115000"/>
              </a:lnSpc>
              <a:buNone/>
            </a:pPr>
            <a:r>
              <a:rPr lang="en-US" sz="1350" dirty="0">
                <a:solidFill>
                  <a:srgbClr val="5A6282"/>
                </a:solidFill>
                <a:latin typeface="Malgun Gothic" pitchFamily="34" charset="0"/>
                <a:ea typeface="Malgun Gothic" pitchFamily="34" charset="-122"/>
                <a:cs typeface="Malgun Gothic" pitchFamily="34" charset="-120"/>
              </a:rPr>
              <a:t>AI로 손그림 캐릭터 · 관절을 인식하고 움직일 수 있다</a:t>
            </a:r>
            <a:endParaRPr lang="en-US" sz="1350" dirty="0"/>
          </a:p>
        </p:txBody>
      </p:sp>
      <p:sp>
        <p:nvSpPr>
          <p:cNvPr id="17" name="Shape 15"/>
          <p:cNvSpPr/>
          <p:nvPr/>
        </p:nvSpPr>
        <p:spPr>
          <a:xfrm>
            <a:off x="640080" y="4434840"/>
            <a:ext cx="7589520" cy="676656"/>
          </a:xfrm>
          <a:prstGeom prst="roundRect">
            <a:avLst>
              <a:gd name="adj" fmla="val 29730"/>
            </a:avLst>
          </a:prstGeom>
          <a:solidFill>
            <a:srgbClr val="FDFEFF"/>
          </a:solidFill>
          <a:ln/>
          <a:effectLst>
            <a:outerShdw sx="100000" sy="100000" kx="0" ky="0" algn="bl" rotWithShape="0" blurRad="152400" dist="50800" dir="5400000">
              <a:srgbClr val="5364CE">
                <a:alpha val="13000"/>
              </a:srgbClr>
            </a:outerShdw>
          </a:effectLst>
        </p:spPr>
      </p:sp>
      <p:sp>
        <p:nvSpPr>
          <p:cNvPr id="18" name="Shape 16"/>
          <p:cNvSpPr/>
          <p:nvPr/>
        </p:nvSpPr>
        <p:spPr>
          <a:xfrm>
            <a:off x="868680" y="4590288"/>
            <a:ext cx="310896" cy="310896"/>
          </a:xfrm>
          <a:prstGeom prst="ellipse">
            <a:avLst/>
          </a:prstGeom>
          <a:solidFill>
            <a:srgbClr val="F5C46B"/>
          </a:solidFill>
          <a:ln/>
        </p:spPr>
      </p:sp>
      <p:sp>
        <p:nvSpPr>
          <p:cNvPr id="19" name="Text 17"/>
          <p:cNvSpPr txBox="1"/>
          <p:nvPr/>
        </p:nvSpPr>
        <p:spPr>
          <a:xfrm>
            <a:off x="1371600" y="4434840"/>
            <a:ext cx="1554480" cy="676656"/>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기존 서비스</a:t>
            </a:r>
            <a:endParaRPr lang="en-US" sz="1400" dirty="0"/>
          </a:p>
        </p:txBody>
      </p:sp>
      <p:sp>
        <p:nvSpPr>
          <p:cNvPr id="20" name="Text 18"/>
          <p:cNvSpPr txBox="1"/>
          <p:nvPr/>
        </p:nvSpPr>
        <p:spPr>
          <a:xfrm>
            <a:off x="2926080" y="4434840"/>
            <a:ext cx="5120640" cy="676656"/>
          </a:xfrm>
          <a:prstGeom prst="rect">
            <a:avLst/>
          </a:prstGeom>
          <a:noFill/>
          <a:ln/>
        </p:spPr>
        <p:txBody>
          <a:bodyPr wrap="square" lIns="0" tIns="0" rIns="0" bIns="0" rtlCol="0" anchor="ctr"/>
          <a:lstStyle/>
          <a:p>
            <a:pPr algn="l" indent="0" marL="0">
              <a:lnSpc>
                <a:spcPct val="115000"/>
              </a:lnSpc>
              <a:buNone/>
            </a:pPr>
            <a:r>
              <a:rPr lang="en-US" sz="1350" dirty="0">
                <a:solidFill>
                  <a:srgbClr val="5A6282"/>
                </a:solidFill>
                <a:latin typeface="Malgun Gothic" pitchFamily="34" charset="0"/>
                <a:ea typeface="Malgun Gothic" pitchFamily="34" charset="-122"/>
                <a:cs typeface="Malgun Gothic" pitchFamily="34" charset="-120"/>
              </a:rPr>
              <a:t>그림 애니메이션과 AI 이야기 서비스는 이미 있다</a:t>
            </a:r>
            <a:endParaRPr lang="en-US" sz="1350" dirty="0"/>
          </a:p>
        </p:txBody>
      </p:sp>
      <p:sp>
        <p:nvSpPr>
          <p:cNvPr id="21" name="Shape 19"/>
          <p:cNvSpPr/>
          <p:nvPr/>
        </p:nvSpPr>
        <p:spPr>
          <a:xfrm>
            <a:off x="640080" y="5349240"/>
            <a:ext cx="7589520" cy="676656"/>
          </a:xfrm>
          <a:prstGeom prst="roundRect">
            <a:avLst>
              <a:gd name="adj" fmla="val 29730"/>
            </a:avLst>
          </a:prstGeom>
          <a:solidFill>
            <a:srgbClr val="FDFEFF"/>
          </a:solidFill>
          <a:ln/>
          <a:effectLst>
            <a:outerShdw sx="100000" sy="100000" kx="0" ky="0" algn="bl" rotWithShape="0" blurRad="152400" dist="50800" dir="5400000">
              <a:srgbClr val="5364CE">
                <a:alpha val="13000"/>
              </a:srgbClr>
            </a:outerShdw>
          </a:effectLst>
        </p:spPr>
      </p:sp>
      <p:sp>
        <p:nvSpPr>
          <p:cNvPr id="22" name="Shape 20"/>
          <p:cNvSpPr/>
          <p:nvPr/>
        </p:nvSpPr>
        <p:spPr>
          <a:xfrm>
            <a:off x="868680" y="5504688"/>
            <a:ext cx="310896" cy="310896"/>
          </a:xfrm>
          <a:prstGeom prst="ellipse">
            <a:avLst/>
          </a:prstGeom>
          <a:solidFill>
            <a:srgbClr val="7386F5"/>
          </a:solidFill>
          <a:ln/>
        </p:spPr>
      </p:sp>
      <p:sp>
        <p:nvSpPr>
          <p:cNvPr id="23" name="Text 21"/>
          <p:cNvSpPr txBox="1"/>
          <p:nvPr/>
        </p:nvSpPr>
        <p:spPr>
          <a:xfrm>
            <a:off x="1371600" y="5349240"/>
            <a:ext cx="1554480" cy="676656"/>
          </a:xfrm>
          <a:prstGeom prst="rect">
            <a:avLst/>
          </a:prstGeom>
          <a:noFill/>
          <a:ln/>
        </p:spPr>
        <p:txBody>
          <a:bodyPr wrap="square" lIns="0" tIns="0" rIns="0" bIns="0" rtlCol="0" anchor="ctr"/>
          <a:lstStyle/>
          <a:p>
            <a:pPr algn="l" indent="0" marL="0">
              <a:lnSpc>
                <a:spcPct val="115000"/>
              </a:lnSpc>
              <a:buNone/>
            </a:pPr>
            <a:r>
              <a:rPr lang="en-US" sz="1400" b="1" dirty="0">
                <a:solidFill>
                  <a:srgbClr val="39405C"/>
                </a:solidFill>
                <a:latin typeface="Malgun Gothic" pitchFamily="34" charset="0"/>
                <a:ea typeface="Malgun Gothic" pitchFamily="34" charset="-122"/>
                <a:cs typeface="Malgun Gothic" pitchFamily="34" charset="-120"/>
              </a:rPr>
              <a:t>발견한 한계</a:t>
            </a:r>
            <a:endParaRPr lang="en-US" sz="1400" dirty="0"/>
          </a:p>
        </p:txBody>
      </p:sp>
      <p:sp>
        <p:nvSpPr>
          <p:cNvPr id="24" name="Text 22"/>
          <p:cNvSpPr txBox="1"/>
          <p:nvPr/>
        </p:nvSpPr>
        <p:spPr>
          <a:xfrm>
            <a:off x="2926080" y="5349240"/>
            <a:ext cx="5120640" cy="676656"/>
          </a:xfrm>
          <a:prstGeom prst="rect">
            <a:avLst/>
          </a:prstGeom>
          <a:noFill/>
          <a:ln/>
        </p:spPr>
        <p:txBody>
          <a:bodyPr wrap="square" lIns="0" tIns="0" rIns="0" bIns="0" rtlCol="0" anchor="ctr"/>
          <a:lstStyle/>
          <a:p>
            <a:pPr algn="l" indent="0" marL="0">
              <a:lnSpc>
                <a:spcPct val="115000"/>
              </a:lnSpc>
              <a:buNone/>
            </a:pPr>
            <a:r>
              <a:rPr lang="en-US" sz="1350" dirty="0">
                <a:solidFill>
                  <a:srgbClr val="5A6282"/>
                </a:solidFill>
                <a:latin typeface="Malgun Gothic" pitchFamily="34" charset="0"/>
                <a:ea typeface="Malgun Gothic" pitchFamily="34" charset="-122"/>
                <a:cs typeface="Malgun Gothic" pitchFamily="34" charset="-120"/>
              </a:rPr>
              <a:t>AI가 결과 대부분을 만들면 아이의 참여가 한 번에 끝나기 쉽다</a:t>
            </a:r>
            <a:endParaRPr lang="en-US" sz="1350" dirty="0"/>
          </a:p>
        </p:txBody>
      </p:sp>
      <p:sp>
        <p:nvSpPr>
          <p:cNvPr id="25" name="Shape 23"/>
          <p:cNvSpPr/>
          <p:nvPr/>
        </p:nvSpPr>
        <p:spPr>
          <a:xfrm>
            <a:off x="8302752" y="3520440"/>
            <a:ext cx="310896" cy="329184"/>
          </a:xfrm>
          <a:prstGeom prst="rightArrow">
            <a:avLst/>
          </a:prstGeom>
          <a:solidFill>
            <a:srgbClr val="7386F5"/>
          </a:solidFill>
          <a:ln/>
        </p:spPr>
      </p:sp>
      <p:sp>
        <p:nvSpPr>
          <p:cNvPr id="26" name="Shape 24"/>
          <p:cNvSpPr/>
          <p:nvPr/>
        </p:nvSpPr>
        <p:spPr>
          <a:xfrm>
            <a:off x="8686800" y="1691640"/>
            <a:ext cx="2864815" cy="4334256"/>
          </a:xfrm>
          <a:prstGeom prst="roundRect">
            <a:avLst>
              <a:gd name="adj" fmla="val 7022"/>
            </a:avLst>
          </a:prstGeom>
          <a:solidFill>
            <a:srgbClr val="4C5CC4"/>
          </a:solidFill>
          <a:ln/>
          <a:effectLst>
            <a:outerShdw sx="100000" sy="100000" kx="0" ky="0" algn="bl" rotWithShape="0" blurRad="152400" dist="50800" dir="5400000">
              <a:srgbClr val="5364CE">
                <a:alpha val="13000"/>
              </a:srgbClr>
            </a:outerShdw>
          </a:effectLst>
        </p:spPr>
      </p:sp>
      <p:sp>
        <p:nvSpPr>
          <p:cNvPr id="27" name="Text 25"/>
          <p:cNvSpPr txBox="1"/>
          <p:nvPr/>
        </p:nvSpPr>
        <p:spPr>
          <a:xfrm>
            <a:off x="9006840" y="1965960"/>
            <a:ext cx="2224735" cy="457200"/>
          </a:xfrm>
          <a:prstGeom prst="rect">
            <a:avLst/>
          </a:prstGeom>
          <a:noFill/>
          <a:ln/>
        </p:spPr>
        <p:txBody>
          <a:bodyPr wrap="square" lIns="0" tIns="0" rIns="0" bIns="0" rtlCol="0" anchor="t"/>
          <a:lstStyle/>
          <a:p>
            <a:pPr algn="l" indent="0" marL="0">
              <a:lnSpc>
                <a:spcPct val="115000"/>
              </a:lnSpc>
              <a:buNone/>
            </a:pPr>
            <a:r>
              <a:rPr lang="en-US" sz="2200" b="1" dirty="0">
                <a:solidFill>
                  <a:srgbClr val="FFEA99"/>
                </a:solidFill>
                <a:latin typeface="Malgun Gothic" pitchFamily="34" charset="0"/>
                <a:ea typeface="Malgun Gothic" pitchFamily="34" charset="-122"/>
                <a:cs typeface="Malgun Gothic" pitchFamily="34" charset="-120"/>
              </a:rPr>
              <a:t>DrawTale</a:t>
            </a:r>
            <a:endParaRPr lang="en-US" sz="2200" dirty="0"/>
          </a:p>
        </p:txBody>
      </p:sp>
      <p:sp>
        <p:nvSpPr>
          <p:cNvPr id="28" name="Text 26"/>
          <p:cNvSpPr txBox="1"/>
          <p:nvPr/>
        </p:nvSpPr>
        <p:spPr>
          <a:xfrm>
            <a:off x="9006840" y="2606040"/>
            <a:ext cx="2224735" cy="1828800"/>
          </a:xfrm>
          <a:prstGeom prst="rect">
            <a:avLst/>
          </a:prstGeom>
          <a:noFill/>
          <a:ln/>
        </p:spPr>
        <p:txBody>
          <a:bodyPr wrap="square" lIns="0" tIns="0" rIns="0" bIns="0" rtlCol="0" anchor="t"/>
          <a:lstStyle/>
          <a:p>
            <a:pPr algn="l" indent="0" marL="0">
              <a:lnSpc>
                <a:spcPct val="145000"/>
              </a:lnSpc>
              <a:buNone/>
            </a:pPr>
            <a:r>
              <a:rPr lang="en-US" sz="1700" b="1" dirty="0">
                <a:solidFill>
                  <a:srgbClr val="FDFEFF"/>
                </a:solidFill>
                <a:latin typeface="Malgun Gothic" pitchFamily="34" charset="0"/>
                <a:ea typeface="Malgun Gothic" pitchFamily="34" charset="-122"/>
                <a:cs typeface="Malgun Gothic" pitchFamily="34" charset="-120"/>
              </a:rPr>
              <a:t>AI가 아이 대신 창작하기보다,</a:t>
            </a:r>
            <a:endParaRPr lang="en-US" sz="1700" dirty="0"/>
          </a:p>
          <a:p>
            <a:pPr algn="l" indent="0" marL="0">
              <a:lnSpc>
                <a:spcPct val="145000"/>
              </a:lnSpc>
              <a:buNone/>
            </a:pPr>
            <a:r>
              <a:rPr lang="en-US" sz="1700" b="1" dirty="0">
                <a:solidFill>
                  <a:srgbClr val="FDFEFF"/>
                </a:solidFill>
                <a:latin typeface="Malgun Gothic" pitchFamily="34" charset="0"/>
                <a:ea typeface="Malgun Gothic" pitchFamily="34" charset="-122"/>
                <a:cs typeface="Malgun Gothic" pitchFamily="34" charset="-120"/>
              </a:rPr>
              <a:t>아이의 그림과 선택이</a:t>
            </a:r>
            <a:endParaRPr lang="en-US" sz="1700" dirty="0"/>
          </a:p>
          <a:p>
            <a:pPr algn="l" indent="0" marL="0">
              <a:lnSpc>
                <a:spcPct val="145000"/>
              </a:lnSpc>
              <a:buNone/>
            </a:pPr>
            <a:r>
              <a:rPr lang="en-US" sz="1700" b="1" dirty="0">
                <a:solidFill>
                  <a:srgbClr val="FDFEFF"/>
                </a:solidFill>
                <a:latin typeface="Malgun Gothic" pitchFamily="34" charset="0"/>
                <a:ea typeface="Malgun Gothic" pitchFamily="34" charset="-122"/>
                <a:cs typeface="Malgun Gothic" pitchFamily="34" charset="-120"/>
              </a:rPr>
              <a:t>이야기의 중심이 되는 서비스</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10</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서비스 개요</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DrawTale을 소개합니다</a:t>
            </a:r>
            <a:endParaRPr lang="en-US" sz="3000" dirty="0"/>
          </a:p>
        </p:txBody>
      </p:sp>
      <p:sp>
        <p:nvSpPr>
          <p:cNvPr id="5" name="Shape 3"/>
          <p:cNvSpPr/>
          <p:nvPr/>
        </p:nvSpPr>
        <p:spPr>
          <a:xfrm>
            <a:off x="640080" y="1783080"/>
            <a:ext cx="10911535" cy="1234440"/>
          </a:xfrm>
          <a:prstGeom prst="roundRect">
            <a:avLst>
              <a:gd name="adj" fmla="val 16296"/>
            </a:avLst>
          </a:prstGeom>
          <a:solidFill>
            <a:srgbClr val="FDFEFF"/>
          </a:solidFill>
          <a:ln/>
          <a:effectLst>
            <a:outerShdw sx="100000" sy="100000" kx="0" ky="0" algn="bl" rotWithShape="0" blurRad="152400" dist="50800" dir="5400000">
              <a:srgbClr val="5364CE">
                <a:alpha val="13000"/>
              </a:srgbClr>
            </a:outerShdw>
          </a:effectLst>
        </p:spPr>
      </p:sp>
      <p:sp>
        <p:nvSpPr>
          <p:cNvPr id="6" name="Text 4"/>
          <p:cNvSpPr txBox="1"/>
          <p:nvPr/>
        </p:nvSpPr>
        <p:spPr>
          <a:xfrm>
            <a:off x="1005840" y="1783080"/>
            <a:ext cx="10180015" cy="1234440"/>
          </a:xfrm>
          <a:prstGeom prst="rect">
            <a:avLst/>
          </a:prstGeom>
          <a:noFill/>
          <a:ln/>
        </p:spPr>
        <p:txBody>
          <a:bodyPr wrap="square" lIns="0" tIns="0" rIns="0" bIns="0" rtlCol="0" anchor="ctr"/>
          <a:lstStyle/>
          <a:p>
            <a:pPr algn="l" indent="0" marL="0">
              <a:lnSpc>
                <a:spcPct val="140000"/>
              </a:lnSpc>
              <a:buNone/>
            </a:pPr>
            <a:r>
              <a:rPr lang="en-US" sz="1700" b="1" dirty="0">
                <a:solidFill>
                  <a:srgbClr val="39405C"/>
                </a:solidFill>
                <a:latin typeface="Malgun Gothic" pitchFamily="34" charset="0"/>
                <a:ea typeface="Malgun Gothic" pitchFamily="34" charset="-122"/>
                <a:cs typeface="Malgun Gothic" pitchFamily="34" charset="-120"/>
              </a:rPr>
              <a:t>아이가 직접 그린 캐릭터를 AI가 인식하고 움직이는 캐릭터로 바꾸어,</a:t>
            </a:r>
            <a:endParaRPr lang="en-US" sz="1700" dirty="0"/>
          </a:p>
          <a:p>
            <a:pPr algn="l" indent="0" marL="0">
              <a:lnSpc>
                <a:spcPct val="140000"/>
              </a:lnSpc>
              <a:buNone/>
            </a:pPr>
            <a:r>
              <a:rPr lang="en-US" sz="1700" b="1" dirty="0">
                <a:solidFill>
                  <a:srgbClr val="39405C"/>
                </a:solidFill>
                <a:latin typeface="Malgun Gothic" pitchFamily="34" charset="0"/>
                <a:ea typeface="Malgun Gothic" pitchFamily="34" charset="-122"/>
                <a:cs typeface="Malgun Gothic" pitchFamily="34" charset="-120"/>
              </a:rPr>
              <a:t>아이의 선택에 따라 자신만의 이야기를 완성하는 AI 기반 인터랙티브 스토리 서비스</a:t>
            </a:r>
            <a:endParaRPr lang="en-US" sz="1700" dirty="0"/>
          </a:p>
        </p:txBody>
      </p:sp>
      <p:sp>
        <p:nvSpPr>
          <p:cNvPr id="7" name="Shape 5"/>
          <p:cNvSpPr/>
          <p:nvPr/>
        </p:nvSpPr>
        <p:spPr>
          <a:xfrm>
            <a:off x="640080" y="3291840"/>
            <a:ext cx="5272888" cy="2514600"/>
          </a:xfrm>
          <a:prstGeom prst="roundRect">
            <a:avLst>
              <a:gd name="adj" fmla="val 8000"/>
            </a:avLst>
          </a:prstGeom>
          <a:solidFill>
            <a:srgbClr val="FDFEFF"/>
          </a:solidFill>
          <a:ln/>
          <a:effectLst>
            <a:outerShdw sx="100000" sy="100000" kx="0" ky="0" algn="bl" rotWithShape="0" blurRad="152400" dist="50800" dir="5400000">
              <a:srgbClr val="5364CE">
                <a:alpha val="13000"/>
              </a:srgbClr>
            </a:outerShdw>
          </a:effectLst>
        </p:spPr>
      </p:sp>
      <p:sp>
        <p:nvSpPr>
          <p:cNvPr id="8" name="Shape 6"/>
          <p:cNvSpPr/>
          <p:nvPr/>
        </p:nvSpPr>
        <p:spPr>
          <a:xfrm>
            <a:off x="960120" y="3611880"/>
            <a:ext cx="1463040" cy="365760"/>
          </a:xfrm>
          <a:prstGeom prst="roundRect">
            <a:avLst>
              <a:gd name="adj" fmla="val 50000"/>
            </a:avLst>
          </a:prstGeom>
          <a:solidFill>
            <a:srgbClr val="EDF0FE"/>
          </a:solidFill>
          <a:ln/>
        </p:spPr>
      </p:sp>
      <p:sp>
        <p:nvSpPr>
          <p:cNvPr id="9" name="Text 7"/>
          <p:cNvSpPr txBox="1"/>
          <p:nvPr/>
        </p:nvSpPr>
        <p:spPr>
          <a:xfrm>
            <a:off x="960120" y="3611880"/>
            <a:ext cx="146304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서비스 대상</a:t>
            </a:r>
            <a:endParaRPr lang="en-US" sz="1200" dirty="0"/>
          </a:p>
        </p:txBody>
      </p:sp>
      <p:sp>
        <p:nvSpPr>
          <p:cNvPr id="10" name="Text 8"/>
          <p:cNvSpPr txBox="1"/>
          <p:nvPr/>
        </p:nvSpPr>
        <p:spPr>
          <a:xfrm>
            <a:off x="960120" y="4160520"/>
            <a:ext cx="4632808" cy="1463040"/>
          </a:xfrm>
          <a:prstGeom prst="rect">
            <a:avLst/>
          </a:prstGeom>
          <a:noFill/>
          <a:ln/>
        </p:spPr>
        <p:txBody>
          <a:bodyPr wrap="square" lIns="0" tIns="0" rIns="0" bIns="0" rtlCol="0" anchor="t"/>
          <a:lstStyle/>
          <a:p>
            <a:pPr algn="l" indent="0" marL="0">
              <a:lnSpc>
                <a:spcPct val="145000"/>
              </a:lnSpc>
              <a:buNone/>
            </a:pPr>
            <a:r>
              <a:rPr lang="en-US" sz="1500" dirty="0">
                <a:solidFill>
                  <a:srgbClr val="39405C"/>
                </a:solidFill>
                <a:latin typeface="Malgun Gothic" pitchFamily="34" charset="0"/>
                <a:ea typeface="Malgun Gothic" pitchFamily="34" charset="-122"/>
                <a:cs typeface="Malgun Gothic" pitchFamily="34" charset="-120"/>
              </a:rPr>
              <a:t>학습 속도가 느리거나 글 중심의 표현이 어려운 아동을 포함해, 그림과 이야기로 자신의 생각을 표현하고 싶은 모든 아동</a:t>
            </a:r>
            <a:endParaRPr lang="en-US" sz="1500" dirty="0"/>
          </a:p>
        </p:txBody>
      </p:sp>
      <p:sp>
        <p:nvSpPr>
          <p:cNvPr id="11" name="Shape 9"/>
          <p:cNvSpPr/>
          <p:nvPr/>
        </p:nvSpPr>
        <p:spPr>
          <a:xfrm>
            <a:off x="6278728" y="3291840"/>
            <a:ext cx="5272888" cy="2514600"/>
          </a:xfrm>
          <a:prstGeom prst="roundRect">
            <a:avLst>
              <a:gd name="adj" fmla="val 8000"/>
            </a:avLst>
          </a:prstGeom>
          <a:solidFill>
            <a:srgbClr val="FDFEFF"/>
          </a:solidFill>
          <a:ln/>
          <a:effectLst>
            <a:outerShdw sx="100000" sy="100000" kx="0" ky="0" algn="bl" rotWithShape="0" blurRad="152400" dist="50800" dir="5400000">
              <a:srgbClr val="5364CE">
                <a:alpha val="13000"/>
              </a:srgbClr>
            </a:outerShdw>
          </a:effectLst>
        </p:spPr>
      </p:sp>
      <p:sp>
        <p:nvSpPr>
          <p:cNvPr id="12" name="Shape 10"/>
          <p:cNvSpPr/>
          <p:nvPr/>
        </p:nvSpPr>
        <p:spPr>
          <a:xfrm>
            <a:off x="6598768" y="3611880"/>
            <a:ext cx="1463040" cy="365760"/>
          </a:xfrm>
          <a:prstGeom prst="roundRect">
            <a:avLst>
              <a:gd name="adj" fmla="val 50000"/>
            </a:avLst>
          </a:prstGeom>
          <a:solidFill>
            <a:srgbClr val="EDF0FE"/>
          </a:solidFill>
          <a:ln/>
        </p:spPr>
      </p:sp>
      <p:sp>
        <p:nvSpPr>
          <p:cNvPr id="13" name="Text 11"/>
          <p:cNvSpPr txBox="1"/>
          <p:nvPr/>
        </p:nvSpPr>
        <p:spPr>
          <a:xfrm>
            <a:off x="6598768" y="3611880"/>
            <a:ext cx="146304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서비스 목적</a:t>
            </a:r>
            <a:endParaRPr lang="en-US" sz="1200" dirty="0"/>
          </a:p>
        </p:txBody>
      </p:sp>
      <p:sp>
        <p:nvSpPr>
          <p:cNvPr id="14" name="Text 12"/>
          <p:cNvSpPr txBox="1"/>
          <p:nvPr/>
        </p:nvSpPr>
        <p:spPr>
          <a:xfrm>
            <a:off x="6598768" y="4160520"/>
            <a:ext cx="4632808" cy="1554480"/>
          </a:xfrm>
          <a:prstGeom prst="rect">
            <a:avLst/>
          </a:prstGeom>
          <a:noFill/>
          <a:ln/>
        </p:spPr>
        <p:txBody>
          <a:bodyPr wrap="square" lIns="0" tIns="0" rIns="0" bIns="0" rtlCol="0" anchor="t"/>
          <a:lstStyle/>
          <a:p>
            <a:pPr algn="l" indent="0" marL="0">
              <a:lnSpc>
                <a:spcPct val="140000"/>
              </a:lnSpc>
              <a:buNone/>
            </a:pPr>
            <a:r>
              <a:rPr lang="en-US" sz="1500" b="1" dirty="0">
                <a:solidFill>
                  <a:srgbClr val="4C5CC4"/>
                </a:solidFill>
                <a:latin typeface="Malgun Gothic" pitchFamily="34" charset="0"/>
                <a:ea typeface="Malgun Gothic" pitchFamily="34" charset="-122"/>
                <a:cs typeface="Malgun Gothic" pitchFamily="34" charset="-120"/>
              </a:rPr>
              <a:t>아이에게  </a:t>
            </a:r>
            <a:pPr algn="l" indent="0" marL="0">
              <a:lnSpc>
                <a:spcPct val="140000"/>
              </a:lnSpc>
              <a:buNone/>
            </a:pPr>
            <a:r>
              <a:rPr lang="en-US" sz="1500" dirty="0">
                <a:solidFill>
                  <a:srgbClr val="39405C"/>
                </a:solidFill>
                <a:latin typeface="Malgun Gothic" pitchFamily="34" charset="0"/>
                <a:ea typeface="Malgun Gothic" pitchFamily="34" charset="-122"/>
                <a:cs typeface="Malgun Gothic" pitchFamily="34" charset="-120"/>
              </a:rPr>
              <a:t>내 그림이 인정받고 살아 움직이는 창작 · 표현 경험</a:t>
            </a:r>
            <a:endParaRPr lang="en-US" sz="1500" dirty="0"/>
          </a:p>
          <a:p>
            <a:pPr algn="l" indent="0" marL="0">
              <a:lnSpc>
                <a:spcPct val="140000"/>
              </a:lnSpc>
              <a:buNone/>
            </a:pPr>
            <a:r>
              <a:rPr lang="en-US" sz="600" dirty="0">
                <a:solidFill>
                  <a:srgbClr val="39405C"/>
                </a:solidFill>
                <a:latin typeface="Malgun Gothic" pitchFamily="34" charset="0"/>
                <a:ea typeface="Malgun Gothic" pitchFamily="34" charset="-122"/>
                <a:cs typeface="Malgun Gothic" pitchFamily="34" charset="-120"/>
              </a:rPr>
              <a:t> </a:t>
            </a:r>
            <a:endParaRPr lang="en-US" sz="1500" dirty="0"/>
          </a:p>
          <a:p>
            <a:pPr algn="l" indent="0" marL="0">
              <a:lnSpc>
                <a:spcPct val="140000"/>
              </a:lnSpc>
              <a:buNone/>
            </a:pPr>
            <a:r>
              <a:rPr lang="en-US" sz="1500" b="1" dirty="0">
                <a:solidFill>
                  <a:srgbClr val="4C5CC4"/>
                </a:solidFill>
                <a:latin typeface="Malgun Gothic" pitchFamily="34" charset="0"/>
                <a:ea typeface="Malgun Gothic" pitchFamily="34" charset="-122"/>
                <a:cs typeface="Malgun Gothic" pitchFamily="34" charset="-120"/>
              </a:rPr>
              <a:t>부모에게  </a:t>
            </a:r>
            <a:pPr algn="l" indent="0" marL="0">
              <a:lnSpc>
                <a:spcPct val="140000"/>
              </a:lnSpc>
              <a:buNone/>
            </a:pPr>
            <a:r>
              <a:rPr lang="en-US" sz="1500" dirty="0">
                <a:solidFill>
                  <a:srgbClr val="39405C"/>
                </a:solidFill>
                <a:latin typeface="Malgun Gothic" pitchFamily="34" charset="0"/>
                <a:ea typeface="Malgun Gothic" pitchFamily="34" charset="-122"/>
                <a:cs typeface="Malgun Gothic" pitchFamily="34" charset="-120"/>
              </a:rPr>
              <a:t>정답 여부보다 아이가 무엇을 그리고 어떤 이야기를 고르는지 함께 바라보는 경험</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11</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서비스 흐름</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움직이는 그림에서, 내가 만들어 가는 이야기로</a:t>
            </a:r>
            <a:endParaRPr lang="en-US" sz="3000" dirty="0"/>
          </a:p>
        </p:txBody>
      </p:sp>
      <p:sp>
        <p:nvSpPr>
          <p:cNvPr id="5" name="Text 3"/>
          <p:cNvSpPr txBox="1"/>
          <p:nvPr/>
        </p:nvSpPr>
        <p:spPr>
          <a:xfrm>
            <a:off x="640080" y="1783080"/>
            <a:ext cx="1645920" cy="868680"/>
          </a:xfrm>
          <a:prstGeom prst="rect">
            <a:avLst/>
          </a:prstGeom>
          <a:noFill/>
          <a:ln/>
        </p:spPr>
        <p:txBody>
          <a:bodyPr wrap="square" lIns="0" tIns="0" rIns="0" bIns="0" rtlCol="0" anchor="t"/>
          <a:lstStyle/>
          <a:p>
            <a:pPr algn="l" indent="0" marL="0">
              <a:lnSpc>
                <a:spcPct val="120000"/>
              </a:lnSpc>
              <a:buNone/>
            </a:pPr>
            <a:r>
              <a:rPr lang="en-US" sz="1200" b="1" dirty="0">
                <a:solidFill>
                  <a:srgbClr val="8A91AA"/>
                </a:solidFill>
                <a:latin typeface="Malgun Gothic" pitchFamily="34" charset="0"/>
                <a:ea typeface="Malgun Gothic" pitchFamily="34" charset="-122"/>
                <a:cs typeface="Malgun Gothic" pitchFamily="34" charset="-120"/>
              </a:rPr>
              <a:t>기존</a:t>
            </a:r>
            <a:endParaRPr lang="en-US" sz="1200" dirty="0"/>
          </a:p>
          <a:p>
            <a:pPr algn="l" indent="0" marL="0">
              <a:lnSpc>
                <a:spcPct val="120000"/>
              </a:lnSpc>
              <a:buNone/>
            </a:pPr>
            <a:r>
              <a:rPr lang="en-US" sz="1200" b="1" dirty="0">
                <a:solidFill>
                  <a:srgbClr val="8A91AA"/>
                </a:solidFill>
                <a:latin typeface="Malgun Gothic" pitchFamily="34" charset="0"/>
                <a:ea typeface="Malgun Gothic" pitchFamily="34" charset="-122"/>
                <a:cs typeface="Malgun Gothic" pitchFamily="34" charset="-120"/>
              </a:rPr>
              <a:t>Animated Drawing</a:t>
            </a:r>
            <a:endParaRPr lang="en-US" sz="1200" dirty="0"/>
          </a:p>
          <a:p>
            <a:pPr algn="l" indent="0" marL="0">
              <a:lnSpc>
                <a:spcPct val="120000"/>
              </a:lnSpc>
              <a:buNone/>
            </a:pPr>
            <a:r>
              <a:rPr lang="en-US" sz="1200" b="1" dirty="0">
                <a:solidFill>
                  <a:srgbClr val="8A91AA"/>
                </a:solidFill>
                <a:latin typeface="Malgun Gothic" pitchFamily="34" charset="0"/>
                <a:ea typeface="Malgun Gothic" pitchFamily="34" charset="-122"/>
                <a:cs typeface="Malgun Gothic" pitchFamily="34" charset="-120"/>
              </a:rPr>
              <a:t>계열 경험</a:t>
            </a:r>
            <a:endParaRPr lang="en-US" sz="1200" dirty="0"/>
          </a:p>
        </p:txBody>
      </p:sp>
      <p:sp>
        <p:nvSpPr>
          <p:cNvPr id="6" name="Shape 4"/>
          <p:cNvSpPr/>
          <p:nvPr/>
        </p:nvSpPr>
        <p:spPr>
          <a:xfrm>
            <a:off x="2377440" y="1874520"/>
            <a:ext cx="1920240" cy="713232"/>
          </a:xfrm>
          <a:prstGeom prst="roundRect">
            <a:avLst>
              <a:gd name="adj" fmla="val 28205"/>
            </a:avLst>
          </a:prstGeom>
          <a:solidFill>
            <a:srgbClr val="EEF0F4"/>
          </a:solidFill>
          <a:ln/>
        </p:spPr>
      </p:sp>
      <p:sp>
        <p:nvSpPr>
          <p:cNvPr id="7" name="Text 5"/>
          <p:cNvSpPr txBox="1"/>
          <p:nvPr/>
        </p:nvSpPr>
        <p:spPr>
          <a:xfrm>
            <a:off x="2377440" y="1874520"/>
            <a:ext cx="1920240" cy="713232"/>
          </a:xfrm>
          <a:prstGeom prst="rect">
            <a:avLst/>
          </a:prstGeom>
          <a:noFill/>
          <a:ln/>
        </p:spPr>
        <p:txBody>
          <a:bodyPr wrap="square" lIns="0" tIns="0" rIns="0" bIns="0" rtlCol="0" anchor="ctr"/>
          <a:lstStyle/>
          <a:p>
            <a:pPr algn="ctr" indent="0" marL="0">
              <a:lnSpc>
                <a:spcPct val="115000"/>
              </a:lnSpc>
              <a:buNone/>
            </a:pPr>
            <a:r>
              <a:rPr lang="en-US" sz="1250" dirty="0">
                <a:solidFill>
                  <a:srgbClr val="5A6282"/>
                </a:solidFill>
                <a:latin typeface="Malgun Gothic" pitchFamily="34" charset="0"/>
                <a:ea typeface="Malgun Gothic" pitchFamily="34" charset="-122"/>
                <a:cs typeface="Malgun Gothic" pitchFamily="34" charset="-120"/>
              </a:rPr>
              <a:t>아이 그림 업로드</a:t>
            </a:r>
            <a:endParaRPr lang="en-US" sz="1250" dirty="0"/>
          </a:p>
        </p:txBody>
      </p:sp>
      <p:sp>
        <p:nvSpPr>
          <p:cNvPr id="8" name="Shape 6"/>
          <p:cNvSpPr/>
          <p:nvPr/>
        </p:nvSpPr>
        <p:spPr>
          <a:xfrm>
            <a:off x="4325112" y="2139696"/>
            <a:ext cx="219456" cy="201168"/>
          </a:xfrm>
          <a:prstGeom prst="rightArrow">
            <a:avLst/>
          </a:prstGeom>
          <a:solidFill>
            <a:srgbClr val="C9D2F7"/>
          </a:solidFill>
          <a:ln/>
        </p:spPr>
      </p:sp>
      <p:sp>
        <p:nvSpPr>
          <p:cNvPr id="9" name="Shape 7"/>
          <p:cNvSpPr/>
          <p:nvPr/>
        </p:nvSpPr>
        <p:spPr>
          <a:xfrm>
            <a:off x="4572000" y="1874520"/>
            <a:ext cx="1920240" cy="713232"/>
          </a:xfrm>
          <a:prstGeom prst="roundRect">
            <a:avLst>
              <a:gd name="adj" fmla="val 28205"/>
            </a:avLst>
          </a:prstGeom>
          <a:solidFill>
            <a:srgbClr val="EEF0F4"/>
          </a:solidFill>
          <a:ln/>
        </p:spPr>
      </p:sp>
      <p:sp>
        <p:nvSpPr>
          <p:cNvPr id="10" name="Text 8"/>
          <p:cNvSpPr txBox="1"/>
          <p:nvPr/>
        </p:nvSpPr>
        <p:spPr>
          <a:xfrm>
            <a:off x="4572000" y="1874520"/>
            <a:ext cx="1920240" cy="713232"/>
          </a:xfrm>
          <a:prstGeom prst="rect">
            <a:avLst/>
          </a:prstGeom>
          <a:noFill/>
          <a:ln/>
        </p:spPr>
        <p:txBody>
          <a:bodyPr wrap="square" lIns="0" tIns="0" rIns="0" bIns="0" rtlCol="0" anchor="ctr"/>
          <a:lstStyle/>
          <a:p>
            <a:pPr algn="ctr" indent="0" marL="0">
              <a:lnSpc>
                <a:spcPct val="115000"/>
              </a:lnSpc>
              <a:buNone/>
            </a:pPr>
            <a:r>
              <a:rPr lang="en-US" sz="1250" dirty="0">
                <a:solidFill>
                  <a:srgbClr val="5A6282"/>
                </a:solidFill>
                <a:latin typeface="Malgun Gothic" pitchFamily="34" charset="0"/>
                <a:ea typeface="Malgun Gothic" pitchFamily="34" charset="-122"/>
                <a:cs typeface="Malgun Gothic" pitchFamily="34" charset="-120"/>
              </a:rPr>
              <a:t>AI 분석</a:t>
            </a:r>
            <a:endParaRPr lang="en-US" sz="1250" dirty="0"/>
          </a:p>
        </p:txBody>
      </p:sp>
      <p:sp>
        <p:nvSpPr>
          <p:cNvPr id="11" name="Shape 9"/>
          <p:cNvSpPr/>
          <p:nvPr/>
        </p:nvSpPr>
        <p:spPr>
          <a:xfrm>
            <a:off x="6519672" y="2139696"/>
            <a:ext cx="219456" cy="201168"/>
          </a:xfrm>
          <a:prstGeom prst="rightArrow">
            <a:avLst/>
          </a:prstGeom>
          <a:solidFill>
            <a:srgbClr val="C9D2F7"/>
          </a:solidFill>
          <a:ln/>
        </p:spPr>
      </p:sp>
      <p:sp>
        <p:nvSpPr>
          <p:cNvPr id="12" name="Shape 10"/>
          <p:cNvSpPr/>
          <p:nvPr/>
        </p:nvSpPr>
        <p:spPr>
          <a:xfrm>
            <a:off x="6766560" y="1874520"/>
            <a:ext cx="1920240" cy="713232"/>
          </a:xfrm>
          <a:prstGeom prst="roundRect">
            <a:avLst>
              <a:gd name="adj" fmla="val 28205"/>
            </a:avLst>
          </a:prstGeom>
          <a:solidFill>
            <a:srgbClr val="EEF0F4"/>
          </a:solidFill>
          <a:ln/>
        </p:spPr>
      </p:sp>
      <p:sp>
        <p:nvSpPr>
          <p:cNvPr id="13" name="Text 11"/>
          <p:cNvSpPr txBox="1"/>
          <p:nvPr/>
        </p:nvSpPr>
        <p:spPr>
          <a:xfrm>
            <a:off x="6766560" y="1874520"/>
            <a:ext cx="1920240" cy="713232"/>
          </a:xfrm>
          <a:prstGeom prst="rect">
            <a:avLst/>
          </a:prstGeom>
          <a:noFill/>
          <a:ln/>
        </p:spPr>
        <p:txBody>
          <a:bodyPr wrap="square" lIns="0" tIns="0" rIns="0" bIns="0" rtlCol="0" anchor="ctr"/>
          <a:lstStyle/>
          <a:p>
            <a:pPr algn="ctr" indent="0" marL="0">
              <a:lnSpc>
                <a:spcPct val="115000"/>
              </a:lnSpc>
              <a:buNone/>
            </a:pPr>
            <a:r>
              <a:rPr lang="en-US" sz="1250" dirty="0">
                <a:solidFill>
                  <a:srgbClr val="5A6282"/>
                </a:solidFill>
                <a:latin typeface="Malgun Gothic" pitchFamily="34" charset="0"/>
                <a:ea typeface="Malgun Gothic" pitchFamily="34" charset="-122"/>
                <a:cs typeface="Malgun Gothic" pitchFamily="34" charset="-120"/>
              </a:rPr>
              <a:t>캐릭터 애니메이션</a:t>
            </a:r>
            <a:endParaRPr lang="en-US" sz="1250" dirty="0"/>
          </a:p>
        </p:txBody>
      </p:sp>
      <p:sp>
        <p:nvSpPr>
          <p:cNvPr id="14" name="Shape 12"/>
          <p:cNvSpPr/>
          <p:nvPr/>
        </p:nvSpPr>
        <p:spPr>
          <a:xfrm>
            <a:off x="8714232" y="2139696"/>
            <a:ext cx="219456" cy="201168"/>
          </a:xfrm>
          <a:prstGeom prst="rightArrow">
            <a:avLst/>
          </a:prstGeom>
          <a:solidFill>
            <a:srgbClr val="C9D2F7"/>
          </a:solidFill>
          <a:ln/>
        </p:spPr>
      </p:sp>
      <p:sp>
        <p:nvSpPr>
          <p:cNvPr id="15" name="Shape 13"/>
          <p:cNvSpPr/>
          <p:nvPr/>
        </p:nvSpPr>
        <p:spPr>
          <a:xfrm>
            <a:off x="8961120" y="1874520"/>
            <a:ext cx="1920240" cy="713232"/>
          </a:xfrm>
          <a:prstGeom prst="roundRect">
            <a:avLst>
              <a:gd name="adj" fmla="val 28205"/>
            </a:avLst>
          </a:prstGeom>
          <a:solidFill>
            <a:srgbClr val="EEF0F4"/>
          </a:solidFill>
          <a:ln/>
        </p:spPr>
      </p:sp>
      <p:sp>
        <p:nvSpPr>
          <p:cNvPr id="16" name="Text 14"/>
          <p:cNvSpPr txBox="1"/>
          <p:nvPr/>
        </p:nvSpPr>
        <p:spPr>
          <a:xfrm>
            <a:off x="8961120" y="1874520"/>
            <a:ext cx="1920240" cy="713232"/>
          </a:xfrm>
          <a:prstGeom prst="rect">
            <a:avLst/>
          </a:prstGeom>
          <a:noFill/>
          <a:ln/>
        </p:spPr>
        <p:txBody>
          <a:bodyPr wrap="square" lIns="0" tIns="0" rIns="0" bIns="0" rtlCol="0" anchor="ctr"/>
          <a:lstStyle/>
          <a:p>
            <a:pPr algn="ctr" indent="0" marL="0">
              <a:lnSpc>
                <a:spcPct val="115000"/>
              </a:lnSpc>
              <a:buNone/>
            </a:pPr>
            <a:r>
              <a:rPr lang="en-US" sz="1250" dirty="0">
                <a:solidFill>
                  <a:srgbClr val="5A6282"/>
                </a:solidFill>
                <a:latin typeface="Malgun Gothic" pitchFamily="34" charset="0"/>
                <a:ea typeface="Malgun Gothic" pitchFamily="34" charset="-122"/>
                <a:cs typeface="Malgun Gothic" pitchFamily="34" charset="-120"/>
              </a:rPr>
              <a:t>결과 감상</a:t>
            </a:r>
            <a:endParaRPr lang="en-US" sz="1250" dirty="0"/>
          </a:p>
        </p:txBody>
      </p:sp>
      <p:sp>
        <p:nvSpPr>
          <p:cNvPr id="17" name="Text 15"/>
          <p:cNvSpPr txBox="1"/>
          <p:nvPr/>
        </p:nvSpPr>
        <p:spPr>
          <a:xfrm>
            <a:off x="640080" y="3063240"/>
            <a:ext cx="1645920" cy="365760"/>
          </a:xfrm>
          <a:prstGeom prst="rect">
            <a:avLst/>
          </a:prstGeom>
          <a:noFill/>
          <a:ln/>
        </p:spPr>
        <p:txBody>
          <a:bodyPr wrap="square" lIns="0" tIns="0" rIns="0" bIns="0" rtlCol="0" anchor="t"/>
          <a:lstStyle/>
          <a:p>
            <a:pPr algn="l" indent="0" marL="0">
              <a:lnSpc>
                <a:spcPct val="115000"/>
              </a:lnSpc>
              <a:buNone/>
            </a:pPr>
            <a:r>
              <a:rPr lang="en-US" sz="1600" b="1" dirty="0">
                <a:solidFill>
                  <a:srgbClr val="4C5CC4"/>
                </a:solidFill>
                <a:latin typeface="Malgun Gothic" pitchFamily="34" charset="0"/>
                <a:ea typeface="Malgun Gothic" pitchFamily="34" charset="-122"/>
                <a:cs typeface="Malgun Gothic" pitchFamily="34" charset="-120"/>
              </a:rPr>
              <a:t>DrawTale</a:t>
            </a:r>
            <a:endParaRPr lang="en-US" sz="1600" dirty="0"/>
          </a:p>
        </p:txBody>
      </p:sp>
      <p:sp>
        <p:nvSpPr>
          <p:cNvPr id="18" name="Shape 16"/>
          <p:cNvSpPr/>
          <p:nvPr/>
        </p:nvSpPr>
        <p:spPr>
          <a:xfrm>
            <a:off x="2377440" y="3017520"/>
            <a:ext cx="1920240" cy="713232"/>
          </a:xfrm>
          <a:prstGeom prst="roundRect">
            <a:avLst>
              <a:gd name="adj" fmla="val 28205"/>
            </a:avLst>
          </a:prstGeom>
          <a:solidFill>
            <a:srgbClr val="EDF0FE"/>
          </a:solidFill>
          <a:ln/>
        </p:spPr>
      </p:sp>
      <p:sp>
        <p:nvSpPr>
          <p:cNvPr id="19" name="Text 17"/>
          <p:cNvSpPr txBox="1"/>
          <p:nvPr/>
        </p:nvSpPr>
        <p:spPr>
          <a:xfrm>
            <a:off x="2377440" y="301752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그림 그리기</a:t>
            </a:r>
            <a:endParaRPr lang="en-US" sz="1250" dirty="0"/>
          </a:p>
        </p:txBody>
      </p:sp>
      <p:sp>
        <p:nvSpPr>
          <p:cNvPr id="20" name="Shape 18"/>
          <p:cNvSpPr/>
          <p:nvPr/>
        </p:nvSpPr>
        <p:spPr>
          <a:xfrm>
            <a:off x="4325112" y="3282696"/>
            <a:ext cx="219456" cy="201168"/>
          </a:xfrm>
          <a:prstGeom prst="rightArrow">
            <a:avLst/>
          </a:prstGeom>
          <a:solidFill>
            <a:srgbClr val="C9D2F7"/>
          </a:solidFill>
          <a:ln/>
        </p:spPr>
      </p:sp>
      <p:sp>
        <p:nvSpPr>
          <p:cNvPr id="21" name="Shape 19"/>
          <p:cNvSpPr/>
          <p:nvPr/>
        </p:nvSpPr>
        <p:spPr>
          <a:xfrm>
            <a:off x="4572000" y="3017520"/>
            <a:ext cx="1920240" cy="713232"/>
          </a:xfrm>
          <a:prstGeom prst="roundRect">
            <a:avLst>
              <a:gd name="adj" fmla="val 28205"/>
            </a:avLst>
          </a:prstGeom>
          <a:solidFill>
            <a:srgbClr val="EDF0FE"/>
          </a:solidFill>
          <a:ln/>
        </p:spPr>
      </p:sp>
      <p:sp>
        <p:nvSpPr>
          <p:cNvPr id="22" name="Text 20"/>
          <p:cNvSpPr txBox="1"/>
          <p:nvPr/>
        </p:nvSpPr>
        <p:spPr>
          <a:xfrm>
            <a:off x="4572000" y="301752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AI 캐릭터 인식</a:t>
            </a:r>
            <a:endParaRPr lang="en-US" sz="1250" dirty="0"/>
          </a:p>
        </p:txBody>
      </p:sp>
      <p:sp>
        <p:nvSpPr>
          <p:cNvPr id="23" name="Shape 21"/>
          <p:cNvSpPr/>
          <p:nvPr/>
        </p:nvSpPr>
        <p:spPr>
          <a:xfrm>
            <a:off x="6519672" y="3282696"/>
            <a:ext cx="219456" cy="201168"/>
          </a:xfrm>
          <a:prstGeom prst="rightArrow">
            <a:avLst/>
          </a:prstGeom>
          <a:solidFill>
            <a:srgbClr val="C9D2F7"/>
          </a:solidFill>
          <a:ln/>
        </p:spPr>
      </p:sp>
      <p:sp>
        <p:nvSpPr>
          <p:cNvPr id="24" name="Shape 22"/>
          <p:cNvSpPr/>
          <p:nvPr/>
        </p:nvSpPr>
        <p:spPr>
          <a:xfrm>
            <a:off x="6766560" y="3017520"/>
            <a:ext cx="1920240" cy="713232"/>
          </a:xfrm>
          <a:prstGeom prst="roundRect">
            <a:avLst>
              <a:gd name="adj" fmla="val 28205"/>
            </a:avLst>
          </a:prstGeom>
          <a:solidFill>
            <a:srgbClr val="EDF0FE"/>
          </a:solidFill>
          <a:ln/>
        </p:spPr>
      </p:sp>
      <p:sp>
        <p:nvSpPr>
          <p:cNvPr id="25" name="Text 23"/>
          <p:cNvSpPr txBox="1"/>
          <p:nvPr/>
        </p:nvSpPr>
        <p:spPr>
          <a:xfrm>
            <a:off x="6766560" y="301752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관절 확인 · 보정</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(어른과 함께)</a:t>
            </a:r>
            <a:endParaRPr lang="en-US" sz="1250" dirty="0"/>
          </a:p>
        </p:txBody>
      </p:sp>
      <p:sp>
        <p:nvSpPr>
          <p:cNvPr id="26" name="Shape 24"/>
          <p:cNvSpPr/>
          <p:nvPr/>
        </p:nvSpPr>
        <p:spPr>
          <a:xfrm>
            <a:off x="8714232" y="3282696"/>
            <a:ext cx="219456" cy="201168"/>
          </a:xfrm>
          <a:prstGeom prst="rightArrow">
            <a:avLst/>
          </a:prstGeom>
          <a:solidFill>
            <a:srgbClr val="C9D2F7"/>
          </a:solidFill>
          <a:ln/>
        </p:spPr>
      </p:sp>
      <p:sp>
        <p:nvSpPr>
          <p:cNvPr id="27" name="Shape 25"/>
          <p:cNvSpPr/>
          <p:nvPr/>
        </p:nvSpPr>
        <p:spPr>
          <a:xfrm>
            <a:off x="8961120" y="3017520"/>
            <a:ext cx="1920240" cy="713232"/>
          </a:xfrm>
          <a:prstGeom prst="roundRect">
            <a:avLst>
              <a:gd name="adj" fmla="val 28205"/>
            </a:avLst>
          </a:prstGeom>
          <a:solidFill>
            <a:srgbClr val="EDF0FE"/>
          </a:solidFill>
          <a:ln/>
        </p:spPr>
      </p:sp>
      <p:sp>
        <p:nvSpPr>
          <p:cNvPr id="28" name="Text 26"/>
          <p:cNvSpPr txBox="1"/>
          <p:nvPr/>
        </p:nvSpPr>
        <p:spPr>
          <a:xfrm>
            <a:off x="8961120" y="301752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내 그림 그대로</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애니메이션</a:t>
            </a:r>
            <a:endParaRPr lang="en-US" sz="1250" dirty="0"/>
          </a:p>
        </p:txBody>
      </p:sp>
      <p:sp>
        <p:nvSpPr>
          <p:cNvPr id="29" name="Shape 27"/>
          <p:cNvSpPr/>
          <p:nvPr/>
        </p:nvSpPr>
        <p:spPr>
          <a:xfrm>
            <a:off x="2377440" y="3977640"/>
            <a:ext cx="1920240" cy="713232"/>
          </a:xfrm>
          <a:prstGeom prst="roundRect">
            <a:avLst>
              <a:gd name="adj" fmla="val 28205"/>
            </a:avLst>
          </a:prstGeom>
          <a:solidFill>
            <a:srgbClr val="EDF0FE"/>
          </a:solidFill>
          <a:ln/>
        </p:spPr>
      </p:sp>
      <p:sp>
        <p:nvSpPr>
          <p:cNvPr id="30" name="Text 28"/>
          <p:cNvSpPr txBox="1"/>
          <p:nvPr/>
        </p:nvSpPr>
        <p:spPr>
          <a:xfrm>
            <a:off x="2377440" y="397764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이야기 상황</a:t>
            </a:r>
            <a:endParaRPr lang="en-US" sz="1250" dirty="0"/>
          </a:p>
        </p:txBody>
      </p:sp>
      <p:sp>
        <p:nvSpPr>
          <p:cNvPr id="31" name="Shape 29"/>
          <p:cNvSpPr/>
          <p:nvPr/>
        </p:nvSpPr>
        <p:spPr>
          <a:xfrm>
            <a:off x="4325112" y="4242816"/>
            <a:ext cx="219456" cy="201168"/>
          </a:xfrm>
          <a:prstGeom prst="rightArrow">
            <a:avLst/>
          </a:prstGeom>
          <a:solidFill>
            <a:srgbClr val="C9D2F7"/>
          </a:solidFill>
          <a:ln/>
        </p:spPr>
      </p:sp>
      <p:sp>
        <p:nvSpPr>
          <p:cNvPr id="32" name="Shape 30"/>
          <p:cNvSpPr/>
          <p:nvPr/>
        </p:nvSpPr>
        <p:spPr>
          <a:xfrm>
            <a:off x="4572000" y="3977640"/>
            <a:ext cx="1920240" cy="713232"/>
          </a:xfrm>
          <a:prstGeom prst="roundRect">
            <a:avLst>
              <a:gd name="adj" fmla="val 28205"/>
            </a:avLst>
          </a:prstGeom>
          <a:solidFill>
            <a:srgbClr val="EDF0FE"/>
          </a:solidFill>
          <a:ln/>
        </p:spPr>
      </p:sp>
      <p:sp>
        <p:nvSpPr>
          <p:cNvPr id="33" name="Text 31"/>
          <p:cNvSpPr txBox="1"/>
          <p:nvPr/>
        </p:nvSpPr>
        <p:spPr>
          <a:xfrm>
            <a:off x="4572000" y="397764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아이가 선택</a:t>
            </a:r>
            <a:endParaRPr lang="en-US" sz="1250" dirty="0"/>
          </a:p>
        </p:txBody>
      </p:sp>
      <p:sp>
        <p:nvSpPr>
          <p:cNvPr id="34" name="Shape 32"/>
          <p:cNvSpPr/>
          <p:nvPr/>
        </p:nvSpPr>
        <p:spPr>
          <a:xfrm>
            <a:off x="6519672" y="4242816"/>
            <a:ext cx="219456" cy="201168"/>
          </a:xfrm>
          <a:prstGeom prst="rightArrow">
            <a:avLst/>
          </a:prstGeom>
          <a:solidFill>
            <a:srgbClr val="C9D2F7"/>
          </a:solidFill>
          <a:ln/>
        </p:spPr>
      </p:sp>
      <p:sp>
        <p:nvSpPr>
          <p:cNvPr id="35" name="Shape 33"/>
          <p:cNvSpPr/>
          <p:nvPr/>
        </p:nvSpPr>
        <p:spPr>
          <a:xfrm>
            <a:off x="6766560" y="3977640"/>
            <a:ext cx="1920240" cy="713232"/>
          </a:xfrm>
          <a:prstGeom prst="roundRect">
            <a:avLst>
              <a:gd name="adj" fmla="val 28205"/>
            </a:avLst>
          </a:prstGeom>
          <a:solidFill>
            <a:srgbClr val="EDF0FE"/>
          </a:solidFill>
          <a:ln/>
        </p:spPr>
      </p:sp>
      <p:sp>
        <p:nvSpPr>
          <p:cNvPr id="36" name="Text 34"/>
          <p:cNvSpPr txBox="1"/>
          <p:nvPr/>
        </p:nvSpPr>
        <p:spPr>
          <a:xfrm>
            <a:off x="6766560" y="397764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선택에 따라</a:t>
            </a:r>
            <a:endParaRPr lang="en-US" sz="1250" dirty="0"/>
          </a:p>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이야기가 이어짐</a:t>
            </a:r>
            <a:endParaRPr lang="en-US" sz="1250" dirty="0"/>
          </a:p>
        </p:txBody>
      </p:sp>
      <p:sp>
        <p:nvSpPr>
          <p:cNvPr id="37" name="Shape 35"/>
          <p:cNvSpPr/>
          <p:nvPr/>
        </p:nvSpPr>
        <p:spPr>
          <a:xfrm>
            <a:off x="8714232" y="4242816"/>
            <a:ext cx="219456" cy="201168"/>
          </a:xfrm>
          <a:prstGeom prst="rightArrow">
            <a:avLst/>
          </a:prstGeom>
          <a:solidFill>
            <a:srgbClr val="C9D2F7"/>
          </a:solidFill>
          <a:ln/>
        </p:spPr>
      </p:sp>
      <p:sp>
        <p:nvSpPr>
          <p:cNvPr id="38" name="Shape 36"/>
          <p:cNvSpPr/>
          <p:nvPr/>
        </p:nvSpPr>
        <p:spPr>
          <a:xfrm>
            <a:off x="8961120" y="3977640"/>
            <a:ext cx="1920240" cy="713232"/>
          </a:xfrm>
          <a:prstGeom prst="roundRect">
            <a:avLst>
              <a:gd name="adj" fmla="val 28205"/>
            </a:avLst>
          </a:prstGeom>
          <a:solidFill>
            <a:srgbClr val="EDF0FE"/>
          </a:solidFill>
          <a:ln/>
        </p:spPr>
      </p:sp>
      <p:sp>
        <p:nvSpPr>
          <p:cNvPr id="39" name="Text 37"/>
          <p:cNvSpPr txBox="1"/>
          <p:nvPr/>
        </p:nvSpPr>
        <p:spPr>
          <a:xfrm>
            <a:off x="8961120" y="397764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나만의 이야기 완성</a:t>
            </a:r>
            <a:endParaRPr lang="en-US" sz="1250" dirty="0"/>
          </a:p>
        </p:txBody>
      </p:sp>
      <p:sp>
        <p:nvSpPr>
          <p:cNvPr id="40" name="Shape 38"/>
          <p:cNvSpPr/>
          <p:nvPr/>
        </p:nvSpPr>
        <p:spPr>
          <a:xfrm>
            <a:off x="8961120" y="3977640"/>
            <a:ext cx="1920240" cy="713232"/>
          </a:xfrm>
          <a:prstGeom prst="roundRect">
            <a:avLst>
              <a:gd name="adj" fmla="val 28205"/>
            </a:avLst>
          </a:prstGeom>
          <a:solidFill>
            <a:srgbClr val="FFEA99"/>
          </a:solidFill>
          <a:ln/>
        </p:spPr>
      </p:sp>
      <p:sp>
        <p:nvSpPr>
          <p:cNvPr id="41" name="Text 39"/>
          <p:cNvSpPr txBox="1"/>
          <p:nvPr/>
        </p:nvSpPr>
        <p:spPr>
          <a:xfrm>
            <a:off x="8961120" y="3977640"/>
            <a:ext cx="1920240" cy="713232"/>
          </a:xfrm>
          <a:prstGeom prst="rect">
            <a:avLst/>
          </a:prstGeom>
          <a:noFill/>
          <a:ln/>
        </p:spPr>
        <p:txBody>
          <a:bodyPr wrap="square" lIns="0" tIns="0" rIns="0" bIns="0" rtlCol="0" anchor="ctr"/>
          <a:lstStyle/>
          <a:p>
            <a:pPr algn="ctr" indent="0" marL="0">
              <a:lnSpc>
                <a:spcPct val="115000"/>
              </a:lnSpc>
              <a:buNone/>
            </a:pPr>
            <a:r>
              <a:rPr lang="en-US" sz="1250" b="1" dirty="0">
                <a:solidFill>
                  <a:srgbClr val="39405C"/>
                </a:solidFill>
                <a:latin typeface="Malgun Gothic" pitchFamily="34" charset="0"/>
                <a:ea typeface="Malgun Gothic" pitchFamily="34" charset="-122"/>
                <a:cs typeface="Malgun Gothic" pitchFamily="34" charset="-120"/>
              </a:rPr>
              <a:t>나만의 이야기 완성</a:t>
            </a:r>
            <a:endParaRPr lang="en-US" sz="1250" dirty="0"/>
          </a:p>
        </p:txBody>
      </p:sp>
      <p:sp>
        <p:nvSpPr>
          <p:cNvPr id="42" name="Shape 40"/>
          <p:cNvSpPr/>
          <p:nvPr/>
        </p:nvSpPr>
        <p:spPr>
          <a:xfrm>
            <a:off x="640080" y="5074920"/>
            <a:ext cx="10911535" cy="822960"/>
          </a:xfrm>
          <a:prstGeom prst="roundRect">
            <a:avLst>
              <a:gd name="adj" fmla="val 24444"/>
            </a:avLst>
          </a:prstGeom>
          <a:solidFill>
            <a:srgbClr val="FDFEFF"/>
          </a:solidFill>
          <a:ln/>
          <a:effectLst>
            <a:outerShdw sx="100000" sy="100000" kx="0" ky="0" algn="bl" rotWithShape="0" blurRad="152400" dist="50800" dir="5400000">
              <a:srgbClr val="5364CE">
                <a:alpha val="13000"/>
              </a:srgbClr>
            </a:outerShdw>
          </a:effectLst>
        </p:spPr>
      </p:sp>
      <p:sp>
        <p:nvSpPr>
          <p:cNvPr id="43" name="Text 41"/>
          <p:cNvSpPr txBox="1"/>
          <p:nvPr/>
        </p:nvSpPr>
        <p:spPr>
          <a:xfrm>
            <a:off x="1005840" y="5074920"/>
            <a:ext cx="10180015" cy="822960"/>
          </a:xfrm>
          <a:prstGeom prst="rect">
            <a:avLst/>
          </a:prstGeom>
          <a:noFill/>
          <a:ln/>
        </p:spPr>
        <p:txBody>
          <a:bodyPr wrap="square" lIns="0" tIns="0" rIns="0" bIns="0" rtlCol="0" anchor="ctr"/>
          <a:lstStyle/>
          <a:p>
            <a:pPr algn="l" indent="0" marL="0">
              <a:lnSpc>
                <a:spcPct val="115000"/>
              </a:lnSpc>
              <a:buNone/>
            </a:pPr>
            <a:r>
              <a:rPr lang="en-US" sz="1400" b="1" dirty="0">
                <a:solidFill>
                  <a:srgbClr val="4C5CC4"/>
                </a:solidFill>
                <a:latin typeface="Malgun Gothic" pitchFamily="34" charset="0"/>
                <a:ea typeface="Malgun Gothic" pitchFamily="34" charset="-122"/>
                <a:cs typeface="Malgun Gothic" pitchFamily="34" charset="-120"/>
              </a:rPr>
              <a:t>AI 결과물은 끝이 아니라 시작점입니다.  </a:t>
            </a:r>
            <a:pPr algn="l" indent="0" marL="0">
              <a:lnSpc>
                <a:spcPct val="115000"/>
              </a:lnSpc>
              <a:buNone/>
            </a:pPr>
            <a:r>
              <a:rPr lang="en-US" sz="1400" dirty="0">
                <a:solidFill>
                  <a:srgbClr val="39405C"/>
                </a:solidFill>
                <a:latin typeface="Malgun Gothic" pitchFamily="34" charset="0"/>
                <a:ea typeface="Malgun Gothic" pitchFamily="34" charset="-122"/>
                <a:cs typeface="Malgun Gothic" pitchFamily="34" charset="-120"/>
              </a:rPr>
              <a:t>AI가 아이 대신 이야기를 완성하지 않고, 아이의 그림을 주인공으로 만들어 아이가 선택으로 계속 참여하게 합니다.</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12</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A · DrawTale이 주고 싶은 경험</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잘 그리는 것보다, 내가 만든 것이 살아나는 경험</a:t>
            </a:r>
            <a:endParaRPr lang="en-US" sz="3000" dirty="0"/>
          </a:p>
        </p:txBody>
      </p:sp>
      <p:sp>
        <p:nvSpPr>
          <p:cNvPr id="5" name="Shape 3"/>
          <p:cNvSpPr/>
          <p:nvPr/>
        </p:nvSpPr>
        <p:spPr>
          <a:xfrm>
            <a:off x="640080" y="1783080"/>
            <a:ext cx="1962851" cy="3017520"/>
          </a:xfrm>
          <a:prstGeom prst="roundRect">
            <a:avLst>
              <a:gd name="adj" fmla="val 10249"/>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1118586" y="2103120"/>
            <a:ext cx="1005840" cy="1005840"/>
          </a:xfrm>
          <a:prstGeom prst="roundRect">
            <a:avLst>
              <a:gd name="adj" fmla="val 26000"/>
            </a:avLst>
          </a:prstGeom>
          <a:solidFill>
            <a:srgbClr val="7FB2F0"/>
          </a:solidFill>
          <a:ln/>
          <a:effectLst>
            <a:outerShdw sx="100000" sy="100000" kx="0" ky="0" algn="bl" rotWithShape="0" blurRad="152400" dist="50800" dir="5400000">
              <a:srgbClr val="5364CE">
                <a:alpha val="13000"/>
              </a:srgbClr>
            </a:outerShdw>
          </a:effectLst>
        </p:spPr>
      </p:sp>
      <p:sp>
        <p:nvSpPr>
          <p:cNvPr id="7" name="Text 5"/>
          <p:cNvSpPr txBox="1"/>
          <p:nvPr/>
        </p:nvSpPr>
        <p:spPr>
          <a:xfrm>
            <a:off x="1118586" y="2103120"/>
            <a:ext cx="1005840" cy="10058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1</a:t>
            </a:r>
            <a:endParaRPr lang="en-US" sz="2200" dirty="0"/>
          </a:p>
        </p:txBody>
      </p:sp>
      <p:sp>
        <p:nvSpPr>
          <p:cNvPr id="8" name="Text 6"/>
          <p:cNvSpPr txBox="1"/>
          <p:nvPr/>
        </p:nvSpPr>
        <p:spPr>
          <a:xfrm>
            <a:off x="640080" y="3264408"/>
            <a:ext cx="1962851" cy="457200"/>
          </a:xfrm>
          <a:prstGeom prst="rect">
            <a:avLst/>
          </a:prstGeom>
          <a:noFill/>
          <a:ln/>
        </p:spPr>
        <p:txBody>
          <a:bodyPr wrap="square" lIns="0" tIns="0" rIns="0" bIns="0" rtlCol="0" anchor="t"/>
          <a:lstStyle/>
          <a:p>
            <a:pPr algn="ctr" indent="0" marL="0">
              <a:lnSpc>
                <a:spcPct val="115000"/>
              </a:lnSpc>
              <a:buNone/>
            </a:pPr>
            <a:r>
              <a:rPr lang="en-US" sz="2000" b="1" dirty="0">
                <a:solidFill>
                  <a:srgbClr val="4C5CC4"/>
                </a:solidFill>
                <a:latin typeface="Malgun Gothic" pitchFamily="34" charset="0"/>
                <a:ea typeface="Malgun Gothic" pitchFamily="34" charset="-122"/>
                <a:cs typeface="Malgun Gothic" pitchFamily="34" charset="-120"/>
              </a:rPr>
              <a:t>Draw</a:t>
            </a:r>
            <a:endParaRPr lang="en-US" sz="2000" dirty="0"/>
          </a:p>
        </p:txBody>
      </p:sp>
      <p:sp>
        <p:nvSpPr>
          <p:cNvPr id="9" name="Text 7"/>
          <p:cNvSpPr txBox="1"/>
          <p:nvPr/>
        </p:nvSpPr>
        <p:spPr>
          <a:xfrm>
            <a:off x="822960" y="3794760"/>
            <a:ext cx="1597091" cy="914400"/>
          </a:xfrm>
          <a:prstGeom prst="rect">
            <a:avLst/>
          </a:prstGeom>
          <a:noFill/>
          <a:ln/>
        </p:spPr>
        <p:txBody>
          <a:bodyPr wrap="square" lIns="0" tIns="0" rIns="0" bIns="0" rtlCol="0" anchor="t"/>
          <a:lstStyle/>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아이의 그림을</a:t>
            </a:r>
            <a:endParaRPr lang="en-US" sz="1250" dirty="0"/>
          </a:p>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그대로 씁니다</a:t>
            </a:r>
            <a:endParaRPr lang="en-US" sz="1250" dirty="0"/>
          </a:p>
        </p:txBody>
      </p:sp>
      <p:sp>
        <p:nvSpPr>
          <p:cNvPr id="10" name="Shape 8"/>
          <p:cNvSpPr/>
          <p:nvPr/>
        </p:nvSpPr>
        <p:spPr>
          <a:xfrm>
            <a:off x="2877251" y="1783080"/>
            <a:ext cx="1962851" cy="3017520"/>
          </a:xfrm>
          <a:prstGeom prst="roundRect">
            <a:avLst>
              <a:gd name="adj" fmla="val 10249"/>
            </a:avLst>
          </a:prstGeom>
          <a:solidFill>
            <a:srgbClr val="FDFEFF"/>
          </a:solidFill>
          <a:ln/>
          <a:effectLst>
            <a:outerShdw sx="100000" sy="100000" kx="0" ky="0" algn="bl" rotWithShape="0" blurRad="152400" dist="50800" dir="5400000">
              <a:srgbClr val="5364CE">
                <a:alpha val="13000"/>
              </a:srgbClr>
            </a:outerShdw>
          </a:effectLst>
        </p:spPr>
      </p:sp>
      <p:sp>
        <p:nvSpPr>
          <p:cNvPr id="11" name="Shape 9"/>
          <p:cNvSpPr/>
          <p:nvPr/>
        </p:nvSpPr>
        <p:spPr>
          <a:xfrm>
            <a:off x="3355757" y="2103120"/>
            <a:ext cx="1005840" cy="1005840"/>
          </a:xfrm>
          <a:prstGeom prst="roundRect">
            <a:avLst>
              <a:gd name="adj" fmla="val 26000"/>
            </a:avLst>
          </a:prstGeom>
          <a:solidFill>
            <a:srgbClr val="F4909F"/>
          </a:solidFill>
          <a:ln/>
          <a:effectLst>
            <a:outerShdw sx="100000" sy="100000" kx="0" ky="0" algn="bl" rotWithShape="0" blurRad="152400" dist="50800" dir="5400000">
              <a:srgbClr val="5364CE">
                <a:alpha val="13000"/>
              </a:srgbClr>
            </a:outerShdw>
          </a:effectLst>
        </p:spPr>
      </p:sp>
      <p:sp>
        <p:nvSpPr>
          <p:cNvPr id="12" name="Text 10"/>
          <p:cNvSpPr txBox="1"/>
          <p:nvPr/>
        </p:nvSpPr>
        <p:spPr>
          <a:xfrm>
            <a:off x="3355757" y="2103120"/>
            <a:ext cx="1005840" cy="10058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2</a:t>
            </a:r>
            <a:endParaRPr lang="en-US" sz="2200" dirty="0"/>
          </a:p>
        </p:txBody>
      </p:sp>
      <p:sp>
        <p:nvSpPr>
          <p:cNvPr id="13" name="Text 11"/>
          <p:cNvSpPr txBox="1"/>
          <p:nvPr/>
        </p:nvSpPr>
        <p:spPr>
          <a:xfrm>
            <a:off x="2877251" y="3264408"/>
            <a:ext cx="1962851" cy="457200"/>
          </a:xfrm>
          <a:prstGeom prst="rect">
            <a:avLst/>
          </a:prstGeom>
          <a:noFill/>
          <a:ln/>
        </p:spPr>
        <p:txBody>
          <a:bodyPr wrap="square" lIns="0" tIns="0" rIns="0" bIns="0" rtlCol="0" anchor="t"/>
          <a:lstStyle/>
          <a:p>
            <a:pPr algn="ctr" indent="0" marL="0">
              <a:lnSpc>
                <a:spcPct val="115000"/>
              </a:lnSpc>
              <a:buNone/>
            </a:pPr>
            <a:r>
              <a:rPr lang="en-US" sz="2000" b="1" dirty="0">
                <a:solidFill>
                  <a:srgbClr val="4C5CC4"/>
                </a:solidFill>
                <a:latin typeface="Malgun Gothic" pitchFamily="34" charset="0"/>
                <a:ea typeface="Malgun Gothic" pitchFamily="34" charset="-122"/>
                <a:cs typeface="Malgun Gothic" pitchFamily="34" charset="-120"/>
              </a:rPr>
              <a:t>Move</a:t>
            </a:r>
            <a:endParaRPr lang="en-US" sz="2000" dirty="0"/>
          </a:p>
        </p:txBody>
      </p:sp>
      <p:sp>
        <p:nvSpPr>
          <p:cNvPr id="14" name="Text 12"/>
          <p:cNvSpPr txBox="1"/>
          <p:nvPr/>
        </p:nvSpPr>
        <p:spPr>
          <a:xfrm>
            <a:off x="3060131" y="3794760"/>
            <a:ext cx="1597091" cy="914400"/>
          </a:xfrm>
          <a:prstGeom prst="rect">
            <a:avLst/>
          </a:prstGeom>
          <a:noFill/>
          <a:ln/>
        </p:spPr>
        <p:txBody>
          <a:bodyPr wrap="square" lIns="0" tIns="0" rIns="0" bIns="0" rtlCol="0" anchor="t"/>
          <a:lstStyle/>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AI가 캐릭터와 관절을</a:t>
            </a:r>
            <a:endParaRPr lang="en-US" sz="1250" dirty="0"/>
          </a:p>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알아보고 움직입니다</a:t>
            </a:r>
            <a:endParaRPr lang="en-US" sz="1250" dirty="0"/>
          </a:p>
        </p:txBody>
      </p:sp>
      <p:sp>
        <p:nvSpPr>
          <p:cNvPr id="15" name="Shape 13"/>
          <p:cNvSpPr/>
          <p:nvPr/>
        </p:nvSpPr>
        <p:spPr>
          <a:xfrm>
            <a:off x="5114422" y="1783080"/>
            <a:ext cx="1962851" cy="3017520"/>
          </a:xfrm>
          <a:prstGeom prst="roundRect">
            <a:avLst>
              <a:gd name="adj" fmla="val 10249"/>
            </a:avLst>
          </a:prstGeom>
          <a:solidFill>
            <a:srgbClr val="FDFEFF"/>
          </a:solidFill>
          <a:ln/>
          <a:effectLst>
            <a:outerShdw sx="100000" sy="100000" kx="0" ky="0" algn="bl" rotWithShape="0" blurRad="152400" dist="50800" dir="5400000">
              <a:srgbClr val="5364CE">
                <a:alpha val="13000"/>
              </a:srgbClr>
            </a:outerShdw>
          </a:effectLst>
        </p:spPr>
      </p:sp>
      <p:sp>
        <p:nvSpPr>
          <p:cNvPr id="16" name="Shape 14"/>
          <p:cNvSpPr/>
          <p:nvPr/>
        </p:nvSpPr>
        <p:spPr>
          <a:xfrm>
            <a:off x="5592928" y="2103120"/>
            <a:ext cx="1005840" cy="1005840"/>
          </a:xfrm>
          <a:prstGeom prst="roundRect">
            <a:avLst>
              <a:gd name="adj" fmla="val 26000"/>
            </a:avLst>
          </a:prstGeom>
          <a:solidFill>
            <a:srgbClr val="74CDAE"/>
          </a:solidFill>
          <a:ln/>
          <a:effectLst>
            <a:outerShdw sx="100000" sy="100000" kx="0" ky="0" algn="bl" rotWithShape="0" blurRad="152400" dist="50800" dir="5400000">
              <a:srgbClr val="5364CE">
                <a:alpha val="13000"/>
              </a:srgbClr>
            </a:outerShdw>
          </a:effectLst>
        </p:spPr>
      </p:sp>
      <p:sp>
        <p:nvSpPr>
          <p:cNvPr id="17" name="Text 15"/>
          <p:cNvSpPr txBox="1"/>
          <p:nvPr/>
        </p:nvSpPr>
        <p:spPr>
          <a:xfrm>
            <a:off x="5592928" y="2103120"/>
            <a:ext cx="1005840" cy="10058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3</a:t>
            </a:r>
            <a:endParaRPr lang="en-US" sz="2200" dirty="0"/>
          </a:p>
        </p:txBody>
      </p:sp>
      <p:sp>
        <p:nvSpPr>
          <p:cNvPr id="18" name="Text 16"/>
          <p:cNvSpPr txBox="1"/>
          <p:nvPr/>
        </p:nvSpPr>
        <p:spPr>
          <a:xfrm>
            <a:off x="5114422" y="3264408"/>
            <a:ext cx="1962851" cy="457200"/>
          </a:xfrm>
          <a:prstGeom prst="rect">
            <a:avLst/>
          </a:prstGeom>
          <a:noFill/>
          <a:ln/>
        </p:spPr>
        <p:txBody>
          <a:bodyPr wrap="square" lIns="0" tIns="0" rIns="0" bIns="0" rtlCol="0" anchor="t"/>
          <a:lstStyle/>
          <a:p>
            <a:pPr algn="ctr" indent="0" marL="0">
              <a:lnSpc>
                <a:spcPct val="115000"/>
              </a:lnSpc>
              <a:buNone/>
            </a:pPr>
            <a:r>
              <a:rPr lang="en-US" sz="2000" b="1" dirty="0">
                <a:solidFill>
                  <a:srgbClr val="4C5CC4"/>
                </a:solidFill>
                <a:latin typeface="Malgun Gothic" pitchFamily="34" charset="0"/>
                <a:ea typeface="Malgun Gothic" pitchFamily="34" charset="-122"/>
                <a:cs typeface="Malgun Gothic" pitchFamily="34" charset="-120"/>
              </a:rPr>
              <a:t>Choose</a:t>
            </a:r>
            <a:endParaRPr lang="en-US" sz="2000" dirty="0"/>
          </a:p>
        </p:txBody>
      </p:sp>
      <p:sp>
        <p:nvSpPr>
          <p:cNvPr id="19" name="Text 17"/>
          <p:cNvSpPr txBox="1"/>
          <p:nvPr/>
        </p:nvSpPr>
        <p:spPr>
          <a:xfrm>
            <a:off x="5297302" y="3794760"/>
            <a:ext cx="1597091" cy="914400"/>
          </a:xfrm>
          <a:prstGeom prst="rect">
            <a:avLst/>
          </a:prstGeom>
          <a:noFill/>
          <a:ln/>
        </p:spPr>
        <p:txBody>
          <a:bodyPr wrap="square" lIns="0" tIns="0" rIns="0" bIns="0" rtlCol="0" anchor="t"/>
          <a:lstStyle/>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아이가 이야기의 다음 행동을</a:t>
            </a:r>
            <a:endParaRPr lang="en-US" sz="1250" dirty="0"/>
          </a:p>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직접 고릅니다</a:t>
            </a:r>
            <a:endParaRPr lang="en-US" sz="1250" dirty="0"/>
          </a:p>
        </p:txBody>
      </p:sp>
      <p:sp>
        <p:nvSpPr>
          <p:cNvPr id="20" name="Shape 18"/>
          <p:cNvSpPr/>
          <p:nvPr/>
        </p:nvSpPr>
        <p:spPr>
          <a:xfrm>
            <a:off x="7351593" y="1783080"/>
            <a:ext cx="1962851" cy="3017520"/>
          </a:xfrm>
          <a:prstGeom prst="roundRect">
            <a:avLst>
              <a:gd name="adj" fmla="val 10249"/>
            </a:avLst>
          </a:prstGeom>
          <a:solidFill>
            <a:srgbClr val="FDFEFF"/>
          </a:solidFill>
          <a:ln/>
          <a:effectLst>
            <a:outerShdw sx="100000" sy="100000" kx="0" ky="0" algn="bl" rotWithShape="0" blurRad="152400" dist="50800" dir="5400000">
              <a:srgbClr val="5364CE">
                <a:alpha val="13000"/>
              </a:srgbClr>
            </a:outerShdw>
          </a:effectLst>
        </p:spPr>
      </p:sp>
      <p:sp>
        <p:nvSpPr>
          <p:cNvPr id="21" name="Shape 19"/>
          <p:cNvSpPr/>
          <p:nvPr/>
        </p:nvSpPr>
        <p:spPr>
          <a:xfrm>
            <a:off x="7830099" y="2103120"/>
            <a:ext cx="1005840" cy="1005840"/>
          </a:xfrm>
          <a:prstGeom prst="roundRect">
            <a:avLst>
              <a:gd name="adj" fmla="val 26000"/>
            </a:avLst>
          </a:prstGeom>
          <a:solidFill>
            <a:srgbClr val="F5C46B"/>
          </a:solidFill>
          <a:ln/>
          <a:effectLst>
            <a:outerShdw sx="100000" sy="100000" kx="0" ky="0" algn="bl" rotWithShape="0" blurRad="152400" dist="50800" dir="5400000">
              <a:srgbClr val="5364CE">
                <a:alpha val="13000"/>
              </a:srgbClr>
            </a:outerShdw>
          </a:effectLst>
        </p:spPr>
      </p:sp>
      <p:sp>
        <p:nvSpPr>
          <p:cNvPr id="22" name="Text 20"/>
          <p:cNvSpPr txBox="1"/>
          <p:nvPr/>
        </p:nvSpPr>
        <p:spPr>
          <a:xfrm>
            <a:off x="7830099" y="2103120"/>
            <a:ext cx="1005840" cy="10058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4</a:t>
            </a:r>
            <a:endParaRPr lang="en-US" sz="2200" dirty="0"/>
          </a:p>
        </p:txBody>
      </p:sp>
      <p:sp>
        <p:nvSpPr>
          <p:cNvPr id="23" name="Text 21"/>
          <p:cNvSpPr txBox="1"/>
          <p:nvPr/>
        </p:nvSpPr>
        <p:spPr>
          <a:xfrm>
            <a:off x="7351593" y="3264408"/>
            <a:ext cx="1962851" cy="457200"/>
          </a:xfrm>
          <a:prstGeom prst="rect">
            <a:avLst/>
          </a:prstGeom>
          <a:noFill/>
          <a:ln/>
        </p:spPr>
        <p:txBody>
          <a:bodyPr wrap="square" lIns="0" tIns="0" rIns="0" bIns="0" rtlCol="0" anchor="t"/>
          <a:lstStyle/>
          <a:p>
            <a:pPr algn="ctr" indent="0" marL="0">
              <a:lnSpc>
                <a:spcPct val="115000"/>
              </a:lnSpc>
              <a:buNone/>
            </a:pPr>
            <a:r>
              <a:rPr lang="en-US" sz="2000" b="1" dirty="0">
                <a:solidFill>
                  <a:srgbClr val="4C5CC4"/>
                </a:solidFill>
                <a:latin typeface="Malgun Gothic" pitchFamily="34" charset="0"/>
                <a:ea typeface="Malgun Gothic" pitchFamily="34" charset="-122"/>
                <a:cs typeface="Malgun Gothic" pitchFamily="34" charset="-120"/>
              </a:rPr>
              <a:t>Tell</a:t>
            </a:r>
            <a:endParaRPr lang="en-US" sz="2000" dirty="0"/>
          </a:p>
        </p:txBody>
      </p:sp>
      <p:sp>
        <p:nvSpPr>
          <p:cNvPr id="24" name="Text 22"/>
          <p:cNvSpPr txBox="1"/>
          <p:nvPr/>
        </p:nvSpPr>
        <p:spPr>
          <a:xfrm>
            <a:off x="7534473" y="3794760"/>
            <a:ext cx="1597091" cy="914400"/>
          </a:xfrm>
          <a:prstGeom prst="rect">
            <a:avLst/>
          </a:prstGeom>
          <a:noFill/>
          <a:ln/>
        </p:spPr>
        <p:txBody>
          <a:bodyPr wrap="square" lIns="0" tIns="0" rIns="0" bIns="0" rtlCol="0" anchor="t"/>
          <a:lstStyle/>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선택이 이어지며</a:t>
            </a:r>
            <a:endParaRPr lang="en-US" sz="1250" dirty="0"/>
          </a:p>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나만의 이야기가 됩니다</a:t>
            </a:r>
            <a:endParaRPr lang="en-US" sz="1250" dirty="0"/>
          </a:p>
        </p:txBody>
      </p:sp>
      <p:sp>
        <p:nvSpPr>
          <p:cNvPr id="25" name="Shape 23"/>
          <p:cNvSpPr/>
          <p:nvPr/>
        </p:nvSpPr>
        <p:spPr>
          <a:xfrm>
            <a:off x="9588764" y="1783080"/>
            <a:ext cx="1962851" cy="3017520"/>
          </a:xfrm>
          <a:prstGeom prst="roundRect">
            <a:avLst>
              <a:gd name="adj" fmla="val 10249"/>
            </a:avLst>
          </a:prstGeom>
          <a:solidFill>
            <a:srgbClr val="FDFEFF"/>
          </a:solidFill>
          <a:ln/>
          <a:effectLst>
            <a:outerShdw sx="100000" sy="100000" kx="0" ky="0" algn="bl" rotWithShape="0" blurRad="152400" dist="50800" dir="5400000">
              <a:srgbClr val="5364CE">
                <a:alpha val="13000"/>
              </a:srgbClr>
            </a:outerShdw>
          </a:effectLst>
        </p:spPr>
      </p:sp>
      <p:sp>
        <p:nvSpPr>
          <p:cNvPr id="26" name="Shape 24"/>
          <p:cNvSpPr/>
          <p:nvPr/>
        </p:nvSpPr>
        <p:spPr>
          <a:xfrm>
            <a:off x="10067270" y="2103120"/>
            <a:ext cx="1005840" cy="1005840"/>
          </a:xfrm>
          <a:prstGeom prst="roundRect">
            <a:avLst>
              <a:gd name="adj" fmla="val 26000"/>
            </a:avLst>
          </a:prstGeom>
          <a:solidFill>
            <a:srgbClr val="7386F5"/>
          </a:solidFill>
          <a:ln/>
          <a:effectLst>
            <a:outerShdw sx="100000" sy="100000" kx="0" ky="0" algn="bl" rotWithShape="0" blurRad="152400" dist="50800" dir="5400000">
              <a:srgbClr val="5364CE">
                <a:alpha val="13000"/>
              </a:srgbClr>
            </a:outerShdw>
          </a:effectLst>
        </p:spPr>
      </p:sp>
      <p:sp>
        <p:nvSpPr>
          <p:cNvPr id="27" name="Text 25"/>
          <p:cNvSpPr txBox="1"/>
          <p:nvPr/>
        </p:nvSpPr>
        <p:spPr>
          <a:xfrm>
            <a:off x="10067270" y="2103120"/>
            <a:ext cx="1005840" cy="1005840"/>
          </a:xfrm>
          <a:prstGeom prst="rect">
            <a:avLst/>
          </a:prstGeom>
          <a:noFill/>
          <a:ln/>
        </p:spPr>
        <p:txBody>
          <a:bodyPr wrap="square" lIns="0" tIns="0" rIns="0" bIns="0" rtlCol="0" anchor="ctr"/>
          <a:lstStyle/>
          <a:p>
            <a:pPr algn="ctr" indent="0" marL="0">
              <a:buNone/>
            </a:pPr>
            <a:r>
              <a:rPr lang="en-US" sz="2200" b="1" dirty="0">
                <a:solidFill>
                  <a:srgbClr val="FDFEFF"/>
                </a:solidFill>
                <a:latin typeface="Malgun Gothic" pitchFamily="34" charset="0"/>
                <a:ea typeface="Malgun Gothic" pitchFamily="34" charset="-122"/>
                <a:cs typeface="Malgun Gothic" pitchFamily="34" charset="-120"/>
              </a:rPr>
              <a:t>5</a:t>
            </a:r>
            <a:endParaRPr lang="en-US" sz="2200" dirty="0"/>
          </a:p>
        </p:txBody>
      </p:sp>
      <p:sp>
        <p:nvSpPr>
          <p:cNvPr id="28" name="Text 26"/>
          <p:cNvSpPr txBox="1"/>
          <p:nvPr/>
        </p:nvSpPr>
        <p:spPr>
          <a:xfrm>
            <a:off x="9588764" y="3264408"/>
            <a:ext cx="1962851" cy="457200"/>
          </a:xfrm>
          <a:prstGeom prst="rect">
            <a:avLst/>
          </a:prstGeom>
          <a:noFill/>
          <a:ln/>
        </p:spPr>
        <p:txBody>
          <a:bodyPr wrap="square" lIns="0" tIns="0" rIns="0" bIns="0" rtlCol="0" anchor="t"/>
          <a:lstStyle/>
          <a:p>
            <a:pPr algn="ctr" indent="0" marL="0">
              <a:lnSpc>
                <a:spcPct val="115000"/>
              </a:lnSpc>
              <a:buNone/>
            </a:pPr>
            <a:r>
              <a:rPr lang="en-US" sz="2000" b="1" dirty="0">
                <a:solidFill>
                  <a:srgbClr val="4C5CC4"/>
                </a:solidFill>
                <a:latin typeface="Malgun Gothic" pitchFamily="34" charset="0"/>
                <a:ea typeface="Malgun Gothic" pitchFamily="34" charset="-122"/>
                <a:cs typeface="Malgun Gothic" pitchFamily="34" charset="-120"/>
              </a:rPr>
              <a:t>Experience</a:t>
            </a:r>
            <a:endParaRPr lang="en-US" sz="2000" dirty="0"/>
          </a:p>
        </p:txBody>
      </p:sp>
      <p:sp>
        <p:nvSpPr>
          <p:cNvPr id="29" name="Text 27"/>
          <p:cNvSpPr txBox="1"/>
          <p:nvPr/>
        </p:nvSpPr>
        <p:spPr>
          <a:xfrm>
            <a:off x="9771644" y="3794760"/>
            <a:ext cx="1597091" cy="914400"/>
          </a:xfrm>
          <a:prstGeom prst="rect">
            <a:avLst/>
          </a:prstGeom>
          <a:noFill/>
          <a:ln/>
        </p:spPr>
        <p:txBody>
          <a:bodyPr wrap="square" lIns="0" tIns="0" rIns="0" bIns="0" rtlCol="0" anchor="t"/>
          <a:lstStyle/>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내 캐릭터가 이야기에 나와</a:t>
            </a:r>
            <a:endParaRPr lang="en-US" sz="1250" dirty="0"/>
          </a:p>
          <a:p>
            <a:pPr algn="ctr" indent="0" marL="0">
              <a:lnSpc>
                <a:spcPct val="130000"/>
              </a:lnSpc>
              <a:buNone/>
            </a:pPr>
            <a:r>
              <a:rPr lang="en-US" sz="1250" dirty="0">
                <a:solidFill>
                  <a:srgbClr val="5A6282"/>
                </a:solidFill>
                <a:latin typeface="Malgun Gothic" pitchFamily="34" charset="0"/>
                <a:ea typeface="Malgun Gothic" pitchFamily="34" charset="-122"/>
                <a:cs typeface="Malgun Gothic" pitchFamily="34" charset="-120"/>
              </a:rPr>
              <a:t>결과를 바로 봅니다</a:t>
            </a:r>
            <a:endParaRPr lang="en-US" sz="1250" dirty="0"/>
          </a:p>
        </p:txBody>
      </p:sp>
      <p:sp>
        <p:nvSpPr>
          <p:cNvPr id="30" name="Shape 28"/>
          <p:cNvSpPr/>
          <p:nvPr/>
        </p:nvSpPr>
        <p:spPr>
          <a:xfrm>
            <a:off x="640080" y="5120640"/>
            <a:ext cx="10911535" cy="868680"/>
          </a:xfrm>
          <a:prstGeom prst="roundRect">
            <a:avLst>
              <a:gd name="adj" fmla="val 23158"/>
            </a:avLst>
          </a:prstGeom>
          <a:solidFill>
            <a:srgbClr val="4C5CC4"/>
          </a:solidFill>
          <a:ln/>
          <a:effectLst>
            <a:outerShdw sx="100000" sy="100000" kx="0" ky="0" algn="bl" rotWithShape="0" blurRad="152400" dist="50800" dir="5400000">
              <a:srgbClr val="5364CE">
                <a:alpha val="13000"/>
              </a:srgbClr>
            </a:outerShdw>
          </a:effectLst>
        </p:spPr>
      </p:sp>
      <p:sp>
        <p:nvSpPr>
          <p:cNvPr id="31" name="Text 29"/>
          <p:cNvSpPr txBox="1"/>
          <p:nvPr/>
        </p:nvSpPr>
        <p:spPr>
          <a:xfrm>
            <a:off x="1005840" y="5120640"/>
            <a:ext cx="10180015" cy="868680"/>
          </a:xfrm>
          <a:prstGeom prst="rect">
            <a:avLst/>
          </a:prstGeom>
          <a:noFill/>
          <a:ln/>
        </p:spPr>
        <p:txBody>
          <a:bodyPr wrap="square" lIns="0" tIns="0" rIns="0" bIns="0" rtlCol="0" anchor="ctr"/>
          <a:lstStyle/>
          <a:p>
            <a:pPr algn="l" indent="0" marL="0">
              <a:lnSpc>
                <a:spcPct val="135000"/>
              </a:lnSpc>
              <a:buNone/>
            </a:pPr>
            <a:r>
              <a:rPr lang="en-US" sz="1500" b="1" dirty="0">
                <a:solidFill>
                  <a:srgbClr val="FDFEFF"/>
                </a:solidFill>
                <a:latin typeface="Malgun Gothic" pitchFamily="34" charset="0"/>
                <a:ea typeface="Malgun Gothic" pitchFamily="34" charset="-122"/>
                <a:cs typeface="Malgun Gothic" pitchFamily="34" charset="-120"/>
              </a:rPr>
              <a:t>DrawTale은 AI가 아이에게 이야기를 보여 주는 서비스가 아니라,</a:t>
            </a:r>
            <a:endParaRPr lang="en-US" sz="1500" dirty="0"/>
          </a:p>
          <a:p>
            <a:pPr algn="l" indent="0" marL="0">
              <a:lnSpc>
                <a:spcPct val="135000"/>
              </a:lnSpc>
              <a:buNone/>
            </a:pPr>
            <a:r>
              <a:rPr lang="en-US" sz="1500" b="1" dirty="0">
                <a:solidFill>
                  <a:srgbClr val="FDFEFF"/>
                </a:solidFill>
                <a:latin typeface="Malgun Gothic" pitchFamily="34" charset="0"/>
                <a:ea typeface="Malgun Gothic" pitchFamily="34" charset="-122"/>
                <a:cs typeface="Malgun Gothic" pitchFamily="34" charset="-120"/>
              </a:rPr>
              <a:t>아이가 자신의 그림으로 이야기에 참여하도록 돕는 서비스입니다.</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13</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B · 9/7 ~ 10/2 우리가 한 일</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아이디어를 실제 서비스 구조로 바꾸기 시작했습니다</a:t>
            </a:r>
            <a:endParaRPr lang="en-US" sz="3000" dirty="0"/>
          </a:p>
        </p:txBody>
      </p:sp>
      <p:sp>
        <p:nvSpPr>
          <p:cNvPr id="5" name="Shape 3"/>
          <p:cNvSpPr/>
          <p:nvPr/>
        </p:nvSpPr>
        <p:spPr>
          <a:xfrm>
            <a:off x="640080" y="1837944"/>
            <a:ext cx="393192" cy="393192"/>
          </a:xfrm>
          <a:prstGeom prst="ellipse">
            <a:avLst/>
          </a:prstGeom>
          <a:solidFill>
            <a:srgbClr val="7FB2F0"/>
          </a:solidFill>
          <a:ln/>
        </p:spPr>
      </p:sp>
      <p:sp>
        <p:nvSpPr>
          <p:cNvPr id="6" name="Text 4"/>
          <p:cNvSpPr txBox="1"/>
          <p:nvPr/>
        </p:nvSpPr>
        <p:spPr>
          <a:xfrm>
            <a:off x="640080" y="183794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1</a:t>
            </a:r>
            <a:endParaRPr lang="en-US" sz="1300" dirty="0"/>
          </a:p>
        </p:txBody>
      </p:sp>
      <p:sp>
        <p:nvSpPr>
          <p:cNvPr id="7" name="Text 5"/>
          <p:cNvSpPr txBox="1"/>
          <p:nvPr/>
        </p:nvSpPr>
        <p:spPr>
          <a:xfrm>
            <a:off x="1188720" y="1783080"/>
            <a:ext cx="2880360" cy="548640"/>
          </a:xfrm>
          <a:prstGeom prst="rect">
            <a:avLst/>
          </a:prstGeom>
          <a:noFill/>
          <a:ln/>
        </p:spPr>
        <p:txBody>
          <a:bodyPr wrap="square" lIns="0" tIns="0" rIns="0" bIns="0" rtlCol="0" anchor="ctr"/>
          <a:lstStyle/>
          <a:p>
            <a:pPr algn="l" indent="0" marL="0">
              <a:lnSpc>
                <a:spcPct val="115000"/>
              </a:lnSpc>
              <a:buNone/>
            </a:pPr>
            <a:r>
              <a:rPr lang="en-US" sz="1450" b="1" dirty="0">
                <a:solidFill>
                  <a:srgbClr val="39405C"/>
                </a:solidFill>
                <a:latin typeface="Malgun Gothic" pitchFamily="34" charset="0"/>
                <a:ea typeface="Malgun Gothic" pitchFamily="34" charset="-122"/>
                <a:cs typeface="Malgun Gothic" pitchFamily="34" charset="-120"/>
              </a:rPr>
              <a:t>프로젝트 시작</a:t>
            </a:r>
            <a:endParaRPr lang="en-US" sz="1450" dirty="0"/>
          </a:p>
        </p:txBody>
      </p:sp>
      <p:sp>
        <p:nvSpPr>
          <p:cNvPr id="8" name="Shape 6"/>
          <p:cNvSpPr/>
          <p:nvPr/>
        </p:nvSpPr>
        <p:spPr>
          <a:xfrm>
            <a:off x="640080" y="2889504"/>
            <a:ext cx="393192" cy="393192"/>
          </a:xfrm>
          <a:prstGeom prst="ellipse">
            <a:avLst/>
          </a:prstGeom>
          <a:solidFill>
            <a:srgbClr val="F4909F"/>
          </a:solidFill>
          <a:ln/>
        </p:spPr>
      </p:sp>
      <p:sp>
        <p:nvSpPr>
          <p:cNvPr id="9" name="Text 7"/>
          <p:cNvSpPr txBox="1"/>
          <p:nvPr/>
        </p:nvSpPr>
        <p:spPr>
          <a:xfrm>
            <a:off x="640080" y="288950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2</a:t>
            </a:r>
            <a:endParaRPr lang="en-US" sz="1300" dirty="0"/>
          </a:p>
        </p:txBody>
      </p:sp>
      <p:sp>
        <p:nvSpPr>
          <p:cNvPr id="10" name="Text 8"/>
          <p:cNvSpPr txBox="1"/>
          <p:nvPr/>
        </p:nvSpPr>
        <p:spPr>
          <a:xfrm>
            <a:off x="1188720" y="283464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서비스 목적 · 사용자 경험 논의</a:t>
            </a:r>
            <a:endParaRPr lang="en-US" sz="1450" dirty="0"/>
          </a:p>
        </p:txBody>
      </p:sp>
      <p:sp>
        <p:nvSpPr>
          <p:cNvPr id="11" name="Shape 9"/>
          <p:cNvSpPr/>
          <p:nvPr/>
        </p:nvSpPr>
        <p:spPr>
          <a:xfrm>
            <a:off x="640080" y="3941064"/>
            <a:ext cx="393192" cy="393192"/>
          </a:xfrm>
          <a:prstGeom prst="ellipse">
            <a:avLst/>
          </a:prstGeom>
          <a:solidFill>
            <a:srgbClr val="74CDAE"/>
          </a:solidFill>
          <a:ln/>
        </p:spPr>
      </p:sp>
      <p:sp>
        <p:nvSpPr>
          <p:cNvPr id="12" name="Text 10"/>
          <p:cNvSpPr txBox="1"/>
          <p:nvPr/>
        </p:nvSpPr>
        <p:spPr>
          <a:xfrm>
            <a:off x="640080" y="394106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3</a:t>
            </a:r>
            <a:endParaRPr lang="en-US" sz="1300" dirty="0"/>
          </a:p>
        </p:txBody>
      </p:sp>
      <p:sp>
        <p:nvSpPr>
          <p:cNvPr id="13" name="Text 11"/>
          <p:cNvSpPr txBox="1"/>
          <p:nvPr/>
        </p:nvSpPr>
        <p:spPr>
          <a:xfrm>
            <a:off x="1188720" y="388620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MVP 범위 결정</a:t>
            </a:r>
            <a:endParaRPr lang="en-US" sz="1450" dirty="0"/>
          </a:p>
        </p:txBody>
      </p:sp>
      <p:sp>
        <p:nvSpPr>
          <p:cNvPr id="14" name="Shape 12"/>
          <p:cNvSpPr/>
          <p:nvPr/>
        </p:nvSpPr>
        <p:spPr>
          <a:xfrm>
            <a:off x="640080" y="4992624"/>
            <a:ext cx="393192" cy="393192"/>
          </a:xfrm>
          <a:prstGeom prst="ellipse">
            <a:avLst/>
          </a:prstGeom>
          <a:solidFill>
            <a:srgbClr val="F5C46B"/>
          </a:solidFill>
          <a:ln/>
        </p:spPr>
      </p:sp>
      <p:sp>
        <p:nvSpPr>
          <p:cNvPr id="15" name="Text 13"/>
          <p:cNvSpPr txBox="1"/>
          <p:nvPr/>
        </p:nvSpPr>
        <p:spPr>
          <a:xfrm>
            <a:off x="640080" y="499262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4</a:t>
            </a:r>
            <a:endParaRPr lang="en-US" sz="1300" dirty="0"/>
          </a:p>
        </p:txBody>
      </p:sp>
      <p:sp>
        <p:nvSpPr>
          <p:cNvPr id="16" name="Text 14"/>
          <p:cNvSpPr txBox="1"/>
          <p:nvPr/>
        </p:nvSpPr>
        <p:spPr>
          <a:xfrm>
            <a:off x="1188720" y="493776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Frontend · Backend · A1 · A2 역할 분리</a:t>
            </a:r>
            <a:endParaRPr lang="en-US" sz="1450" dirty="0"/>
          </a:p>
        </p:txBody>
      </p:sp>
      <p:sp>
        <p:nvSpPr>
          <p:cNvPr id="17" name="Shape 15"/>
          <p:cNvSpPr/>
          <p:nvPr/>
        </p:nvSpPr>
        <p:spPr>
          <a:xfrm>
            <a:off x="4389120" y="1837944"/>
            <a:ext cx="393192" cy="393192"/>
          </a:xfrm>
          <a:prstGeom prst="ellipse">
            <a:avLst/>
          </a:prstGeom>
          <a:solidFill>
            <a:srgbClr val="7FB2F0"/>
          </a:solidFill>
          <a:ln/>
        </p:spPr>
      </p:sp>
      <p:sp>
        <p:nvSpPr>
          <p:cNvPr id="18" name="Text 16"/>
          <p:cNvSpPr txBox="1"/>
          <p:nvPr/>
        </p:nvSpPr>
        <p:spPr>
          <a:xfrm>
            <a:off x="4389120" y="183794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5</a:t>
            </a:r>
            <a:endParaRPr lang="en-US" sz="1300" dirty="0"/>
          </a:p>
        </p:txBody>
      </p:sp>
      <p:sp>
        <p:nvSpPr>
          <p:cNvPr id="19" name="Text 17"/>
          <p:cNvSpPr txBox="1"/>
          <p:nvPr/>
        </p:nvSpPr>
        <p:spPr>
          <a:xfrm>
            <a:off x="4937760" y="178308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화면 · 기능 · 데이터 · AI 처리 방식 협의</a:t>
            </a:r>
            <a:endParaRPr lang="en-US" sz="1450" dirty="0"/>
          </a:p>
        </p:txBody>
      </p:sp>
      <p:sp>
        <p:nvSpPr>
          <p:cNvPr id="20" name="Shape 18"/>
          <p:cNvSpPr/>
          <p:nvPr/>
        </p:nvSpPr>
        <p:spPr>
          <a:xfrm>
            <a:off x="4389120" y="2889504"/>
            <a:ext cx="393192" cy="393192"/>
          </a:xfrm>
          <a:prstGeom prst="ellipse">
            <a:avLst/>
          </a:prstGeom>
          <a:solidFill>
            <a:srgbClr val="F4909F"/>
          </a:solidFill>
          <a:ln/>
        </p:spPr>
      </p:sp>
      <p:sp>
        <p:nvSpPr>
          <p:cNvPr id="21" name="Text 19"/>
          <p:cNvSpPr txBox="1"/>
          <p:nvPr/>
        </p:nvSpPr>
        <p:spPr>
          <a:xfrm>
            <a:off x="4389120" y="288950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6</a:t>
            </a:r>
            <a:endParaRPr lang="en-US" sz="1300" dirty="0"/>
          </a:p>
        </p:txBody>
      </p:sp>
      <p:sp>
        <p:nvSpPr>
          <p:cNvPr id="22" name="Text 20"/>
          <p:cNvSpPr txBox="1"/>
          <p:nvPr/>
        </p:nvSpPr>
        <p:spPr>
          <a:xfrm>
            <a:off x="4937760" y="283464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핵심 설계 문서 제작</a:t>
            </a:r>
            <a:endParaRPr lang="en-US" sz="1450" dirty="0"/>
          </a:p>
        </p:txBody>
      </p:sp>
      <p:sp>
        <p:nvSpPr>
          <p:cNvPr id="23" name="Shape 21"/>
          <p:cNvSpPr/>
          <p:nvPr/>
        </p:nvSpPr>
        <p:spPr>
          <a:xfrm>
            <a:off x="4389120" y="3941064"/>
            <a:ext cx="393192" cy="393192"/>
          </a:xfrm>
          <a:prstGeom prst="ellipse">
            <a:avLst/>
          </a:prstGeom>
          <a:solidFill>
            <a:srgbClr val="74CDAE"/>
          </a:solidFill>
          <a:ln/>
        </p:spPr>
      </p:sp>
      <p:sp>
        <p:nvSpPr>
          <p:cNvPr id="24" name="Text 22"/>
          <p:cNvSpPr txBox="1"/>
          <p:nvPr/>
        </p:nvSpPr>
        <p:spPr>
          <a:xfrm>
            <a:off x="4389120" y="394106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7</a:t>
            </a:r>
            <a:endParaRPr lang="en-US" sz="1300" dirty="0"/>
          </a:p>
        </p:txBody>
      </p:sp>
      <p:sp>
        <p:nvSpPr>
          <p:cNvPr id="25" name="Text 23"/>
          <p:cNvSpPr txBox="1"/>
          <p:nvPr/>
        </p:nvSpPr>
        <p:spPr>
          <a:xfrm>
            <a:off x="4937760" y="3886200"/>
            <a:ext cx="2880360" cy="548640"/>
          </a:xfrm>
          <a:prstGeom prst="rect">
            <a:avLst/>
          </a:prstGeom>
          <a:noFill/>
          <a:ln/>
        </p:spPr>
        <p:txBody>
          <a:bodyPr wrap="square" lIns="0" tIns="0" rIns="0" bIns="0" rtlCol="0" anchor="ctr"/>
          <a:lstStyle/>
          <a:p>
            <a:pPr algn="l" indent="0" marL="0">
              <a:lnSpc>
                <a:spcPct val="115000"/>
              </a:lnSpc>
              <a:buNone/>
            </a:pPr>
            <a:r>
              <a:rPr lang="en-US" sz="1450" dirty="0">
                <a:solidFill>
                  <a:srgbClr val="39405C"/>
                </a:solidFill>
                <a:latin typeface="Malgun Gothic" pitchFamily="34" charset="0"/>
                <a:ea typeface="Malgun Gothic" pitchFamily="34" charset="-122"/>
                <a:cs typeface="Malgun Gothic" pitchFamily="34" charset="-120"/>
              </a:rPr>
              <a:t>영역별 상세 설계</a:t>
            </a:r>
            <a:endParaRPr lang="en-US" sz="1450" dirty="0"/>
          </a:p>
        </p:txBody>
      </p:sp>
      <p:sp>
        <p:nvSpPr>
          <p:cNvPr id="26" name="Shape 24"/>
          <p:cNvSpPr/>
          <p:nvPr/>
        </p:nvSpPr>
        <p:spPr>
          <a:xfrm>
            <a:off x="4389120" y="4992624"/>
            <a:ext cx="393192" cy="393192"/>
          </a:xfrm>
          <a:prstGeom prst="ellipse">
            <a:avLst/>
          </a:prstGeom>
          <a:solidFill>
            <a:srgbClr val="F5C46B"/>
          </a:solidFill>
          <a:ln/>
        </p:spPr>
      </p:sp>
      <p:sp>
        <p:nvSpPr>
          <p:cNvPr id="27" name="Text 25"/>
          <p:cNvSpPr txBox="1"/>
          <p:nvPr/>
        </p:nvSpPr>
        <p:spPr>
          <a:xfrm>
            <a:off x="4389120" y="4992624"/>
            <a:ext cx="393192" cy="393192"/>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8</a:t>
            </a:r>
            <a:endParaRPr lang="en-US" sz="1300" dirty="0"/>
          </a:p>
        </p:txBody>
      </p:sp>
      <p:sp>
        <p:nvSpPr>
          <p:cNvPr id="28" name="Text 26"/>
          <p:cNvSpPr txBox="1"/>
          <p:nvPr/>
        </p:nvSpPr>
        <p:spPr>
          <a:xfrm>
            <a:off x="4937760" y="4937760"/>
            <a:ext cx="2880360" cy="548640"/>
          </a:xfrm>
          <a:prstGeom prst="rect">
            <a:avLst/>
          </a:prstGeom>
          <a:noFill/>
          <a:ln/>
        </p:spPr>
        <p:txBody>
          <a:bodyPr wrap="square" lIns="0" tIns="0" rIns="0" bIns="0" rtlCol="0" anchor="ctr"/>
          <a:lstStyle/>
          <a:p>
            <a:pPr algn="l" indent="0" marL="0">
              <a:lnSpc>
                <a:spcPct val="115000"/>
              </a:lnSpc>
              <a:buNone/>
            </a:pPr>
            <a:r>
              <a:rPr lang="en-US" sz="1450" b="1" dirty="0">
                <a:solidFill>
                  <a:srgbClr val="39405C"/>
                </a:solidFill>
                <a:latin typeface="Malgun Gothic" pitchFamily="34" charset="0"/>
                <a:ea typeface="Malgun Gothic" pitchFamily="34" charset="-122"/>
                <a:cs typeface="Malgun Gothic" pitchFamily="34" charset="-120"/>
              </a:rPr>
              <a:t>초기 개발 · AI 학습 PoC</a:t>
            </a:r>
            <a:endParaRPr lang="en-US" sz="1450" dirty="0"/>
          </a:p>
        </p:txBody>
      </p:sp>
      <p:sp>
        <p:nvSpPr>
          <p:cNvPr id="29" name="Text 27"/>
          <p:cNvSpPr txBox="1"/>
          <p:nvPr/>
        </p:nvSpPr>
        <p:spPr>
          <a:xfrm>
            <a:off x="1188720" y="1481328"/>
            <a:ext cx="914400" cy="274320"/>
          </a:xfrm>
          <a:prstGeom prst="rect">
            <a:avLst/>
          </a:prstGeom>
          <a:noFill/>
          <a:ln/>
        </p:spPr>
        <p:txBody>
          <a:bodyPr wrap="square" lIns="0" tIns="0" rIns="0" bIns="0" rtlCol="0" anchor="t"/>
          <a:lstStyle/>
          <a:p>
            <a:pPr algn="l" indent="0" marL="0">
              <a:lnSpc>
                <a:spcPct val="115000"/>
              </a:lnSpc>
              <a:buNone/>
            </a:pPr>
            <a:r>
              <a:rPr lang="en-US" sz="1100" b="1" dirty="0">
                <a:solidFill>
                  <a:srgbClr val="4C5CC4"/>
                </a:solidFill>
                <a:latin typeface="Malgun Gothic" pitchFamily="34" charset="0"/>
                <a:ea typeface="Malgun Gothic" pitchFamily="34" charset="-122"/>
                <a:cs typeface="Malgun Gothic" pitchFamily="34" charset="-120"/>
              </a:rPr>
              <a:t>9/7</a:t>
            </a:r>
            <a:endParaRPr lang="en-US" sz="1100" dirty="0"/>
          </a:p>
        </p:txBody>
      </p:sp>
      <p:sp>
        <p:nvSpPr>
          <p:cNvPr id="30" name="Text 28"/>
          <p:cNvSpPr txBox="1"/>
          <p:nvPr/>
        </p:nvSpPr>
        <p:spPr>
          <a:xfrm>
            <a:off x="4937760" y="5532120"/>
            <a:ext cx="914400" cy="274320"/>
          </a:xfrm>
          <a:prstGeom prst="rect">
            <a:avLst/>
          </a:prstGeom>
          <a:noFill/>
          <a:ln/>
        </p:spPr>
        <p:txBody>
          <a:bodyPr wrap="square" lIns="0" tIns="0" rIns="0" bIns="0" rtlCol="0" anchor="t"/>
          <a:lstStyle/>
          <a:p>
            <a:pPr algn="l" indent="0" marL="0">
              <a:lnSpc>
                <a:spcPct val="115000"/>
              </a:lnSpc>
              <a:buNone/>
            </a:pPr>
            <a:r>
              <a:rPr lang="en-US" sz="1100" b="1" dirty="0">
                <a:solidFill>
                  <a:srgbClr val="4C5CC4"/>
                </a:solidFill>
                <a:latin typeface="Malgun Gothic" pitchFamily="34" charset="0"/>
                <a:ea typeface="Malgun Gothic" pitchFamily="34" charset="-122"/>
                <a:cs typeface="Malgun Gothic" pitchFamily="34" charset="-120"/>
              </a:rPr>
              <a:t>10/2</a:t>
            </a:r>
            <a:endParaRPr lang="en-US" sz="1100" dirty="0"/>
          </a:p>
        </p:txBody>
      </p:sp>
      <p:sp>
        <p:nvSpPr>
          <p:cNvPr id="31" name="Shape 29"/>
          <p:cNvSpPr/>
          <p:nvPr/>
        </p:nvSpPr>
        <p:spPr>
          <a:xfrm>
            <a:off x="8321040" y="1691640"/>
            <a:ext cx="3230575" cy="4160520"/>
          </a:xfrm>
          <a:prstGeom prst="roundRect">
            <a:avLst>
              <a:gd name="adj" fmla="val 6227"/>
            </a:avLst>
          </a:prstGeom>
          <a:solidFill>
            <a:srgbClr val="FDFEFF"/>
          </a:solidFill>
          <a:ln/>
          <a:effectLst>
            <a:outerShdw sx="100000" sy="100000" kx="0" ky="0" algn="bl" rotWithShape="0" blurRad="152400" dist="50800" dir="5400000">
              <a:srgbClr val="5364CE">
                <a:alpha val="13000"/>
              </a:srgbClr>
            </a:outerShdw>
          </a:effectLst>
        </p:spPr>
      </p:sp>
      <p:sp>
        <p:nvSpPr>
          <p:cNvPr id="32" name="Text 30"/>
          <p:cNvSpPr txBox="1"/>
          <p:nvPr/>
        </p:nvSpPr>
        <p:spPr>
          <a:xfrm>
            <a:off x="8641080" y="1920240"/>
            <a:ext cx="2590495" cy="320040"/>
          </a:xfrm>
          <a:prstGeom prst="rect">
            <a:avLst/>
          </a:prstGeom>
          <a:noFill/>
          <a:ln/>
        </p:spPr>
        <p:txBody>
          <a:bodyPr wrap="square" lIns="0" tIns="0" rIns="0" bIns="0" rtlCol="0" anchor="t"/>
          <a:lstStyle/>
          <a:p>
            <a:pPr algn="l" indent="0" marL="0">
              <a:lnSpc>
                <a:spcPct val="115000"/>
              </a:lnSpc>
              <a:buNone/>
            </a:pPr>
            <a:r>
              <a:rPr lang="en-US" sz="1200" b="1" dirty="0">
                <a:solidFill>
                  <a:srgbClr val="8A91AA"/>
                </a:solidFill>
                <a:latin typeface="Malgun Gothic" pitchFamily="34" charset="0"/>
                <a:ea typeface="Malgun Gothic" pitchFamily="34" charset="-122"/>
                <a:cs typeface="Malgun Gothic" pitchFamily="34" charset="-120"/>
              </a:rPr>
              <a:t>처음의 한 문장</a:t>
            </a:r>
            <a:endParaRPr lang="en-US" sz="1200" dirty="0"/>
          </a:p>
        </p:txBody>
      </p:sp>
      <p:sp>
        <p:nvSpPr>
          <p:cNvPr id="33" name="Text 31"/>
          <p:cNvSpPr txBox="1"/>
          <p:nvPr/>
        </p:nvSpPr>
        <p:spPr>
          <a:xfrm>
            <a:off x="8641080" y="2240280"/>
            <a:ext cx="2590495" cy="868680"/>
          </a:xfrm>
          <a:prstGeom prst="rect">
            <a:avLst/>
          </a:prstGeom>
          <a:noFill/>
          <a:ln/>
        </p:spPr>
        <p:txBody>
          <a:bodyPr wrap="square" lIns="0" tIns="0" rIns="0" bIns="0" rtlCol="0" anchor="t"/>
          <a:lstStyle/>
          <a:p>
            <a:pPr algn="l" indent="0" marL="0">
              <a:lnSpc>
                <a:spcPct val="130000"/>
              </a:lnSpc>
              <a:buNone/>
            </a:pPr>
            <a:r>
              <a:rPr lang="en-US" sz="1700" b="1" dirty="0">
                <a:solidFill>
                  <a:srgbClr val="39405C"/>
                </a:solidFill>
                <a:latin typeface="Malgun Gothic" pitchFamily="34" charset="0"/>
                <a:ea typeface="Malgun Gothic" pitchFamily="34" charset="-122"/>
                <a:cs typeface="Malgun Gothic" pitchFamily="34" charset="-120"/>
              </a:rPr>
              <a:t>“아이 그림을 움직이고</a:t>
            </a:r>
            <a:endParaRPr lang="en-US" sz="1700" dirty="0"/>
          </a:p>
          <a:p>
            <a:pPr algn="l" indent="0" marL="0">
              <a:lnSpc>
                <a:spcPct val="130000"/>
              </a:lnSpc>
              <a:buNone/>
            </a:pPr>
            <a:r>
              <a:rPr lang="en-US" sz="1700" b="1" dirty="0">
                <a:solidFill>
                  <a:srgbClr val="39405C"/>
                </a:solidFill>
                <a:latin typeface="Malgun Gothic" pitchFamily="34" charset="0"/>
                <a:ea typeface="Malgun Gothic" pitchFamily="34" charset="-122"/>
                <a:cs typeface="Malgun Gothic" pitchFamily="34" charset="-120"/>
              </a:rPr>
              <a:t>이야기로 만들어 보자.”</a:t>
            </a:r>
            <a:endParaRPr lang="en-US" sz="1700" dirty="0"/>
          </a:p>
        </p:txBody>
      </p:sp>
      <p:sp>
        <p:nvSpPr>
          <p:cNvPr id="34" name="Text 32"/>
          <p:cNvSpPr txBox="1"/>
          <p:nvPr/>
        </p:nvSpPr>
        <p:spPr>
          <a:xfrm>
            <a:off x="8641080" y="3246120"/>
            <a:ext cx="2590495" cy="320040"/>
          </a:xfrm>
          <a:prstGeom prst="rect">
            <a:avLst/>
          </a:prstGeom>
          <a:noFill/>
          <a:ln/>
        </p:spPr>
        <p:txBody>
          <a:bodyPr wrap="square" lIns="0" tIns="0" rIns="0" bIns="0" rtlCol="0" anchor="t"/>
          <a:lstStyle/>
          <a:p>
            <a:pPr algn="l"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10월 2일까지 이렇게 나누어 구체화했습니다</a:t>
            </a:r>
            <a:endParaRPr lang="en-US" sz="1200" dirty="0"/>
          </a:p>
        </p:txBody>
      </p:sp>
      <p:sp>
        <p:nvSpPr>
          <p:cNvPr id="35" name="Shape 33"/>
          <p:cNvSpPr/>
          <p:nvPr/>
        </p:nvSpPr>
        <p:spPr>
          <a:xfrm>
            <a:off x="8641080" y="3657600"/>
            <a:ext cx="1261872" cy="365760"/>
          </a:xfrm>
          <a:prstGeom prst="roundRect">
            <a:avLst>
              <a:gd name="adj" fmla="val 50000"/>
            </a:avLst>
          </a:prstGeom>
          <a:solidFill>
            <a:srgbClr val="EDF0FE"/>
          </a:solidFill>
          <a:ln/>
        </p:spPr>
      </p:sp>
      <p:sp>
        <p:nvSpPr>
          <p:cNvPr id="36" name="Text 34"/>
          <p:cNvSpPr txBox="1"/>
          <p:nvPr/>
        </p:nvSpPr>
        <p:spPr>
          <a:xfrm>
            <a:off x="8641080" y="365760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화면</a:t>
            </a:r>
            <a:endParaRPr lang="en-US" sz="1150" dirty="0"/>
          </a:p>
        </p:txBody>
      </p:sp>
      <p:sp>
        <p:nvSpPr>
          <p:cNvPr id="37" name="Shape 35"/>
          <p:cNvSpPr/>
          <p:nvPr/>
        </p:nvSpPr>
        <p:spPr>
          <a:xfrm>
            <a:off x="10012680" y="3657600"/>
            <a:ext cx="1261872" cy="365760"/>
          </a:xfrm>
          <a:prstGeom prst="roundRect">
            <a:avLst>
              <a:gd name="adj" fmla="val 50000"/>
            </a:avLst>
          </a:prstGeom>
          <a:solidFill>
            <a:srgbClr val="EDF0FE"/>
          </a:solidFill>
          <a:ln/>
        </p:spPr>
      </p:sp>
      <p:sp>
        <p:nvSpPr>
          <p:cNvPr id="38" name="Text 36"/>
          <p:cNvSpPr txBox="1"/>
          <p:nvPr/>
        </p:nvSpPr>
        <p:spPr>
          <a:xfrm>
            <a:off x="10012680" y="365760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기능</a:t>
            </a:r>
            <a:endParaRPr lang="en-US" sz="1150" dirty="0"/>
          </a:p>
        </p:txBody>
      </p:sp>
      <p:sp>
        <p:nvSpPr>
          <p:cNvPr id="39" name="Shape 37"/>
          <p:cNvSpPr/>
          <p:nvPr/>
        </p:nvSpPr>
        <p:spPr>
          <a:xfrm>
            <a:off x="8641080" y="4160520"/>
            <a:ext cx="1261872" cy="365760"/>
          </a:xfrm>
          <a:prstGeom prst="roundRect">
            <a:avLst>
              <a:gd name="adj" fmla="val 50000"/>
            </a:avLst>
          </a:prstGeom>
          <a:solidFill>
            <a:srgbClr val="EDF0FE"/>
          </a:solidFill>
          <a:ln/>
        </p:spPr>
      </p:sp>
      <p:sp>
        <p:nvSpPr>
          <p:cNvPr id="40" name="Text 38"/>
          <p:cNvSpPr txBox="1"/>
          <p:nvPr/>
        </p:nvSpPr>
        <p:spPr>
          <a:xfrm>
            <a:off x="8641080" y="416052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Backend</a:t>
            </a:r>
            <a:endParaRPr lang="en-US" sz="1150" dirty="0"/>
          </a:p>
        </p:txBody>
      </p:sp>
      <p:sp>
        <p:nvSpPr>
          <p:cNvPr id="41" name="Shape 39"/>
          <p:cNvSpPr/>
          <p:nvPr/>
        </p:nvSpPr>
        <p:spPr>
          <a:xfrm>
            <a:off x="10012680" y="4160520"/>
            <a:ext cx="1261872" cy="365760"/>
          </a:xfrm>
          <a:prstGeom prst="roundRect">
            <a:avLst>
              <a:gd name="adj" fmla="val 50000"/>
            </a:avLst>
          </a:prstGeom>
          <a:solidFill>
            <a:srgbClr val="EDF0FE"/>
          </a:solidFill>
          <a:ln/>
        </p:spPr>
      </p:sp>
      <p:sp>
        <p:nvSpPr>
          <p:cNvPr id="42" name="Text 40"/>
          <p:cNvSpPr txBox="1"/>
          <p:nvPr/>
        </p:nvSpPr>
        <p:spPr>
          <a:xfrm>
            <a:off x="10012680" y="416052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AI Runtime</a:t>
            </a:r>
            <a:endParaRPr lang="en-US" sz="1150" dirty="0"/>
          </a:p>
        </p:txBody>
      </p:sp>
      <p:sp>
        <p:nvSpPr>
          <p:cNvPr id="43" name="Shape 41"/>
          <p:cNvSpPr/>
          <p:nvPr/>
        </p:nvSpPr>
        <p:spPr>
          <a:xfrm>
            <a:off x="8641080" y="4663440"/>
            <a:ext cx="1261872" cy="365760"/>
          </a:xfrm>
          <a:prstGeom prst="roundRect">
            <a:avLst>
              <a:gd name="adj" fmla="val 50000"/>
            </a:avLst>
          </a:prstGeom>
          <a:solidFill>
            <a:srgbClr val="EDF0FE"/>
          </a:solidFill>
          <a:ln/>
        </p:spPr>
      </p:sp>
      <p:sp>
        <p:nvSpPr>
          <p:cNvPr id="44" name="Text 42"/>
          <p:cNvSpPr txBox="1"/>
          <p:nvPr/>
        </p:nvSpPr>
        <p:spPr>
          <a:xfrm>
            <a:off x="8641080" y="466344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AI Model</a:t>
            </a:r>
            <a:endParaRPr lang="en-US" sz="1150" dirty="0"/>
          </a:p>
        </p:txBody>
      </p:sp>
      <p:sp>
        <p:nvSpPr>
          <p:cNvPr id="45" name="Shape 43"/>
          <p:cNvSpPr/>
          <p:nvPr/>
        </p:nvSpPr>
        <p:spPr>
          <a:xfrm>
            <a:off x="10012680" y="4663440"/>
            <a:ext cx="1261872" cy="365760"/>
          </a:xfrm>
          <a:prstGeom prst="roundRect">
            <a:avLst>
              <a:gd name="adj" fmla="val 50000"/>
            </a:avLst>
          </a:prstGeom>
          <a:solidFill>
            <a:srgbClr val="EDF0FE"/>
          </a:solidFill>
          <a:ln/>
        </p:spPr>
      </p:sp>
      <p:sp>
        <p:nvSpPr>
          <p:cNvPr id="46" name="Text 44"/>
          <p:cNvSpPr txBox="1"/>
          <p:nvPr/>
        </p:nvSpPr>
        <p:spPr>
          <a:xfrm>
            <a:off x="10012680" y="466344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Dataset</a:t>
            </a:r>
            <a:endParaRPr lang="en-US" sz="1150" dirty="0"/>
          </a:p>
        </p:txBody>
      </p:sp>
      <p:sp>
        <p:nvSpPr>
          <p:cNvPr id="47" name="Shape 45"/>
          <p:cNvSpPr/>
          <p:nvPr/>
        </p:nvSpPr>
        <p:spPr>
          <a:xfrm>
            <a:off x="8641080" y="5166360"/>
            <a:ext cx="1261872" cy="365760"/>
          </a:xfrm>
          <a:prstGeom prst="roundRect">
            <a:avLst>
              <a:gd name="adj" fmla="val 50000"/>
            </a:avLst>
          </a:prstGeom>
          <a:solidFill>
            <a:srgbClr val="EDF0FE"/>
          </a:solidFill>
          <a:ln/>
        </p:spPr>
      </p:sp>
      <p:sp>
        <p:nvSpPr>
          <p:cNvPr id="48" name="Text 46"/>
          <p:cNvSpPr txBox="1"/>
          <p:nvPr/>
        </p:nvSpPr>
        <p:spPr>
          <a:xfrm>
            <a:off x="8641080" y="5166360"/>
            <a:ext cx="1261872" cy="365760"/>
          </a:xfrm>
          <a:prstGeom prst="rect">
            <a:avLst/>
          </a:prstGeom>
          <a:noFill/>
          <a:ln/>
        </p:spPr>
        <p:txBody>
          <a:bodyPr wrap="square" lIns="0" tIns="0" rIns="0" bIns="0" rtlCol="0" anchor="ctr"/>
          <a:lstStyle/>
          <a:p>
            <a:pPr algn="ctr"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시스템 구조</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14</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B · 팀 역할 분담</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네 명이 나누어 맡고, 연결되는 곳은 함께 정했습니다</a:t>
            </a:r>
            <a:endParaRPr lang="en-US" sz="3000" dirty="0"/>
          </a:p>
        </p:txBody>
      </p:sp>
      <p:sp>
        <p:nvSpPr>
          <p:cNvPr id="5" name="Shape 3"/>
          <p:cNvSpPr/>
          <p:nvPr/>
        </p:nvSpPr>
        <p:spPr>
          <a:xfrm>
            <a:off x="640080" y="1783080"/>
            <a:ext cx="2522144" cy="2788920"/>
          </a:xfrm>
          <a:prstGeom prst="roundRect">
            <a:avLst>
              <a:gd name="adj" fmla="val 7976"/>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960120" y="2103120"/>
            <a:ext cx="731520" cy="731520"/>
          </a:xfrm>
          <a:prstGeom prst="ellipse">
            <a:avLst/>
          </a:prstGeom>
          <a:solidFill>
            <a:srgbClr val="DCEBFC"/>
          </a:solidFill>
          <a:ln/>
        </p:spPr>
      </p:sp>
      <p:sp>
        <p:nvSpPr>
          <p:cNvPr id="7" name="Text 5"/>
          <p:cNvSpPr txBox="1"/>
          <p:nvPr/>
        </p:nvSpPr>
        <p:spPr>
          <a:xfrm>
            <a:off x="960120" y="2103120"/>
            <a:ext cx="731520" cy="731520"/>
          </a:xfrm>
          <a:prstGeom prst="rect">
            <a:avLst/>
          </a:prstGeom>
          <a:noFill/>
          <a:ln/>
        </p:spPr>
        <p:txBody>
          <a:bodyPr wrap="square" lIns="0" tIns="0" rIns="0" bIns="0" rtlCol="0" anchor="ctr"/>
          <a:lstStyle/>
          <a:p>
            <a:pPr algn="ctr" indent="0" marL="0">
              <a:lnSpc>
                <a:spcPct val="115000"/>
              </a:lnSpc>
              <a:buNone/>
            </a:pPr>
            <a:r>
              <a:rPr lang="en-US" sz="2000" b="1" dirty="0">
                <a:solidFill>
                  <a:srgbClr val="39405C"/>
                </a:solidFill>
                <a:latin typeface="Malgun Gothic" pitchFamily="34" charset="0"/>
                <a:ea typeface="Malgun Gothic" pitchFamily="34" charset="-122"/>
                <a:cs typeface="Malgun Gothic" pitchFamily="34" charset="-120"/>
              </a:rPr>
              <a:t>육</a:t>
            </a:r>
            <a:endParaRPr lang="en-US" sz="2000" dirty="0"/>
          </a:p>
        </p:txBody>
      </p:sp>
      <p:sp>
        <p:nvSpPr>
          <p:cNvPr id="8" name="Text 6"/>
          <p:cNvSpPr txBox="1"/>
          <p:nvPr/>
        </p:nvSpPr>
        <p:spPr>
          <a:xfrm>
            <a:off x="1828800" y="2130552"/>
            <a:ext cx="1150544" cy="365760"/>
          </a:xfrm>
          <a:prstGeom prst="rect">
            <a:avLst/>
          </a:prstGeom>
          <a:noFill/>
          <a:ln/>
        </p:spPr>
        <p:txBody>
          <a:bodyPr wrap="square" lIns="0" tIns="0" rIns="0" bIns="0" rtlCol="0" anchor="t"/>
          <a:lstStyle/>
          <a:p>
            <a:pPr algn="l" indent="0" marL="0">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육도현</a:t>
            </a:r>
            <a:endParaRPr lang="en-US" sz="1800" dirty="0"/>
          </a:p>
        </p:txBody>
      </p:sp>
      <p:sp>
        <p:nvSpPr>
          <p:cNvPr id="9" name="Text 7"/>
          <p:cNvSpPr txBox="1"/>
          <p:nvPr/>
        </p:nvSpPr>
        <p:spPr>
          <a:xfrm>
            <a:off x="1828800" y="2496312"/>
            <a:ext cx="1150544" cy="320040"/>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Frontend / Joint</a:t>
            </a:r>
            <a:endParaRPr lang="en-US" sz="1150" dirty="0"/>
          </a:p>
        </p:txBody>
      </p:sp>
      <p:sp>
        <p:nvSpPr>
          <p:cNvPr id="10" name="Text 8"/>
          <p:cNvSpPr txBox="1"/>
          <p:nvPr/>
        </p:nvSpPr>
        <p:spPr>
          <a:xfrm>
            <a:off x="960120" y="3154680"/>
            <a:ext cx="1882064" cy="274320"/>
          </a:xfrm>
          <a:prstGeom prst="rect">
            <a:avLst/>
          </a:prstGeom>
          <a:noFill/>
          <a:ln/>
        </p:spPr>
        <p:txBody>
          <a:bodyPr wrap="square" lIns="0" tIns="0" rIns="0" bIns="0" rtlCol="0" anchor="t"/>
          <a:lstStyle/>
          <a:p>
            <a:pPr algn="l" indent="0" marL="0">
              <a:lnSpc>
                <a:spcPct val="115000"/>
              </a:lnSpc>
              <a:buNone/>
            </a:pPr>
            <a:r>
              <a:rPr lang="en-US" sz="1050" b="1" dirty="0">
                <a:solidFill>
                  <a:srgbClr val="8A91AA"/>
                </a:solidFill>
                <a:latin typeface="Malgun Gothic" pitchFamily="34" charset="0"/>
                <a:ea typeface="Malgun Gothic" pitchFamily="34" charset="-122"/>
                <a:cs typeface="Malgun Gothic" pitchFamily="34" charset="-120"/>
              </a:rPr>
              <a:t>10/2까지 대표 작업물</a:t>
            </a:r>
            <a:endParaRPr lang="en-US" sz="1050" dirty="0"/>
          </a:p>
        </p:txBody>
      </p:sp>
      <p:sp>
        <p:nvSpPr>
          <p:cNvPr id="11" name="Text 9"/>
          <p:cNvSpPr txBox="1"/>
          <p:nvPr/>
        </p:nvSpPr>
        <p:spPr>
          <a:xfrm>
            <a:off x="960120" y="3474720"/>
            <a:ext cx="1882064" cy="914400"/>
          </a:xfrm>
          <a:prstGeom prst="rect">
            <a:avLst/>
          </a:prstGeom>
          <a:noFill/>
          <a:ln/>
        </p:spPr>
        <p:txBody>
          <a:bodyPr wrap="square" lIns="0" tIns="0" rIns="0" bIns="0" rtlCol="0" anchor="t"/>
          <a:lstStyle/>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화면설계서</a:t>
            </a:r>
            <a:endParaRPr lang="en-US" sz="1400" dirty="0"/>
          </a:p>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사용자 Flow Setting</a:t>
            </a:r>
            <a:endParaRPr lang="en-US" sz="1400" dirty="0"/>
          </a:p>
        </p:txBody>
      </p:sp>
      <p:sp>
        <p:nvSpPr>
          <p:cNvPr id="12" name="Shape 10"/>
          <p:cNvSpPr/>
          <p:nvPr/>
        </p:nvSpPr>
        <p:spPr>
          <a:xfrm>
            <a:off x="3436544" y="1783080"/>
            <a:ext cx="2522144" cy="2788920"/>
          </a:xfrm>
          <a:prstGeom prst="roundRect">
            <a:avLst>
              <a:gd name="adj" fmla="val 7976"/>
            </a:avLst>
          </a:prstGeom>
          <a:solidFill>
            <a:srgbClr val="FDFEFF"/>
          </a:solidFill>
          <a:ln/>
          <a:effectLst>
            <a:outerShdw sx="100000" sy="100000" kx="0" ky="0" algn="bl" rotWithShape="0" blurRad="152400" dist="50800" dir="5400000">
              <a:srgbClr val="5364CE">
                <a:alpha val="13000"/>
              </a:srgbClr>
            </a:outerShdw>
          </a:effectLst>
        </p:spPr>
      </p:sp>
      <p:sp>
        <p:nvSpPr>
          <p:cNvPr id="13" name="Shape 11"/>
          <p:cNvSpPr/>
          <p:nvPr/>
        </p:nvSpPr>
        <p:spPr>
          <a:xfrm>
            <a:off x="3756584" y="2103120"/>
            <a:ext cx="731520" cy="731520"/>
          </a:xfrm>
          <a:prstGeom prst="ellipse">
            <a:avLst/>
          </a:prstGeom>
          <a:solidFill>
            <a:srgbClr val="D9F2E9"/>
          </a:solidFill>
          <a:ln/>
        </p:spPr>
      </p:sp>
      <p:sp>
        <p:nvSpPr>
          <p:cNvPr id="14" name="Text 12"/>
          <p:cNvSpPr txBox="1"/>
          <p:nvPr/>
        </p:nvSpPr>
        <p:spPr>
          <a:xfrm>
            <a:off x="3756584" y="2103120"/>
            <a:ext cx="731520" cy="731520"/>
          </a:xfrm>
          <a:prstGeom prst="rect">
            <a:avLst/>
          </a:prstGeom>
          <a:noFill/>
          <a:ln/>
        </p:spPr>
        <p:txBody>
          <a:bodyPr wrap="square" lIns="0" tIns="0" rIns="0" bIns="0" rtlCol="0" anchor="ctr"/>
          <a:lstStyle/>
          <a:p>
            <a:pPr algn="ctr" indent="0" marL="0">
              <a:lnSpc>
                <a:spcPct val="115000"/>
              </a:lnSpc>
              <a:buNone/>
            </a:pPr>
            <a:r>
              <a:rPr lang="en-US" sz="2000" b="1" dirty="0">
                <a:solidFill>
                  <a:srgbClr val="39405C"/>
                </a:solidFill>
                <a:latin typeface="Malgun Gothic" pitchFamily="34" charset="0"/>
                <a:ea typeface="Malgun Gothic" pitchFamily="34" charset="-122"/>
                <a:cs typeface="Malgun Gothic" pitchFamily="34" charset="-120"/>
              </a:rPr>
              <a:t>서</a:t>
            </a:r>
            <a:endParaRPr lang="en-US" sz="2000" dirty="0"/>
          </a:p>
        </p:txBody>
      </p:sp>
      <p:sp>
        <p:nvSpPr>
          <p:cNvPr id="15" name="Text 13"/>
          <p:cNvSpPr txBox="1"/>
          <p:nvPr/>
        </p:nvSpPr>
        <p:spPr>
          <a:xfrm>
            <a:off x="4625264" y="2130552"/>
            <a:ext cx="1150544" cy="365760"/>
          </a:xfrm>
          <a:prstGeom prst="rect">
            <a:avLst/>
          </a:prstGeom>
          <a:noFill/>
          <a:ln/>
        </p:spPr>
        <p:txBody>
          <a:bodyPr wrap="square" lIns="0" tIns="0" rIns="0" bIns="0" rtlCol="0" anchor="t"/>
          <a:lstStyle/>
          <a:p>
            <a:pPr algn="l" indent="0" marL="0">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서민지</a:t>
            </a:r>
            <a:endParaRPr lang="en-US" sz="1800" dirty="0"/>
          </a:p>
        </p:txBody>
      </p:sp>
      <p:sp>
        <p:nvSpPr>
          <p:cNvPr id="16" name="Text 14"/>
          <p:cNvSpPr txBox="1"/>
          <p:nvPr/>
        </p:nvSpPr>
        <p:spPr>
          <a:xfrm>
            <a:off x="4625264" y="2496312"/>
            <a:ext cx="1150544" cy="320040"/>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Backend / PM</a:t>
            </a:r>
            <a:endParaRPr lang="en-US" sz="1150" dirty="0"/>
          </a:p>
        </p:txBody>
      </p:sp>
      <p:sp>
        <p:nvSpPr>
          <p:cNvPr id="17" name="Text 15"/>
          <p:cNvSpPr txBox="1"/>
          <p:nvPr/>
        </p:nvSpPr>
        <p:spPr>
          <a:xfrm>
            <a:off x="3756584" y="3154680"/>
            <a:ext cx="1882064" cy="274320"/>
          </a:xfrm>
          <a:prstGeom prst="rect">
            <a:avLst/>
          </a:prstGeom>
          <a:noFill/>
          <a:ln/>
        </p:spPr>
        <p:txBody>
          <a:bodyPr wrap="square" lIns="0" tIns="0" rIns="0" bIns="0" rtlCol="0" anchor="t"/>
          <a:lstStyle/>
          <a:p>
            <a:pPr algn="l" indent="0" marL="0">
              <a:lnSpc>
                <a:spcPct val="115000"/>
              </a:lnSpc>
              <a:buNone/>
            </a:pPr>
            <a:r>
              <a:rPr lang="en-US" sz="1050" b="1" dirty="0">
                <a:solidFill>
                  <a:srgbClr val="8A91AA"/>
                </a:solidFill>
                <a:latin typeface="Malgun Gothic" pitchFamily="34" charset="0"/>
                <a:ea typeface="Malgun Gothic" pitchFamily="34" charset="-122"/>
                <a:cs typeface="Malgun Gothic" pitchFamily="34" charset="-120"/>
              </a:rPr>
              <a:t>10/2까지 대표 작업물</a:t>
            </a:r>
            <a:endParaRPr lang="en-US" sz="1050" dirty="0"/>
          </a:p>
        </p:txBody>
      </p:sp>
      <p:sp>
        <p:nvSpPr>
          <p:cNvPr id="18" name="Text 16"/>
          <p:cNvSpPr txBox="1"/>
          <p:nvPr/>
        </p:nvSpPr>
        <p:spPr>
          <a:xfrm>
            <a:off x="3756584" y="3474720"/>
            <a:ext cx="1882064" cy="914400"/>
          </a:xfrm>
          <a:prstGeom prst="rect">
            <a:avLst/>
          </a:prstGeom>
          <a:noFill/>
          <a:ln/>
        </p:spPr>
        <p:txBody>
          <a:bodyPr wrap="square" lIns="0" tIns="0" rIns="0" bIns="0" rtlCol="0" anchor="t"/>
          <a:lstStyle/>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기능정의서</a:t>
            </a:r>
            <a:endParaRPr lang="en-US" sz="1400" dirty="0"/>
          </a:p>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API · DB 구조, WBS</a:t>
            </a:r>
            <a:endParaRPr lang="en-US" sz="1400" dirty="0"/>
          </a:p>
        </p:txBody>
      </p:sp>
      <p:sp>
        <p:nvSpPr>
          <p:cNvPr id="19" name="Shape 17"/>
          <p:cNvSpPr/>
          <p:nvPr/>
        </p:nvSpPr>
        <p:spPr>
          <a:xfrm>
            <a:off x="6233008" y="1783080"/>
            <a:ext cx="2522144" cy="2788920"/>
          </a:xfrm>
          <a:prstGeom prst="roundRect">
            <a:avLst>
              <a:gd name="adj" fmla="val 7976"/>
            </a:avLst>
          </a:prstGeom>
          <a:solidFill>
            <a:srgbClr val="FDFEFF"/>
          </a:solidFill>
          <a:ln/>
          <a:effectLst>
            <a:outerShdw sx="100000" sy="100000" kx="0" ky="0" algn="bl" rotWithShape="0" blurRad="152400" dist="50800" dir="5400000">
              <a:srgbClr val="5364CE">
                <a:alpha val="13000"/>
              </a:srgbClr>
            </a:outerShdw>
          </a:effectLst>
        </p:spPr>
      </p:sp>
      <p:sp>
        <p:nvSpPr>
          <p:cNvPr id="20" name="Shape 18"/>
          <p:cNvSpPr/>
          <p:nvPr/>
        </p:nvSpPr>
        <p:spPr>
          <a:xfrm>
            <a:off x="6553048" y="2103120"/>
            <a:ext cx="731520" cy="731520"/>
          </a:xfrm>
          <a:prstGeom prst="ellipse">
            <a:avLst/>
          </a:prstGeom>
          <a:solidFill>
            <a:srgbClr val="FDE3E7"/>
          </a:solidFill>
          <a:ln/>
        </p:spPr>
      </p:sp>
      <p:sp>
        <p:nvSpPr>
          <p:cNvPr id="21" name="Text 19"/>
          <p:cNvSpPr txBox="1"/>
          <p:nvPr/>
        </p:nvSpPr>
        <p:spPr>
          <a:xfrm>
            <a:off x="6553048" y="2103120"/>
            <a:ext cx="731520" cy="731520"/>
          </a:xfrm>
          <a:prstGeom prst="rect">
            <a:avLst/>
          </a:prstGeom>
          <a:noFill/>
          <a:ln/>
        </p:spPr>
        <p:txBody>
          <a:bodyPr wrap="square" lIns="0" tIns="0" rIns="0" bIns="0" rtlCol="0" anchor="ctr"/>
          <a:lstStyle/>
          <a:p>
            <a:pPr algn="ctr" indent="0" marL="0">
              <a:lnSpc>
                <a:spcPct val="115000"/>
              </a:lnSpc>
              <a:buNone/>
            </a:pPr>
            <a:r>
              <a:rPr lang="en-US" sz="2000" b="1" dirty="0">
                <a:solidFill>
                  <a:srgbClr val="39405C"/>
                </a:solidFill>
                <a:latin typeface="Malgun Gothic" pitchFamily="34" charset="0"/>
                <a:ea typeface="Malgun Gothic" pitchFamily="34" charset="-122"/>
                <a:cs typeface="Malgun Gothic" pitchFamily="34" charset="-120"/>
              </a:rPr>
              <a:t>김</a:t>
            </a:r>
            <a:endParaRPr lang="en-US" sz="2000" dirty="0"/>
          </a:p>
        </p:txBody>
      </p:sp>
      <p:sp>
        <p:nvSpPr>
          <p:cNvPr id="22" name="Text 20"/>
          <p:cNvSpPr txBox="1"/>
          <p:nvPr/>
        </p:nvSpPr>
        <p:spPr>
          <a:xfrm>
            <a:off x="7421728" y="2130552"/>
            <a:ext cx="1150544" cy="365760"/>
          </a:xfrm>
          <a:prstGeom prst="rect">
            <a:avLst/>
          </a:prstGeom>
          <a:noFill/>
          <a:ln/>
        </p:spPr>
        <p:txBody>
          <a:bodyPr wrap="square" lIns="0" tIns="0" rIns="0" bIns="0" rtlCol="0" anchor="t"/>
          <a:lstStyle/>
          <a:p>
            <a:pPr algn="l" indent="0" marL="0">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김수정</a:t>
            </a:r>
            <a:endParaRPr lang="en-US" sz="1800" dirty="0"/>
          </a:p>
        </p:txBody>
      </p:sp>
      <p:sp>
        <p:nvSpPr>
          <p:cNvPr id="23" name="Text 21"/>
          <p:cNvSpPr txBox="1"/>
          <p:nvPr/>
        </p:nvSpPr>
        <p:spPr>
          <a:xfrm>
            <a:off x="7421728" y="2496312"/>
            <a:ext cx="1150544" cy="320040"/>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A1 AI Runtime</a:t>
            </a:r>
            <a:endParaRPr lang="en-US" sz="1150" dirty="0"/>
          </a:p>
        </p:txBody>
      </p:sp>
      <p:sp>
        <p:nvSpPr>
          <p:cNvPr id="24" name="Text 22"/>
          <p:cNvSpPr txBox="1"/>
          <p:nvPr/>
        </p:nvSpPr>
        <p:spPr>
          <a:xfrm>
            <a:off x="6553048" y="3154680"/>
            <a:ext cx="1882064" cy="274320"/>
          </a:xfrm>
          <a:prstGeom prst="rect">
            <a:avLst/>
          </a:prstGeom>
          <a:noFill/>
          <a:ln/>
        </p:spPr>
        <p:txBody>
          <a:bodyPr wrap="square" lIns="0" tIns="0" rIns="0" bIns="0" rtlCol="0" anchor="t"/>
          <a:lstStyle/>
          <a:p>
            <a:pPr algn="l" indent="0" marL="0">
              <a:lnSpc>
                <a:spcPct val="115000"/>
              </a:lnSpc>
              <a:buNone/>
            </a:pPr>
            <a:r>
              <a:rPr lang="en-US" sz="1050" b="1" dirty="0">
                <a:solidFill>
                  <a:srgbClr val="8A91AA"/>
                </a:solidFill>
                <a:latin typeface="Malgun Gothic" pitchFamily="34" charset="0"/>
                <a:ea typeface="Malgun Gothic" pitchFamily="34" charset="-122"/>
                <a:cs typeface="Malgun Gothic" pitchFamily="34" charset="-120"/>
              </a:rPr>
              <a:t>10/2까지 대표 작업물</a:t>
            </a:r>
            <a:endParaRPr lang="en-US" sz="1050" dirty="0"/>
          </a:p>
        </p:txBody>
      </p:sp>
      <p:sp>
        <p:nvSpPr>
          <p:cNvPr id="25" name="Text 23"/>
          <p:cNvSpPr txBox="1"/>
          <p:nvPr/>
        </p:nvSpPr>
        <p:spPr>
          <a:xfrm>
            <a:off x="6553048" y="3474720"/>
            <a:ext cx="1882064" cy="914400"/>
          </a:xfrm>
          <a:prstGeom prst="rect">
            <a:avLst/>
          </a:prstGeom>
          <a:noFill/>
          <a:ln/>
        </p:spPr>
        <p:txBody>
          <a:bodyPr wrap="square" lIns="0" tIns="0" rIns="0" bIns="0" rtlCol="0" anchor="t"/>
          <a:lstStyle/>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Flow Chart</a:t>
            </a:r>
            <a:endParaRPr lang="en-US" sz="1400" dirty="0"/>
          </a:p>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AI Runtime Pipeline</a:t>
            </a:r>
            <a:endParaRPr lang="en-US" sz="1400" dirty="0"/>
          </a:p>
        </p:txBody>
      </p:sp>
      <p:sp>
        <p:nvSpPr>
          <p:cNvPr id="26" name="Shape 24"/>
          <p:cNvSpPr/>
          <p:nvPr/>
        </p:nvSpPr>
        <p:spPr>
          <a:xfrm>
            <a:off x="9029471" y="1783080"/>
            <a:ext cx="2522144" cy="2788920"/>
          </a:xfrm>
          <a:prstGeom prst="roundRect">
            <a:avLst>
              <a:gd name="adj" fmla="val 7976"/>
            </a:avLst>
          </a:prstGeom>
          <a:solidFill>
            <a:srgbClr val="FDFEFF"/>
          </a:solidFill>
          <a:ln/>
          <a:effectLst>
            <a:outerShdw sx="100000" sy="100000" kx="0" ky="0" algn="bl" rotWithShape="0" blurRad="152400" dist="50800" dir="5400000">
              <a:srgbClr val="5364CE">
                <a:alpha val="13000"/>
              </a:srgbClr>
            </a:outerShdw>
          </a:effectLst>
        </p:spPr>
      </p:sp>
      <p:sp>
        <p:nvSpPr>
          <p:cNvPr id="27" name="Shape 25"/>
          <p:cNvSpPr/>
          <p:nvPr/>
        </p:nvSpPr>
        <p:spPr>
          <a:xfrm>
            <a:off x="9349511" y="2103120"/>
            <a:ext cx="731520" cy="731520"/>
          </a:xfrm>
          <a:prstGeom prst="ellipse">
            <a:avLst/>
          </a:prstGeom>
          <a:solidFill>
            <a:srgbClr val="FDEFD2"/>
          </a:solidFill>
          <a:ln/>
        </p:spPr>
      </p:sp>
      <p:sp>
        <p:nvSpPr>
          <p:cNvPr id="28" name="Text 26"/>
          <p:cNvSpPr txBox="1"/>
          <p:nvPr/>
        </p:nvSpPr>
        <p:spPr>
          <a:xfrm>
            <a:off x="9349511" y="2103120"/>
            <a:ext cx="731520" cy="731520"/>
          </a:xfrm>
          <a:prstGeom prst="rect">
            <a:avLst/>
          </a:prstGeom>
          <a:noFill/>
          <a:ln/>
        </p:spPr>
        <p:txBody>
          <a:bodyPr wrap="square" lIns="0" tIns="0" rIns="0" bIns="0" rtlCol="0" anchor="ctr"/>
          <a:lstStyle/>
          <a:p>
            <a:pPr algn="ctr" indent="0" marL="0">
              <a:lnSpc>
                <a:spcPct val="115000"/>
              </a:lnSpc>
              <a:buNone/>
            </a:pPr>
            <a:r>
              <a:rPr lang="en-US" sz="2000" b="1" dirty="0">
                <a:solidFill>
                  <a:srgbClr val="39405C"/>
                </a:solidFill>
                <a:latin typeface="Malgun Gothic" pitchFamily="34" charset="0"/>
                <a:ea typeface="Malgun Gothic" pitchFamily="34" charset="-122"/>
                <a:cs typeface="Malgun Gothic" pitchFamily="34" charset="-120"/>
              </a:rPr>
              <a:t>김</a:t>
            </a:r>
            <a:endParaRPr lang="en-US" sz="2000" dirty="0"/>
          </a:p>
        </p:txBody>
      </p:sp>
      <p:sp>
        <p:nvSpPr>
          <p:cNvPr id="29" name="Text 27"/>
          <p:cNvSpPr txBox="1"/>
          <p:nvPr/>
        </p:nvSpPr>
        <p:spPr>
          <a:xfrm>
            <a:off x="10218191" y="2130552"/>
            <a:ext cx="1150544" cy="365760"/>
          </a:xfrm>
          <a:prstGeom prst="rect">
            <a:avLst/>
          </a:prstGeom>
          <a:noFill/>
          <a:ln/>
        </p:spPr>
        <p:txBody>
          <a:bodyPr wrap="square" lIns="0" tIns="0" rIns="0" bIns="0" rtlCol="0" anchor="t"/>
          <a:lstStyle/>
          <a:p>
            <a:pPr algn="l" indent="0" marL="0">
              <a:lnSpc>
                <a:spcPct val="115000"/>
              </a:lnSpc>
              <a:buNone/>
            </a:pPr>
            <a:r>
              <a:rPr lang="en-US" sz="1800" b="1" dirty="0">
                <a:solidFill>
                  <a:srgbClr val="39405C"/>
                </a:solidFill>
                <a:latin typeface="Malgun Gothic" pitchFamily="34" charset="0"/>
                <a:ea typeface="Malgun Gothic" pitchFamily="34" charset="-122"/>
                <a:cs typeface="Malgun Gothic" pitchFamily="34" charset="-120"/>
              </a:rPr>
              <a:t>김민준</a:t>
            </a:r>
            <a:endParaRPr lang="en-US" sz="1800" dirty="0"/>
          </a:p>
        </p:txBody>
      </p:sp>
      <p:sp>
        <p:nvSpPr>
          <p:cNvPr id="30" name="Text 28"/>
          <p:cNvSpPr txBox="1"/>
          <p:nvPr/>
        </p:nvSpPr>
        <p:spPr>
          <a:xfrm>
            <a:off x="10218191" y="2496312"/>
            <a:ext cx="1150544" cy="320040"/>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A2 Drawing Pose Model</a:t>
            </a:r>
            <a:endParaRPr lang="en-US" sz="1150" dirty="0"/>
          </a:p>
        </p:txBody>
      </p:sp>
      <p:sp>
        <p:nvSpPr>
          <p:cNvPr id="31" name="Text 29"/>
          <p:cNvSpPr txBox="1"/>
          <p:nvPr/>
        </p:nvSpPr>
        <p:spPr>
          <a:xfrm>
            <a:off x="9349511" y="3154680"/>
            <a:ext cx="1882064" cy="274320"/>
          </a:xfrm>
          <a:prstGeom prst="rect">
            <a:avLst/>
          </a:prstGeom>
          <a:noFill/>
          <a:ln/>
        </p:spPr>
        <p:txBody>
          <a:bodyPr wrap="square" lIns="0" tIns="0" rIns="0" bIns="0" rtlCol="0" anchor="t"/>
          <a:lstStyle/>
          <a:p>
            <a:pPr algn="l" indent="0" marL="0">
              <a:lnSpc>
                <a:spcPct val="115000"/>
              </a:lnSpc>
              <a:buNone/>
            </a:pPr>
            <a:r>
              <a:rPr lang="en-US" sz="1050" b="1" dirty="0">
                <a:solidFill>
                  <a:srgbClr val="8A91AA"/>
                </a:solidFill>
                <a:latin typeface="Malgun Gothic" pitchFamily="34" charset="0"/>
                <a:ea typeface="Malgun Gothic" pitchFamily="34" charset="-122"/>
                <a:cs typeface="Malgun Gothic" pitchFamily="34" charset="-120"/>
              </a:rPr>
              <a:t>10/2까지 대표 작업물</a:t>
            </a:r>
            <a:endParaRPr lang="en-US" sz="1050" dirty="0"/>
          </a:p>
        </p:txBody>
      </p:sp>
      <p:sp>
        <p:nvSpPr>
          <p:cNvPr id="32" name="Text 30"/>
          <p:cNvSpPr txBox="1"/>
          <p:nvPr/>
        </p:nvSpPr>
        <p:spPr>
          <a:xfrm>
            <a:off x="9349511" y="3474720"/>
            <a:ext cx="1882064" cy="914400"/>
          </a:xfrm>
          <a:prstGeom prst="rect">
            <a:avLst/>
          </a:prstGeom>
          <a:noFill/>
          <a:ln/>
        </p:spPr>
        <p:txBody>
          <a:bodyPr wrap="square" lIns="0" tIns="0" rIns="0" bIns="0" rtlCol="0" anchor="t"/>
          <a:lstStyle/>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시스템 아키텍처</a:t>
            </a:r>
            <a:endParaRPr lang="en-US" sz="1400" dirty="0"/>
          </a:p>
          <a:p>
            <a:pPr algn="l" indent="0" marL="0">
              <a:lnSpc>
                <a:spcPct val="135000"/>
              </a:lnSpc>
              <a:buNone/>
            </a:pPr>
            <a:r>
              <a:rPr lang="en-US" sz="1400" b="1" dirty="0">
                <a:solidFill>
                  <a:srgbClr val="39405C"/>
                </a:solidFill>
                <a:latin typeface="Malgun Gothic" pitchFamily="34" charset="0"/>
                <a:ea typeface="Malgun Gothic" pitchFamily="34" charset="-122"/>
                <a:cs typeface="Malgun Gothic" pitchFamily="34" charset="-120"/>
              </a:rPr>
              <a:t>Dataset · Training Pipeline</a:t>
            </a:r>
            <a:endParaRPr lang="en-US" sz="1400" dirty="0"/>
          </a:p>
        </p:txBody>
      </p:sp>
      <p:sp>
        <p:nvSpPr>
          <p:cNvPr id="33" name="Shape 31"/>
          <p:cNvSpPr/>
          <p:nvPr/>
        </p:nvSpPr>
        <p:spPr>
          <a:xfrm>
            <a:off x="640080" y="4846320"/>
            <a:ext cx="10911535" cy="1097280"/>
          </a:xfrm>
          <a:prstGeom prst="roundRect">
            <a:avLst>
              <a:gd name="adj" fmla="val 18333"/>
            </a:avLst>
          </a:prstGeom>
          <a:solidFill>
            <a:srgbClr val="EDF0FE"/>
          </a:solidFill>
          <a:ln/>
        </p:spPr>
      </p:sp>
      <p:sp>
        <p:nvSpPr>
          <p:cNvPr id="34" name="Text 32"/>
          <p:cNvSpPr txBox="1"/>
          <p:nvPr/>
        </p:nvSpPr>
        <p:spPr>
          <a:xfrm>
            <a:off x="960120" y="4956048"/>
            <a:ext cx="2743200" cy="320040"/>
          </a:xfrm>
          <a:prstGeom prst="rect">
            <a:avLst/>
          </a:prstGeom>
          <a:noFill/>
          <a:ln/>
        </p:spPr>
        <p:txBody>
          <a:bodyPr wrap="square" lIns="0" tIns="0" rIns="0" bIns="0" rtlCol="0" anchor="t"/>
          <a:lstStyle/>
          <a:p>
            <a:pPr algn="l"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함께 정한 것</a:t>
            </a:r>
            <a:endParaRPr lang="en-US" sz="1200" dirty="0"/>
          </a:p>
        </p:txBody>
      </p:sp>
      <p:sp>
        <p:nvSpPr>
          <p:cNvPr id="35" name="Shape 33"/>
          <p:cNvSpPr/>
          <p:nvPr/>
        </p:nvSpPr>
        <p:spPr>
          <a:xfrm>
            <a:off x="960120" y="5349240"/>
            <a:ext cx="1965960" cy="365760"/>
          </a:xfrm>
          <a:prstGeom prst="roundRect">
            <a:avLst>
              <a:gd name="adj" fmla="val 50000"/>
            </a:avLst>
          </a:prstGeom>
          <a:solidFill>
            <a:srgbClr val="FDFEFF"/>
          </a:solidFill>
          <a:ln/>
        </p:spPr>
      </p:sp>
      <p:sp>
        <p:nvSpPr>
          <p:cNvPr id="36" name="Text 34"/>
          <p:cNvSpPr txBox="1"/>
          <p:nvPr/>
        </p:nvSpPr>
        <p:spPr>
          <a:xfrm>
            <a:off x="960120" y="5349240"/>
            <a:ext cx="19659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서비스 방향</a:t>
            </a:r>
            <a:endParaRPr lang="en-US" sz="1200" dirty="0"/>
          </a:p>
        </p:txBody>
      </p:sp>
      <p:sp>
        <p:nvSpPr>
          <p:cNvPr id="37" name="Shape 35"/>
          <p:cNvSpPr/>
          <p:nvPr/>
        </p:nvSpPr>
        <p:spPr>
          <a:xfrm>
            <a:off x="3108960" y="5349240"/>
            <a:ext cx="1965960" cy="365760"/>
          </a:xfrm>
          <a:prstGeom prst="roundRect">
            <a:avLst>
              <a:gd name="adj" fmla="val 50000"/>
            </a:avLst>
          </a:prstGeom>
          <a:solidFill>
            <a:srgbClr val="FDFEFF"/>
          </a:solidFill>
          <a:ln/>
        </p:spPr>
      </p:sp>
      <p:sp>
        <p:nvSpPr>
          <p:cNvPr id="38" name="Text 36"/>
          <p:cNvSpPr txBox="1"/>
          <p:nvPr/>
        </p:nvSpPr>
        <p:spPr>
          <a:xfrm>
            <a:off x="3108960" y="5349240"/>
            <a:ext cx="19659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MVP 범위</a:t>
            </a:r>
            <a:endParaRPr lang="en-US" sz="1200" dirty="0"/>
          </a:p>
        </p:txBody>
      </p:sp>
      <p:sp>
        <p:nvSpPr>
          <p:cNvPr id="39" name="Shape 37"/>
          <p:cNvSpPr/>
          <p:nvPr/>
        </p:nvSpPr>
        <p:spPr>
          <a:xfrm>
            <a:off x="5257800" y="5349240"/>
            <a:ext cx="1965960" cy="365760"/>
          </a:xfrm>
          <a:prstGeom prst="roundRect">
            <a:avLst>
              <a:gd name="adj" fmla="val 50000"/>
            </a:avLst>
          </a:prstGeom>
          <a:solidFill>
            <a:srgbClr val="FDFEFF"/>
          </a:solidFill>
          <a:ln/>
        </p:spPr>
      </p:sp>
      <p:sp>
        <p:nvSpPr>
          <p:cNvPr id="40" name="Text 38"/>
          <p:cNvSpPr txBox="1"/>
          <p:nvPr/>
        </p:nvSpPr>
        <p:spPr>
          <a:xfrm>
            <a:off x="5257800" y="5349240"/>
            <a:ext cx="19659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Frontend ↔ Backend</a:t>
            </a:r>
            <a:endParaRPr lang="en-US" sz="1200" dirty="0"/>
          </a:p>
        </p:txBody>
      </p:sp>
      <p:sp>
        <p:nvSpPr>
          <p:cNvPr id="41" name="Shape 39"/>
          <p:cNvSpPr/>
          <p:nvPr/>
        </p:nvSpPr>
        <p:spPr>
          <a:xfrm>
            <a:off x="7406640" y="5349240"/>
            <a:ext cx="1965960" cy="365760"/>
          </a:xfrm>
          <a:prstGeom prst="roundRect">
            <a:avLst>
              <a:gd name="adj" fmla="val 50000"/>
            </a:avLst>
          </a:prstGeom>
          <a:solidFill>
            <a:srgbClr val="FDFEFF"/>
          </a:solidFill>
          <a:ln/>
        </p:spPr>
      </p:sp>
      <p:sp>
        <p:nvSpPr>
          <p:cNvPr id="42" name="Text 40"/>
          <p:cNvSpPr txBox="1"/>
          <p:nvPr/>
        </p:nvSpPr>
        <p:spPr>
          <a:xfrm>
            <a:off x="7406640" y="5349240"/>
            <a:ext cx="19659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Backend ↔ AI</a:t>
            </a:r>
            <a:endParaRPr lang="en-US" sz="1200" dirty="0"/>
          </a:p>
        </p:txBody>
      </p:sp>
      <p:sp>
        <p:nvSpPr>
          <p:cNvPr id="43" name="Shape 41"/>
          <p:cNvSpPr/>
          <p:nvPr/>
        </p:nvSpPr>
        <p:spPr>
          <a:xfrm>
            <a:off x="9555480" y="5349240"/>
            <a:ext cx="1965960" cy="365760"/>
          </a:xfrm>
          <a:prstGeom prst="roundRect">
            <a:avLst>
              <a:gd name="adj" fmla="val 50000"/>
            </a:avLst>
          </a:prstGeom>
          <a:solidFill>
            <a:srgbClr val="FDFEFF"/>
          </a:solidFill>
          <a:ln/>
        </p:spPr>
      </p:sp>
      <p:sp>
        <p:nvSpPr>
          <p:cNvPr id="44" name="Text 42"/>
          <p:cNvSpPr txBox="1"/>
          <p:nvPr/>
        </p:nvSpPr>
        <p:spPr>
          <a:xfrm>
            <a:off x="9555480" y="5349240"/>
            <a:ext cx="1965960" cy="365760"/>
          </a:xfrm>
          <a:prstGeom prst="rect">
            <a:avLst/>
          </a:prstGeom>
          <a:noFill/>
          <a:ln/>
        </p:spPr>
        <p:txBody>
          <a:bodyPr wrap="square" lIns="0" tIns="0" rIns="0" bIns="0" rtlCol="0" anchor="ctr"/>
          <a:lstStyle/>
          <a:p>
            <a:pPr algn="ctr"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A1 ↔ A2 Interface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15</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C · Frontend · 육도현</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사용자 경험을 실제 화면으로</a:t>
            </a:r>
            <a:endParaRPr lang="en-US" sz="3000" dirty="0"/>
          </a:p>
        </p:txBody>
      </p:sp>
      <p:sp>
        <p:nvSpPr>
          <p:cNvPr id="5" name="Shape 3"/>
          <p:cNvSpPr/>
          <p:nvPr/>
        </p:nvSpPr>
        <p:spPr>
          <a:xfrm>
            <a:off x="640080" y="1783080"/>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868680" y="1984248"/>
            <a:ext cx="310896" cy="310896"/>
          </a:xfrm>
          <a:prstGeom prst="ellipse">
            <a:avLst/>
          </a:prstGeom>
          <a:solidFill>
            <a:srgbClr val="7FB2F0"/>
          </a:solidFill>
          <a:ln/>
        </p:spPr>
      </p:sp>
      <p:sp>
        <p:nvSpPr>
          <p:cNvPr id="7" name="Text 5"/>
          <p:cNvSpPr txBox="1"/>
          <p:nvPr/>
        </p:nvSpPr>
        <p:spPr>
          <a:xfrm>
            <a:off x="868680" y="1984248"/>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1325880" y="1965960"/>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왜 이 작업이 필요했나</a:t>
            </a:r>
            <a:endParaRPr lang="en-US" sz="1300" dirty="0"/>
          </a:p>
        </p:txBody>
      </p:sp>
      <p:sp>
        <p:nvSpPr>
          <p:cNvPr id="9" name="Shape 7"/>
          <p:cNvSpPr/>
          <p:nvPr/>
        </p:nvSpPr>
        <p:spPr>
          <a:xfrm>
            <a:off x="640080" y="3081528"/>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0" name="Shape 8"/>
          <p:cNvSpPr/>
          <p:nvPr/>
        </p:nvSpPr>
        <p:spPr>
          <a:xfrm>
            <a:off x="868680" y="3282696"/>
            <a:ext cx="310896" cy="310896"/>
          </a:xfrm>
          <a:prstGeom prst="ellipse">
            <a:avLst/>
          </a:prstGeom>
          <a:solidFill>
            <a:srgbClr val="7FB2F0"/>
          </a:solidFill>
          <a:ln/>
        </p:spPr>
      </p:sp>
      <p:sp>
        <p:nvSpPr>
          <p:cNvPr id="11" name="Text 9"/>
          <p:cNvSpPr txBox="1"/>
          <p:nvPr/>
        </p:nvSpPr>
        <p:spPr>
          <a:xfrm>
            <a:off x="868680" y="3282696"/>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1325880" y="3264408"/>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무엇을 했나</a:t>
            </a:r>
            <a:endParaRPr lang="en-US" sz="1300" dirty="0"/>
          </a:p>
        </p:txBody>
      </p:sp>
      <p:sp>
        <p:nvSpPr>
          <p:cNvPr id="13" name="Shape 11"/>
          <p:cNvSpPr/>
          <p:nvPr/>
        </p:nvSpPr>
        <p:spPr>
          <a:xfrm>
            <a:off x="640080" y="4379976"/>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4" name="Shape 12"/>
          <p:cNvSpPr/>
          <p:nvPr/>
        </p:nvSpPr>
        <p:spPr>
          <a:xfrm>
            <a:off x="868680" y="4581144"/>
            <a:ext cx="310896" cy="310896"/>
          </a:xfrm>
          <a:prstGeom prst="ellipse">
            <a:avLst/>
          </a:prstGeom>
          <a:solidFill>
            <a:srgbClr val="7FB2F0"/>
          </a:solidFill>
          <a:ln/>
        </p:spPr>
      </p:sp>
      <p:sp>
        <p:nvSpPr>
          <p:cNvPr id="15" name="Text 13"/>
          <p:cNvSpPr txBox="1"/>
          <p:nvPr/>
        </p:nvSpPr>
        <p:spPr>
          <a:xfrm>
            <a:off x="868680" y="4581144"/>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1325880" y="4562856"/>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다음 개발에 어떻게 쓰이나</a:t>
            </a:r>
            <a:endParaRPr lang="en-US" sz="1300" dirty="0"/>
          </a:p>
        </p:txBody>
      </p:sp>
      <p:sp>
        <p:nvSpPr>
          <p:cNvPr id="17" name="Shape 15"/>
          <p:cNvSpPr/>
          <p:nvPr/>
        </p:nvSpPr>
        <p:spPr>
          <a:xfrm>
            <a:off x="5166360" y="1783080"/>
            <a:ext cx="6385255" cy="3657600"/>
          </a:xfrm>
          <a:prstGeom prst="roundRect">
            <a:avLst>
              <a:gd name="adj" fmla="val 5000"/>
            </a:avLst>
          </a:prstGeom>
          <a:solidFill>
            <a:srgbClr val="FDFEFF"/>
          </a:solidFill>
          <a:ln w="15875">
            <a:solidFill>
              <a:srgbClr val="B9C3EE"/>
            </a:solidFill>
            <a:prstDash val="dash"/>
          </a:ln>
        </p:spPr>
      </p:sp>
      <p:sp>
        <p:nvSpPr>
          <p:cNvPr id="18" name="Text 16"/>
          <p:cNvSpPr txBox="1"/>
          <p:nvPr/>
        </p:nvSpPr>
        <p:spPr>
          <a:xfrm>
            <a:off x="5394960" y="1965960"/>
            <a:ext cx="5928055"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화면설계서 캡처 (크게)</a:t>
            </a:r>
            <a:endParaRPr lang="en-US" sz="1100" dirty="0"/>
          </a:p>
        </p:txBody>
      </p:sp>
      <p:sp>
        <p:nvSpPr>
          <p:cNvPr id="19" name="Shape 17"/>
          <p:cNvSpPr/>
          <p:nvPr/>
        </p:nvSpPr>
        <p:spPr>
          <a:xfrm>
            <a:off x="640080" y="5742432"/>
            <a:ext cx="4206240" cy="530352"/>
          </a:xfrm>
          <a:prstGeom prst="roundRect">
            <a:avLst>
              <a:gd name="adj" fmla="val 37931"/>
            </a:avLst>
          </a:prstGeom>
          <a:solidFill>
            <a:srgbClr val="DCEBFC"/>
          </a:solidFill>
          <a:ln/>
        </p:spPr>
      </p:sp>
      <p:sp>
        <p:nvSpPr>
          <p:cNvPr id="20" name="Text 18"/>
          <p:cNvSpPr txBox="1"/>
          <p:nvPr/>
        </p:nvSpPr>
        <p:spPr>
          <a:xfrm>
            <a:off x="868680" y="5742432"/>
            <a:ext cx="3749040" cy="530352"/>
          </a:xfrm>
          <a:prstGeom prst="rect">
            <a:avLst/>
          </a:prstGeom>
          <a:noFill/>
          <a:ln/>
        </p:spPr>
        <p:txBody>
          <a:bodyPr wrap="square" lIns="0" tIns="0" rIns="0" bIns="0" rtlCol="0" anchor="ctr"/>
          <a:lstStyle/>
          <a:p>
            <a:pPr algn="l" indent="0" marL="0">
              <a:lnSpc>
                <a:spcPct val="115000"/>
              </a:lnSpc>
              <a:buNone/>
            </a:pPr>
            <a:r>
              <a:rPr lang="en-US" sz="1200" b="1" dirty="0">
                <a:solidFill>
                  <a:srgbClr val="5A6282"/>
                </a:solidFill>
                <a:latin typeface="Malgun Gothic" pitchFamily="34" charset="0"/>
                <a:ea typeface="Malgun Gothic" pitchFamily="34" charset="-122"/>
                <a:cs typeface="Malgun Gothic" pitchFamily="34" charset="-120"/>
              </a:rPr>
              <a:t>발표 핵심 한 문장</a:t>
            </a:r>
            <a:endParaRPr lang="en-US" sz="1200" dirty="0"/>
          </a:p>
        </p:txBody>
      </p:sp>
      <p:sp>
        <p:nvSpPr>
          <p:cNvPr id="21" name="Text 19"/>
          <p:cNvSpPr txBox="1"/>
          <p:nvPr/>
        </p:nvSpPr>
        <p:spPr>
          <a:xfrm>
            <a:off x="5166360" y="5669280"/>
            <a:ext cx="6385255" cy="603504"/>
          </a:xfrm>
          <a:prstGeom prst="rect">
            <a:avLst/>
          </a:prstGeom>
          <a:noFill/>
          <a:ln/>
        </p:spPr>
        <p:txBody>
          <a:bodyPr wrap="square" lIns="0" tIns="0" rIns="0" bIns="0" rtlCol="0" anchor="ctr"/>
          <a:lstStyle/>
          <a:p>
            <a:pPr algn="l" indent="0" marL="0">
              <a:lnSpc>
                <a:spcPct val="120000"/>
              </a:lnSpc>
              <a:buNone/>
            </a:pPr>
            <a:r>
              <a:rPr lang="en-US" sz="1050" dirty="0">
                <a:solidFill>
                  <a:srgbClr val="8A91AA"/>
                </a:solidFill>
                <a:latin typeface="Malgun Gothic" pitchFamily="34" charset="0"/>
                <a:ea typeface="Malgun Gothic" pitchFamily="34" charset="-122"/>
                <a:cs typeface="Malgun Gothic" pitchFamily="34" charset="-120"/>
              </a:rPr>
              <a:t>화면설계서 → React Page → Component → Routing → Backend API 연결 → Joint Overlay / Joint 보정 UI</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16</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C · Backend / PM · 서민지</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아이디어를 실제 기능으로</a:t>
            </a:r>
            <a:endParaRPr lang="en-US" sz="3000" dirty="0"/>
          </a:p>
        </p:txBody>
      </p:sp>
      <p:sp>
        <p:nvSpPr>
          <p:cNvPr id="5" name="Shape 3"/>
          <p:cNvSpPr/>
          <p:nvPr/>
        </p:nvSpPr>
        <p:spPr>
          <a:xfrm>
            <a:off x="640080" y="1783080"/>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868680" y="1984248"/>
            <a:ext cx="310896" cy="310896"/>
          </a:xfrm>
          <a:prstGeom prst="ellipse">
            <a:avLst/>
          </a:prstGeom>
          <a:solidFill>
            <a:srgbClr val="74CDAE"/>
          </a:solidFill>
          <a:ln/>
        </p:spPr>
      </p:sp>
      <p:sp>
        <p:nvSpPr>
          <p:cNvPr id="7" name="Text 5"/>
          <p:cNvSpPr txBox="1"/>
          <p:nvPr/>
        </p:nvSpPr>
        <p:spPr>
          <a:xfrm>
            <a:off x="868680" y="1984248"/>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1325880" y="1965960"/>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왜 이 작업이 필요했나</a:t>
            </a:r>
            <a:endParaRPr lang="en-US" sz="1300" dirty="0"/>
          </a:p>
        </p:txBody>
      </p:sp>
      <p:sp>
        <p:nvSpPr>
          <p:cNvPr id="9" name="Shape 7"/>
          <p:cNvSpPr/>
          <p:nvPr/>
        </p:nvSpPr>
        <p:spPr>
          <a:xfrm>
            <a:off x="640080" y="3081528"/>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0" name="Shape 8"/>
          <p:cNvSpPr/>
          <p:nvPr/>
        </p:nvSpPr>
        <p:spPr>
          <a:xfrm>
            <a:off x="868680" y="3282696"/>
            <a:ext cx="310896" cy="310896"/>
          </a:xfrm>
          <a:prstGeom prst="ellipse">
            <a:avLst/>
          </a:prstGeom>
          <a:solidFill>
            <a:srgbClr val="74CDAE"/>
          </a:solidFill>
          <a:ln/>
        </p:spPr>
      </p:sp>
      <p:sp>
        <p:nvSpPr>
          <p:cNvPr id="11" name="Text 9"/>
          <p:cNvSpPr txBox="1"/>
          <p:nvPr/>
        </p:nvSpPr>
        <p:spPr>
          <a:xfrm>
            <a:off x="868680" y="3282696"/>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1325880" y="3264408"/>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무엇을 했나</a:t>
            </a:r>
            <a:endParaRPr lang="en-US" sz="1300" dirty="0"/>
          </a:p>
        </p:txBody>
      </p:sp>
      <p:sp>
        <p:nvSpPr>
          <p:cNvPr id="13" name="Shape 11"/>
          <p:cNvSpPr/>
          <p:nvPr/>
        </p:nvSpPr>
        <p:spPr>
          <a:xfrm>
            <a:off x="640080" y="4379976"/>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4" name="Shape 12"/>
          <p:cNvSpPr/>
          <p:nvPr/>
        </p:nvSpPr>
        <p:spPr>
          <a:xfrm>
            <a:off x="868680" y="4581144"/>
            <a:ext cx="310896" cy="310896"/>
          </a:xfrm>
          <a:prstGeom prst="ellipse">
            <a:avLst/>
          </a:prstGeom>
          <a:solidFill>
            <a:srgbClr val="74CDAE"/>
          </a:solidFill>
          <a:ln/>
        </p:spPr>
      </p:sp>
      <p:sp>
        <p:nvSpPr>
          <p:cNvPr id="15" name="Text 13"/>
          <p:cNvSpPr txBox="1"/>
          <p:nvPr/>
        </p:nvSpPr>
        <p:spPr>
          <a:xfrm>
            <a:off x="868680" y="4581144"/>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1325880" y="4562856"/>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다음 개발에 어떻게 쓰이나</a:t>
            </a:r>
            <a:endParaRPr lang="en-US" sz="1300" dirty="0"/>
          </a:p>
        </p:txBody>
      </p:sp>
      <p:sp>
        <p:nvSpPr>
          <p:cNvPr id="17" name="Shape 15"/>
          <p:cNvSpPr/>
          <p:nvPr/>
        </p:nvSpPr>
        <p:spPr>
          <a:xfrm>
            <a:off x="5166360" y="1783080"/>
            <a:ext cx="3078328" cy="1714500"/>
          </a:xfrm>
          <a:prstGeom prst="roundRect">
            <a:avLst>
              <a:gd name="adj" fmla="val 10667"/>
            </a:avLst>
          </a:prstGeom>
          <a:solidFill>
            <a:srgbClr val="FDFEFF"/>
          </a:solidFill>
          <a:ln w="15875">
            <a:solidFill>
              <a:srgbClr val="B9C3EE"/>
            </a:solidFill>
            <a:prstDash val="dash"/>
          </a:ln>
        </p:spPr>
      </p:sp>
      <p:sp>
        <p:nvSpPr>
          <p:cNvPr id="18" name="Text 16"/>
          <p:cNvSpPr txBox="1"/>
          <p:nvPr/>
        </p:nvSpPr>
        <p:spPr>
          <a:xfrm>
            <a:off x="5394960"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기능정의서 캡처</a:t>
            </a:r>
            <a:endParaRPr lang="en-US" sz="1100" dirty="0"/>
          </a:p>
        </p:txBody>
      </p:sp>
      <p:sp>
        <p:nvSpPr>
          <p:cNvPr id="19" name="Shape 17"/>
          <p:cNvSpPr/>
          <p:nvPr/>
        </p:nvSpPr>
        <p:spPr>
          <a:xfrm>
            <a:off x="8473288" y="1783080"/>
            <a:ext cx="3078328" cy="1714500"/>
          </a:xfrm>
          <a:prstGeom prst="roundRect">
            <a:avLst>
              <a:gd name="adj" fmla="val 10667"/>
            </a:avLst>
          </a:prstGeom>
          <a:solidFill>
            <a:srgbClr val="FDFEFF"/>
          </a:solidFill>
          <a:ln w="15875">
            <a:solidFill>
              <a:srgbClr val="B9C3EE"/>
            </a:solidFill>
            <a:prstDash val="dash"/>
          </a:ln>
        </p:spPr>
      </p:sp>
      <p:sp>
        <p:nvSpPr>
          <p:cNvPr id="20" name="Text 18"/>
          <p:cNvSpPr txBox="1"/>
          <p:nvPr/>
        </p:nvSpPr>
        <p:spPr>
          <a:xfrm>
            <a:off x="8701888"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WBS 일부</a:t>
            </a:r>
            <a:endParaRPr lang="en-US" sz="1100" dirty="0"/>
          </a:p>
        </p:txBody>
      </p:sp>
      <p:sp>
        <p:nvSpPr>
          <p:cNvPr id="21" name="Shape 19"/>
          <p:cNvSpPr/>
          <p:nvPr/>
        </p:nvSpPr>
        <p:spPr>
          <a:xfrm>
            <a:off x="5166360" y="3726180"/>
            <a:ext cx="3078328" cy="1714500"/>
          </a:xfrm>
          <a:prstGeom prst="roundRect">
            <a:avLst>
              <a:gd name="adj" fmla="val 10667"/>
            </a:avLst>
          </a:prstGeom>
          <a:solidFill>
            <a:srgbClr val="FDFEFF"/>
          </a:solidFill>
          <a:ln w="15875">
            <a:solidFill>
              <a:srgbClr val="B9C3EE"/>
            </a:solidFill>
            <a:prstDash val="dash"/>
          </a:ln>
        </p:spPr>
      </p:sp>
      <p:sp>
        <p:nvSpPr>
          <p:cNvPr id="22" name="Text 20"/>
          <p:cNvSpPr txBox="1"/>
          <p:nvPr/>
        </p:nvSpPr>
        <p:spPr>
          <a:xfrm>
            <a:off x="5394960" y="39090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API 또는 DB 구조</a:t>
            </a:r>
            <a:endParaRPr lang="en-US" sz="1100" dirty="0"/>
          </a:p>
        </p:txBody>
      </p:sp>
      <p:sp>
        <p:nvSpPr>
          <p:cNvPr id="23" name="Shape 21"/>
          <p:cNvSpPr/>
          <p:nvPr/>
        </p:nvSpPr>
        <p:spPr>
          <a:xfrm>
            <a:off x="640080" y="5742432"/>
            <a:ext cx="4206240" cy="530352"/>
          </a:xfrm>
          <a:prstGeom prst="roundRect">
            <a:avLst>
              <a:gd name="adj" fmla="val 37931"/>
            </a:avLst>
          </a:prstGeom>
          <a:solidFill>
            <a:srgbClr val="D9F2E9"/>
          </a:solidFill>
          <a:ln/>
        </p:spPr>
      </p:sp>
      <p:sp>
        <p:nvSpPr>
          <p:cNvPr id="24" name="Text 22"/>
          <p:cNvSpPr txBox="1"/>
          <p:nvPr/>
        </p:nvSpPr>
        <p:spPr>
          <a:xfrm>
            <a:off x="868680" y="5742432"/>
            <a:ext cx="3749040" cy="530352"/>
          </a:xfrm>
          <a:prstGeom prst="rect">
            <a:avLst/>
          </a:prstGeom>
          <a:noFill/>
          <a:ln/>
        </p:spPr>
        <p:txBody>
          <a:bodyPr wrap="square" lIns="0" tIns="0" rIns="0" bIns="0" rtlCol="0" anchor="ctr"/>
          <a:lstStyle/>
          <a:p>
            <a:pPr algn="l" indent="0" marL="0">
              <a:lnSpc>
                <a:spcPct val="115000"/>
              </a:lnSpc>
              <a:buNone/>
            </a:pPr>
            <a:r>
              <a:rPr lang="en-US" sz="1200" b="1" dirty="0">
                <a:solidFill>
                  <a:srgbClr val="5A6282"/>
                </a:solidFill>
                <a:latin typeface="Malgun Gothic" pitchFamily="34" charset="0"/>
                <a:ea typeface="Malgun Gothic" pitchFamily="34" charset="-122"/>
                <a:cs typeface="Malgun Gothic" pitchFamily="34" charset="-120"/>
              </a:rPr>
              <a:t>발표 핵심 한 문장</a:t>
            </a:r>
            <a:endParaRPr lang="en-US" sz="1200" dirty="0"/>
          </a:p>
        </p:txBody>
      </p:sp>
      <p:sp>
        <p:nvSpPr>
          <p:cNvPr id="25" name="Text 23"/>
          <p:cNvSpPr txBox="1"/>
          <p:nvPr/>
        </p:nvSpPr>
        <p:spPr>
          <a:xfrm>
            <a:off x="5166360" y="5669280"/>
            <a:ext cx="6385255" cy="603504"/>
          </a:xfrm>
          <a:prstGeom prst="rect">
            <a:avLst/>
          </a:prstGeom>
          <a:noFill/>
          <a:ln/>
        </p:spPr>
        <p:txBody>
          <a:bodyPr wrap="square" lIns="0" tIns="0" rIns="0" bIns="0" rtlCol="0" anchor="ctr"/>
          <a:lstStyle/>
          <a:p>
            <a:pPr algn="l" indent="0" marL="0">
              <a:lnSpc>
                <a:spcPct val="120000"/>
              </a:lnSpc>
              <a:buNone/>
            </a:pPr>
            <a:r>
              <a:rPr lang="en-US" sz="1050" dirty="0">
                <a:solidFill>
                  <a:srgbClr val="8A91AA"/>
                </a:solidFill>
                <a:latin typeface="Malgun Gothic" pitchFamily="34" charset="0"/>
                <a:ea typeface="Malgun Gothic" pitchFamily="34" charset="-122"/>
                <a:cs typeface="Malgun Gothic" pitchFamily="34" charset="-120"/>
              </a:rPr>
              <a:t>사용자 요구사항 → 기능정의서 → Backend Service → Public API → DB</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17</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C · A1 AI Runtime · 김수정</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서비스 요청이 AI 결과가 되기까지</a:t>
            </a:r>
            <a:endParaRPr lang="en-US" sz="3000" dirty="0"/>
          </a:p>
        </p:txBody>
      </p:sp>
      <p:sp>
        <p:nvSpPr>
          <p:cNvPr id="5" name="Shape 3"/>
          <p:cNvSpPr/>
          <p:nvPr/>
        </p:nvSpPr>
        <p:spPr>
          <a:xfrm>
            <a:off x="640080" y="1783080"/>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868680" y="1984248"/>
            <a:ext cx="310896" cy="310896"/>
          </a:xfrm>
          <a:prstGeom prst="ellipse">
            <a:avLst/>
          </a:prstGeom>
          <a:solidFill>
            <a:srgbClr val="F4909F"/>
          </a:solidFill>
          <a:ln/>
        </p:spPr>
      </p:sp>
      <p:sp>
        <p:nvSpPr>
          <p:cNvPr id="7" name="Text 5"/>
          <p:cNvSpPr txBox="1"/>
          <p:nvPr/>
        </p:nvSpPr>
        <p:spPr>
          <a:xfrm>
            <a:off x="868680" y="1984248"/>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1325880" y="1965960"/>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왜 이 작업이 필요했나</a:t>
            </a:r>
            <a:endParaRPr lang="en-US" sz="1300" dirty="0"/>
          </a:p>
        </p:txBody>
      </p:sp>
      <p:sp>
        <p:nvSpPr>
          <p:cNvPr id="9" name="Shape 7"/>
          <p:cNvSpPr/>
          <p:nvPr/>
        </p:nvSpPr>
        <p:spPr>
          <a:xfrm>
            <a:off x="640080" y="3081528"/>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0" name="Shape 8"/>
          <p:cNvSpPr/>
          <p:nvPr/>
        </p:nvSpPr>
        <p:spPr>
          <a:xfrm>
            <a:off x="868680" y="3282696"/>
            <a:ext cx="310896" cy="310896"/>
          </a:xfrm>
          <a:prstGeom prst="ellipse">
            <a:avLst/>
          </a:prstGeom>
          <a:solidFill>
            <a:srgbClr val="F4909F"/>
          </a:solidFill>
          <a:ln/>
        </p:spPr>
      </p:sp>
      <p:sp>
        <p:nvSpPr>
          <p:cNvPr id="11" name="Text 9"/>
          <p:cNvSpPr txBox="1"/>
          <p:nvPr/>
        </p:nvSpPr>
        <p:spPr>
          <a:xfrm>
            <a:off x="868680" y="3282696"/>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1325880" y="3264408"/>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무엇을 했나</a:t>
            </a:r>
            <a:endParaRPr lang="en-US" sz="1300" dirty="0"/>
          </a:p>
        </p:txBody>
      </p:sp>
      <p:sp>
        <p:nvSpPr>
          <p:cNvPr id="13" name="Shape 11"/>
          <p:cNvSpPr/>
          <p:nvPr/>
        </p:nvSpPr>
        <p:spPr>
          <a:xfrm>
            <a:off x="640080" y="4379976"/>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4" name="Shape 12"/>
          <p:cNvSpPr/>
          <p:nvPr/>
        </p:nvSpPr>
        <p:spPr>
          <a:xfrm>
            <a:off x="868680" y="4581144"/>
            <a:ext cx="310896" cy="310896"/>
          </a:xfrm>
          <a:prstGeom prst="ellipse">
            <a:avLst/>
          </a:prstGeom>
          <a:solidFill>
            <a:srgbClr val="F4909F"/>
          </a:solidFill>
          <a:ln/>
        </p:spPr>
      </p:sp>
      <p:sp>
        <p:nvSpPr>
          <p:cNvPr id="15" name="Text 13"/>
          <p:cNvSpPr txBox="1"/>
          <p:nvPr/>
        </p:nvSpPr>
        <p:spPr>
          <a:xfrm>
            <a:off x="868680" y="4581144"/>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1325880" y="4562856"/>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다음 개발에 어떻게 쓰이나</a:t>
            </a:r>
            <a:endParaRPr lang="en-US" sz="1300" dirty="0"/>
          </a:p>
        </p:txBody>
      </p:sp>
      <p:sp>
        <p:nvSpPr>
          <p:cNvPr id="17" name="Shape 15"/>
          <p:cNvSpPr/>
          <p:nvPr/>
        </p:nvSpPr>
        <p:spPr>
          <a:xfrm>
            <a:off x="5166360" y="1783080"/>
            <a:ext cx="3078328" cy="3657600"/>
          </a:xfrm>
          <a:prstGeom prst="roundRect">
            <a:avLst>
              <a:gd name="adj" fmla="val 5941"/>
            </a:avLst>
          </a:prstGeom>
          <a:solidFill>
            <a:srgbClr val="FDFEFF"/>
          </a:solidFill>
          <a:ln w="15875">
            <a:solidFill>
              <a:srgbClr val="B9C3EE"/>
            </a:solidFill>
            <a:prstDash val="dash"/>
          </a:ln>
        </p:spPr>
      </p:sp>
      <p:sp>
        <p:nvSpPr>
          <p:cNvPr id="18" name="Text 16"/>
          <p:cNvSpPr txBox="1"/>
          <p:nvPr/>
        </p:nvSpPr>
        <p:spPr>
          <a:xfrm>
            <a:off x="5394960"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서비스 Flow Chart 원본</a:t>
            </a:r>
            <a:endParaRPr lang="en-US" sz="1100" dirty="0"/>
          </a:p>
        </p:txBody>
      </p:sp>
      <p:sp>
        <p:nvSpPr>
          <p:cNvPr id="19" name="Shape 17"/>
          <p:cNvSpPr/>
          <p:nvPr/>
        </p:nvSpPr>
        <p:spPr>
          <a:xfrm>
            <a:off x="8473288" y="1783080"/>
            <a:ext cx="3078328" cy="3657600"/>
          </a:xfrm>
          <a:prstGeom prst="roundRect">
            <a:avLst>
              <a:gd name="adj" fmla="val 5941"/>
            </a:avLst>
          </a:prstGeom>
          <a:solidFill>
            <a:srgbClr val="FDFEFF"/>
          </a:solidFill>
          <a:ln w="15875">
            <a:solidFill>
              <a:srgbClr val="B9C3EE"/>
            </a:solidFill>
            <a:prstDash val="dash"/>
          </a:ln>
        </p:spPr>
      </p:sp>
      <p:sp>
        <p:nvSpPr>
          <p:cNvPr id="20" name="Text 18"/>
          <p:cNvSpPr txBox="1"/>
          <p:nvPr/>
        </p:nvSpPr>
        <p:spPr>
          <a:xfrm>
            <a:off x="8701888"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AI Runtime Pipeline 구조</a:t>
            </a:r>
            <a:endParaRPr lang="en-US" sz="1100" dirty="0"/>
          </a:p>
        </p:txBody>
      </p:sp>
      <p:sp>
        <p:nvSpPr>
          <p:cNvPr id="21" name="Shape 19"/>
          <p:cNvSpPr/>
          <p:nvPr/>
        </p:nvSpPr>
        <p:spPr>
          <a:xfrm>
            <a:off x="640080" y="5742432"/>
            <a:ext cx="4206240" cy="530352"/>
          </a:xfrm>
          <a:prstGeom prst="roundRect">
            <a:avLst>
              <a:gd name="adj" fmla="val 37931"/>
            </a:avLst>
          </a:prstGeom>
          <a:solidFill>
            <a:srgbClr val="FDE3E7"/>
          </a:solidFill>
          <a:ln/>
        </p:spPr>
      </p:sp>
      <p:sp>
        <p:nvSpPr>
          <p:cNvPr id="22" name="Text 20"/>
          <p:cNvSpPr txBox="1"/>
          <p:nvPr/>
        </p:nvSpPr>
        <p:spPr>
          <a:xfrm>
            <a:off x="868680" y="5742432"/>
            <a:ext cx="3749040" cy="530352"/>
          </a:xfrm>
          <a:prstGeom prst="rect">
            <a:avLst/>
          </a:prstGeom>
          <a:noFill/>
          <a:ln/>
        </p:spPr>
        <p:txBody>
          <a:bodyPr wrap="square" lIns="0" tIns="0" rIns="0" bIns="0" rtlCol="0" anchor="ctr"/>
          <a:lstStyle/>
          <a:p>
            <a:pPr algn="l" indent="0" marL="0">
              <a:lnSpc>
                <a:spcPct val="115000"/>
              </a:lnSpc>
              <a:buNone/>
            </a:pPr>
            <a:r>
              <a:rPr lang="en-US" sz="1200" b="1" dirty="0">
                <a:solidFill>
                  <a:srgbClr val="5A6282"/>
                </a:solidFill>
                <a:latin typeface="Malgun Gothic" pitchFamily="34" charset="0"/>
                <a:ea typeface="Malgun Gothic" pitchFamily="34" charset="-122"/>
                <a:cs typeface="Malgun Gothic" pitchFamily="34" charset="-120"/>
              </a:rPr>
              <a:t>발표 핵심 한 문장</a:t>
            </a:r>
            <a:endParaRPr lang="en-US" sz="1200" dirty="0"/>
          </a:p>
        </p:txBody>
      </p:sp>
      <p:sp>
        <p:nvSpPr>
          <p:cNvPr id="23" name="Text 21"/>
          <p:cNvSpPr txBox="1"/>
          <p:nvPr/>
        </p:nvSpPr>
        <p:spPr>
          <a:xfrm>
            <a:off x="5166360" y="5669280"/>
            <a:ext cx="6385255" cy="603504"/>
          </a:xfrm>
          <a:prstGeom prst="rect">
            <a:avLst/>
          </a:prstGeom>
          <a:noFill/>
          <a:ln/>
        </p:spPr>
        <p:txBody>
          <a:bodyPr wrap="square" lIns="0" tIns="0" rIns="0" bIns="0" rtlCol="0" anchor="ctr"/>
          <a:lstStyle/>
          <a:p>
            <a:pPr algn="l" indent="0" marL="0">
              <a:lnSpc>
                <a:spcPct val="120000"/>
              </a:lnSpc>
              <a:buNone/>
            </a:pPr>
            <a:r>
              <a:rPr lang="en-US" sz="1050" dirty="0">
                <a:solidFill>
                  <a:srgbClr val="8A91AA"/>
                </a:solidFill>
                <a:latin typeface="Malgun Gothic" pitchFamily="34" charset="0"/>
                <a:ea typeface="Malgun Gothic" pitchFamily="34" charset="-122"/>
                <a:cs typeface="Malgun Gothic" pitchFamily="34" charset="-120"/>
              </a:rPr>
              <a:t>Input Image → Detection → Pose → Mask → Skeleton → Render → Animation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18</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C · A2 Drawing Pose Model · 김민준</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아이의 그림을 이해하는 AI</a:t>
            </a:r>
            <a:endParaRPr lang="en-US" sz="3000" dirty="0"/>
          </a:p>
        </p:txBody>
      </p:sp>
      <p:sp>
        <p:nvSpPr>
          <p:cNvPr id="5" name="Shape 3"/>
          <p:cNvSpPr/>
          <p:nvPr/>
        </p:nvSpPr>
        <p:spPr>
          <a:xfrm>
            <a:off x="640080" y="1783080"/>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6" name="Shape 4"/>
          <p:cNvSpPr/>
          <p:nvPr/>
        </p:nvSpPr>
        <p:spPr>
          <a:xfrm>
            <a:off x="868680" y="1984248"/>
            <a:ext cx="310896" cy="310896"/>
          </a:xfrm>
          <a:prstGeom prst="ellipse">
            <a:avLst/>
          </a:prstGeom>
          <a:solidFill>
            <a:srgbClr val="F5C46B"/>
          </a:solidFill>
          <a:ln/>
        </p:spPr>
      </p:sp>
      <p:sp>
        <p:nvSpPr>
          <p:cNvPr id="7" name="Text 5"/>
          <p:cNvSpPr txBox="1"/>
          <p:nvPr/>
        </p:nvSpPr>
        <p:spPr>
          <a:xfrm>
            <a:off x="868680" y="1984248"/>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1325880" y="1965960"/>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왜 이 작업이 필요했나</a:t>
            </a:r>
            <a:endParaRPr lang="en-US" sz="1300" dirty="0"/>
          </a:p>
        </p:txBody>
      </p:sp>
      <p:sp>
        <p:nvSpPr>
          <p:cNvPr id="9" name="Shape 7"/>
          <p:cNvSpPr/>
          <p:nvPr/>
        </p:nvSpPr>
        <p:spPr>
          <a:xfrm>
            <a:off x="640080" y="3081528"/>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0" name="Shape 8"/>
          <p:cNvSpPr/>
          <p:nvPr/>
        </p:nvSpPr>
        <p:spPr>
          <a:xfrm>
            <a:off x="868680" y="3282696"/>
            <a:ext cx="310896" cy="310896"/>
          </a:xfrm>
          <a:prstGeom prst="ellipse">
            <a:avLst/>
          </a:prstGeom>
          <a:solidFill>
            <a:srgbClr val="F5C46B"/>
          </a:solidFill>
          <a:ln/>
        </p:spPr>
      </p:sp>
      <p:sp>
        <p:nvSpPr>
          <p:cNvPr id="11" name="Text 9"/>
          <p:cNvSpPr txBox="1"/>
          <p:nvPr/>
        </p:nvSpPr>
        <p:spPr>
          <a:xfrm>
            <a:off x="868680" y="3282696"/>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1325880" y="3264408"/>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무엇을 했나</a:t>
            </a:r>
            <a:endParaRPr lang="en-US" sz="1300" dirty="0"/>
          </a:p>
        </p:txBody>
      </p:sp>
      <p:sp>
        <p:nvSpPr>
          <p:cNvPr id="13" name="Shape 11"/>
          <p:cNvSpPr/>
          <p:nvPr/>
        </p:nvSpPr>
        <p:spPr>
          <a:xfrm>
            <a:off x="640080" y="4379976"/>
            <a:ext cx="4206240" cy="1143000"/>
          </a:xfrm>
          <a:prstGeom prst="roundRect">
            <a:avLst>
              <a:gd name="adj" fmla="val 17600"/>
            </a:avLst>
          </a:prstGeom>
          <a:solidFill>
            <a:srgbClr val="FDFEFF"/>
          </a:solidFill>
          <a:ln/>
          <a:effectLst>
            <a:outerShdw sx="100000" sy="100000" kx="0" ky="0" algn="bl" rotWithShape="0" blurRad="152400" dist="50800" dir="5400000">
              <a:srgbClr val="5364CE">
                <a:alpha val="13000"/>
              </a:srgbClr>
            </a:outerShdw>
          </a:effectLst>
        </p:spPr>
      </p:sp>
      <p:sp>
        <p:nvSpPr>
          <p:cNvPr id="14" name="Shape 12"/>
          <p:cNvSpPr/>
          <p:nvPr/>
        </p:nvSpPr>
        <p:spPr>
          <a:xfrm>
            <a:off x="868680" y="4581144"/>
            <a:ext cx="310896" cy="310896"/>
          </a:xfrm>
          <a:prstGeom prst="ellipse">
            <a:avLst/>
          </a:prstGeom>
          <a:solidFill>
            <a:srgbClr val="F5C46B"/>
          </a:solidFill>
          <a:ln/>
        </p:spPr>
      </p:sp>
      <p:sp>
        <p:nvSpPr>
          <p:cNvPr id="15" name="Text 13"/>
          <p:cNvSpPr txBox="1"/>
          <p:nvPr/>
        </p:nvSpPr>
        <p:spPr>
          <a:xfrm>
            <a:off x="868680" y="4581144"/>
            <a:ext cx="31089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FDFE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1325880" y="4562856"/>
            <a:ext cx="3291840" cy="347472"/>
          </a:xfrm>
          <a:prstGeom prst="rect">
            <a:avLst/>
          </a:prstGeom>
          <a:noFill/>
          <a:ln/>
        </p:spPr>
        <p:txBody>
          <a:bodyPr wrap="square" lIns="0" tIns="0" rIns="0" bIns="0" rtlCol="0" anchor="t"/>
          <a:lstStyle/>
          <a:p>
            <a:pPr algn="l" indent="0" marL="0">
              <a:lnSpc>
                <a:spcPct val="115000"/>
              </a:lnSpc>
              <a:buNone/>
            </a:pPr>
            <a:r>
              <a:rPr lang="en-US" sz="1300" b="1" dirty="0">
                <a:solidFill>
                  <a:srgbClr val="4C5CC4"/>
                </a:solidFill>
                <a:latin typeface="Malgun Gothic" pitchFamily="34" charset="0"/>
                <a:ea typeface="Malgun Gothic" pitchFamily="34" charset="-122"/>
                <a:cs typeface="Malgun Gothic" pitchFamily="34" charset="-120"/>
              </a:rPr>
              <a:t>다음 개발에 어떻게 쓰이나</a:t>
            </a:r>
            <a:endParaRPr lang="en-US" sz="1300" dirty="0"/>
          </a:p>
        </p:txBody>
      </p:sp>
      <p:sp>
        <p:nvSpPr>
          <p:cNvPr id="17" name="Shape 15"/>
          <p:cNvSpPr/>
          <p:nvPr/>
        </p:nvSpPr>
        <p:spPr>
          <a:xfrm>
            <a:off x="5166360" y="1783080"/>
            <a:ext cx="3078328" cy="1714500"/>
          </a:xfrm>
          <a:prstGeom prst="roundRect">
            <a:avLst>
              <a:gd name="adj" fmla="val 10667"/>
            </a:avLst>
          </a:prstGeom>
          <a:solidFill>
            <a:srgbClr val="FDFEFF"/>
          </a:solidFill>
          <a:ln w="15875">
            <a:solidFill>
              <a:srgbClr val="B9C3EE"/>
            </a:solidFill>
            <a:prstDash val="dash"/>
          </a:ln>
        </p:spPr>
      </p:sp>
      <p:sp>
        <p:nvSpPr>
          <p:cNvPr id="18" name="Text 16"/>
          <p:cNvSpPr txBox="1"/>
          <p:nvPr/>
        </p:nvSpPr>
        <p:spPr>
          <a:xfrm>
            <a:off x="5394960"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시스템 아키텍처</a:t>
            </a:r>
            <a:endParaRPr lang="en-US" sz="1100" dirty="0"/>
          </a:p>
        </p:txBody>
      </p:sp>
      <p:sp>
        <p:nvSpPr>
          <p:cNvPr id="19" name="Shape 17"/>
          <p:cNvSpPr/>
          <p:nvPr/>
        </p:nvSpPr>
        <p:spPr>
          <a:xfrm>
            <a:off x="8473288" y="1783080"/>
            <a:ext cx="3078328" cy="1714500"/>
          </a:xfrm>
          <a:prstGeom prst="roundRect">
            <a:avLst>
              <a:gd name="adj" fmla="val 10667"/>
            </a:avLst>
          </a:prstGeom>
          <a:solidFill>
            <a:srgbClr val="FDFEFF"/>
          </a:solidFill>
          <a:ln w="15875">
            <a:solidFill>
              <a:srgbClr val="B9C3EE"/>
            </a:solidFill>
            <a:prstDash val="dash"/>
          </a:ln>
        </p:spPr>
      </p:sp>
      <p:sp>
        <p:nvSpPr>
          <p:cNvPr id="20" name="Text 18"/>
          <p:cNvSpPr txBox="1"/>
          <p:nvPr/>
        </p:nvSpPr>
        <p:spPr>
          <a:xfrm>
            <a:off x="8701888" y="19659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Dataset 예시</a:t>
            </a:r>
            <a:endParaRPr lang="en-US" sz="1100" dirty="0"/>
          </a:p>
        </p:txBody>
      </p:sp>
      <p:sp>
        <p:nvSpPr>
          <p:cNvPr id="21" name="Shape 19"/>
          <p:cNvSpPr/>
          <p:nvPr/>
        </p:nvSpPr>
        <p:spPr>
          <a:xfrm>
            <a:off x="5166360" y="3726180"/>
            <a:ext cx="3078328" cy="1714500"/>
          </a:xfrm>
          <a:prstGeom prst="roundRect">
            <a:avLst>
              <a:gd name="adj" fmla="val 10667"/>
            </a:avLst>
          </a:prstGeom>
          <a:solidFill>
            <a:srgbClr val="FDFEFF"/>
          </a:solidFill>
          <a:ln w="15875">
            <a:solidFill>
              <a:srgbClr val="B9C3EE"/>
            </a:solidFill>
            <a:prstDash val="dash"/>
          </a:ln>
        </p:spPr>
      </p:sp>
      <p:sp>
        <p:nvSpPr>
          <p:cNvPr id="22" name="Text 20"/>
          <p:cNvSpPr txBox="1"/>
          <p:nvPr/>
        </p:nvSpPr>
        <p:spPr>
          <a:xfrm>
            <a:off x="5394960" y="39090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Joint Annotation 예시</a:t>
            </a:r>
            <a:endParaRPr lang="en-US" sz="1100" dirty="0"/>
          </a:p>
        </p:txBody>
      </p:sp>
      <p:sp>
        <p:nvSpPr>
          <p:cNvPr id="23" name="Shape 21"/>
          <p:cNvSpPr/>
          <p:nvPr/>
        </p:nvSpPr>
        <p:spPr>
          <a:xfrm>
            <a:off x="8473288" y="3726180"/>
            <a:ext cx="3078328" cy="1714500"/>
          </a:xfrm>
          <a:prstGeom prst="roundRect">
            <a:avLst>
              <a:gd name="adj" fmla="val 10667"/>
            </a:avLst>
          </a:prstGeom>
          <a:solidFill>
            <a:srgbClr val="FDFEFF"/>
          </a:solidFill>
          <a:ln w="15875">
            <a:solidFill>
              <a:srgbClr val="B9C3EE"/>
            </a:solidFill>
            <a:prstDash val="dash"/>
          </a:ln>
        </p:spPr>
      </p:sp>
      <p:sp>
        <p:nvSpPr>
          <p:cNvPr id="24" name="Text 22"/>
          <p:cNvSpPr txBox="1"/>
          <p:nvPr/>
        </p:nvSpPr>
        <p:spPr>
          <a:xfrm>
            <a:off x="8701888" y="3909060"/>
            <a:ext cx="2621128" cy="320040"/>
          </a:xfrm>
          <a:prstGeom prst="rect">
            <a:avLst/>
          </a:prstGeom>
          <a:noFill/>
          <a:ln/>
        </p:spPr>
        <p:txBody>
          <a:bodyPr wrap="square" lIns="0" tIns="0" rIns="0" bIns="0" rtlCol="0" anchor="t"/>
          <a:lstStyle/>
          <a:p>
            <a:pPr algn="l" indent="0" marL="0">
              <a:lnSpc>
                <a:spcPct val="115000"/>
              </a:lnSpc>
              <a:buNone/>
            </a:pPr>
            <a:r>
              <a:rPr lang="en-US" sz="1100" b="1" dirty="0">
                <a:solidFill>
                  <a:srgbClr val="8A91AA"/>
                </a:solidFill>
                <a:latin typeface="Malgun Gothic" pitchFamily="34" charset="0"/>
                <a:ea typeface="Malgun Gothic" pitchFamily="34" charset="-122"/>
                <a:cs typeface="Malgun Gothic" pitchFamily="34" charset="-120"/>
              </a:rPr>
              <a:t>실제 작업물 · 학습 로그 · 그래프</a:t>
            </a:r>
            <a:endParaRPr lang="en-US" sz="1100" dirty="0"/>
          </a:p>
        </p:txBody>
      </p:sp>
      <p:sp>
        <p:nvSpPr>
          <p:cNvPr id="25" name="Shape 23"/>
          <p:cNvSpPr/>
          <p:nvPr/>
        </p:nvSpPr>
        <p:spPr>
          <a:xfrm>
            <a:off x="640080" y="5742432"/>
            <a:ext cx="4206240" cy="530352"/>
          </a:xfrm>
          <a:prstGeom prst="roundRect">
            <a:avLst>
              <a:gd name="adj" fmla="val 37931"/>
            </a:avLst>
          </a:prstGeom>
          <a:solidFill>
            <a:srgbClr val="FDEFD2"/>
          </a:solidFill>
          <a:ln/>
        </p:spPr>
      </p:sp>
      <p:sp>
        <p:nvSpPr>
          <p:cNvPr id="26" name="Text 24"/>
          <p:cNvSpPr txBox="1"/>
          <p:nvPr/>
        </p:nvSpPr>
        <p:spPr>
          <a:xfrm>
            <a:off x="868680" y="5742432"/>
            <a:ext cx="3749040" cy="530352"/>
          </a:xfrm>
          <a:prstGeom prst="rect">
            <a:avLst/>
          </a:prstGeom>
          <a:noFill/>
          <a:ln/>
        </p:spPr>
        <p:txBody>
          <a:bodyPr wrap="square" lIns="0" tIns="0" rIns="0" bIns="0" rtlCol="0" anchor="ctr"/>
          <a:lstStyle/>
          <a:p>
            <a:pPr algn="l" indent="0" marL="0">
              <a:lnSpc>
                <a:spcPct val="115000"/>
              </a:lnSpc>
              <a:buNone/>
            </a:pPr>
            <a:r>
              <a:rPr lang="en-US" sz="1200" b="1" dirty="0">
                <a:solidFill>
                  <a:srgbClr val="5A6282"/>
                </a:solidFill>
                <a:latin typeface="Malgun Gothic" pitchFamily="34" charset="0"/>
                <a:ea typeface="Malgun Gothic" pitchFamily="34" charset="-122"/>
                <a:cs typeface="Malgun Gothic" pitchFamily="34" charset="-120"/>
              </a:rPr>
              <a:t>발표 핵심 한 문장</a:t>
            </a:r>
            <a:endParaRPr lang="en-US" sz="1200" dirty="0"/>
          </a:p>
        </p:txBody>
      </p:sp>
      <p:sp>
        <p:nvSpPr>
          <p:cNvPr id="27" name="Text 25"/>
          <p:cNvSpPr txBox="1"/>
          <p:nvPr/>
        </p:nvSpPr>
        <p:spPr>
          <a:xfrm>
            <a:off x="5166360" y="5669280"/>
            <a:ext cx="6385255" cy="603504"/>
          </a:xfrm>
          <a:prstGeom prst="rect">
            <a:avLst/>
          </a:prstGeom>
          <a:noFill/>
          <a:ln/>
        </p:spPr>
        <p:txBody>
          <a:bodyPr wrap="square" lIns="0" tIns="0" rIns="0" bIns="0" rtlCol="0" anchor="ctr"/>
          <a:lstStyle/>
          <a:p>
            <a:pPr algn="l" indent="0" marL="0">
              <a:lnSpc>
                <a:spcPct val="120000"/>
              </a:lnSpc>
              <a:buNone/>
            </a:pPr>
            <a:r>
              <a:rPr lang="en-US" sz="1050" dirty="0">
                <a:solidFill>
                  <a:srgbClr val="8A91AA"/>
                </a:solidFill>
                <a:latin typeface="Malgun Gothic" pitchFamily="34" charset="0"/>
                <a:ea typeface="Malgun Gothic" pitchFamily="34" charset="-122"/>
                <a:cs typeface="Malgun Gothic" pitchFamily="34" charset="-120"/>
              </a:rPr>
              <a:t>원본 Dataset → Annotation Parsing → Joint Mapping → Train / Validation Dataset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19</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D · 지금까지의 결과</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10월 2일, 아이디어는 여기까지 구체화되었습니다</a:t>
            </a:r>
            <a:endParaRPr lang="en-US" sz="3000" dirty="0"/>
          </a:p>
        </p:txBody>
      </p:sp>
      <p:sp>
        <p:nvSpPr>
          <p:cNvPr id="5" name="Shape 3"/>
          <p:cNvSpPr/>
          <p:nvPr/>
        </p:nvSpPr>
        <p:spPr>
          <a:xfrm>
            <a:off x="640080" y="1783080"/>
            <a:ext cx="2743200" cy="3977640"/>
          </a:xfrm>
          <a:prstGeom prst="roundRect">
            <a:avLst>
              <a:gd name="adj" fmla="val 7333"/>
            </a:avLst>
          </a:prstGeom>
          <a:solidFill>
            <a:srgbClr val="EDF0FE"/>
          </a:solidFill>
          <a:ln/>
        </p:spPr>
      </p:sp>
      <p:sp>
        <p:nvSpPr>
          <p:cNvPr id="6" name="Text 4"/>
          <p:cNvSpPr txBox="1"/>
          <p:nvPr/>
        </p:nvSpPr>
        <p:spPr>
          <a:xfrm>
            <a:off x="960120" y="2011680"/>
            <a:ext cx="2103120" cy="320040"/>
          </a:xfrm>
          <a:prstGeom prst="rect">
            <a:avLst/>
          </a:prstGeom>
          <a:noFill/>
          <a:ln/>
        </p:spPr>
        <p:txBody>
          <a:bodyPr wrap="square" lIns="0" tIns="0" rIns="0" bIns="0" rtlCol="0" anchor="t"/>
          <a:lstStyle/>
          <a:p>
            <a:pPr algn="l" indent="0" marL="0">
              <a:lnSpc>
                <a:spcPct val="115000"/>
              </a:lnSpc>
              <a:buNone/>
            </a:pPr>
            <a:r>
              <a:rPr lang="en-US" sz="1200" b="1" dirty="0">
                <a:solidFill>
                  <a:srgbClr val="4C5CC4"/>
                </a:solidFill>
                <a:latin typeface="Malgun Gothic" pitchFamily="34" charset="0"/>
                <a:ea typeface="Malgun Gothic" pitchFamily="34" charset="-122"/>
                <a:cs typeface="Malgun Gothic" pitchFamily="34" charset="-120"/>
              </a:rPr>
              <a:t>처음</a:t>
            </a:r>
            <a:endParaRPr lang="en-US" sz="1200" dirty="0"/>
          </a:p>
        </p:txBody>
      </p:sp>
      <p:sp>
        <p:nvSpPr>
          <p:cNvPr id="7" name="Text 5"/>
          <p:cNvSpPr txBox="1"/>
          <p:nvPr/>
        </p:nvSpPr>
        <p:spPr>
          <a:xfrm>
            <a:off x="960120" y="2423160"/>
            <a:ext cx="2103120" cy="2194560"/>
          </a:xfrm>
          <a:prstGeom prst="rect">
            <a:avLst/>
          </a:prstGeom>
          <a:noFill/>
          <a:ln/>
        </p:spPr>
        <p:txBody>
          <a:bodyPr wrap="square" lIns="0" tIns="0" rIns="0" bIns="0" rtlCol="0" anchor="t"/>
          <a:lstStyle/>
          <a:p>
            <a:pPr algn="l" indent="0" marL="0">
              <a:lnSpc>
                <a:spcPct val="135000"/>
              </a:lnSpc>
              <a:buNone/>
            </a:pPr>
            <a:r>
              <a:rPr lang="en-US" sz="1900" b="1" dirty="0">
                <a:solidFill>
                  <a:srgbClr val="39405C"/>
                </a:solidFill>
                <a:latin typeface="Malgun Gothic" pitchFamily="34" charset="0"/>
                <a:ea typeface="Malgun Gothic" pitchFamily="34" charset="-122"/>
                <a:cs typeface="Malgun Gothic" pitchFamily="34" charset="-120"/>
              </a:rPr>
              <a:t>“아이의 그림을</a:t>
            </a:r>
            <a:endParaRPr lang="en-US" sz="1900" dirty="0"/>
          </a:p>
          <a:p>
            <a:pPr algn="l" indent="0" marL="0">
              <a:lnSpc>
                <a:spcPct val="135000"/>
              </a:lnSpc>
              <a:buNone/>
            </a:pPr>
            <a:r>
              <a:rPr lang="en-US" sz="1900" b="1" dirty="0">
                <a:solidFill>
                  <a:srgbClr val="39405C"/>
                </a:solidFill>
                <a:latin typeface="Malgun Gothic" pitchFamily="34" charset="0"/>
                <a:ea typeface="Malgun Gothic" pitchFamily="34" charset="-122"/>
                <a:cs typeface="Malgun Gothic" pitchFamily="34" charset="-120"/>
              </a:rPr>
              <a:t>움직이고</a:t>
            </a:r>
            <a:endParaRPr lang="en-US" sz="1900" dirty="0"/>
          </a:p>
          <a:p>
            <a:pPr algn="l" indent="0" marL="0">
              <a:lnSpc>
                <a:spcPct val="135000"/>
              </a:lnSpc>
              <a:buNone/>
            </a:pPr>
            <a:r>
              <a:rPr lang="en-US" sz="1900" b="1" dirty="0">
                <a:solidFill>
                  <a:srgbClr val="39405C"/>
                </a:solidFill>
                <a:latin typeface="Malgun Gothic" pitchFamily="34" charset="0"/>
                <a:ea typeface="Malgun Gothic" pitchFamily="34" charset="-122"/>
                <a:cs typeface="Malgun Gothic" pitchFamily="34" charset="-120"/>
              </a:rPr>
              <a:t>이야기로</a:t>
            </a:r>
            <a:endParaRPr lang="en-US" sz="1900" dirty="0"/>
          </a:p>
          <a:p>
            <a:pPr algn="l" indent="0" marL="0">
              <a:lnSpc>
                <a:spcPct val="135000"/>
              </a:lnSpc>
              <a:buNone/>
            </a:pPr>
            <a:r>
              <a:rPr lang="en-US" sz="1900" b="1" dirty="0">
                <a:solidFill>
                  <a:srgbClr val="39405C"/>
                </a:solidFill>
                <a:latin typeface="Malgun Gothic" pitchFamily="34" charset="0"/>
                <a:ea typeface="Malgun Gothic" pitchFamily="34" charset="-122"/>
                <a:cs typeface="Malgun Gothic" pitchFamily="34" charset="-120"/>
              </a:rPr>
              <a:t>만들어 보자.”</a:t>
            </a:r>
            <a:endParaRPr lang="en-US" sz="1900" dirty="0"/>
          </a:p>
        </p:txBody>
      </p:sp>
      <p:sp>
        <p:nvSpPr>
          <p:cNvPr id="8" name="Shape 6"/>
          <p:cNvSpPr/>
          <p:nvPr/>
        </p:nvSpPr>
        <p:spPr>
          <a:xfrm>
            <a:off x="3493008" y="3611880"/>
            <a:ext cx="365760" cy="329184"/>
          </a:xfrm>
          <a:prstGeom prst="rightArrow">
            <a:avLst/>
          </a:prstGeom>
          <a:solidFill>
            <a:srgbClr val="7386F5"/>
          </a:solidFill>
          <a:ln/>
        </p:spPr>
      </p:sp>
      <p:sp>
        <p:nvSpPr>
          <p:cNvPr id="9" name="Shape 7"/>
          <p:cNvSpPr/>
          <p:nvPr/>
        </p:nvSpPr>
        <p:spPr>
          <a:xfrm>
            <a:off x="4023360" y="1783080"/>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10" name="Text 8"/>
          <p:cNvSpPr txBox="1"/>
          <p:nvPr/>
        </p:nvSpPr>
        <p:spPr>
          <a:xfrm>
            <a:off x="4297680" y="1892808"/>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사용자 경험</a:t>
            </a:r>
            <a:endParaRPr lang="en-US" sz="1150" dirty="0"/>
          </a:p>
        </p:txBody>
      </p:sp>
      <p:sp>
        <p:nvSpPr>
          <p:cNvPr id="11" name="Text 9"/>
          <p:cNvSpPr txBox="1"/>
          <p:nvPr/>
        </p:nvSpPr>
        <p:spPr>
          <a:xfrm>
            <a:off x="4297680" y="2194560"/>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화면설계서 · 사용자 Flow</a:t>
            </a:r>
            <a:endParaRPr lang="en-US" sz="1350" dirty="0"/>
          </a:p>
        </p:txBody>
      </p:sp>
      <p:sp>
        <p:nvSpPr>
          <p:cNvPr id="12" name="Shape 10"/>
          <p:cNvSpPr/>
          <p:nvPr/>
        </p:nvSpPr>
        <p:spPr>
          <a:xfrm>
            <a:off x="7901788" y="1783080"/>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13" name="Text 11"/>
          <p:cNvSpPr txBox="1"/>
          <p:nvPr/>
        </p:nvSpPr>
        <p:spPr>
          <a:xfrm>
            <a:off x="8176108" y="1892808"/>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서비스 기능</a:t>
            </a:r>
            <a:endParaRPr lang="en-US" sz="1150" dirty="0"/>
          </a:p>
        </p:txBody>
      </p:sp>
      <p:sp>
        <p:nvSpPr>
          <p:cNvPr id="14" name="Text 12"/>
          <p:cNvSpPr txBox="1"/>
          <p:nvPr/>
        </p:nvSpPr>
        <p:spPr>
          <a:xfrm>
            <a:off x="8176108" y="2194560"/>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기능정의서</a:t>
            </a:r>
            <a:endParaRPr lang="en-US" sz="1350" dirty="0"/>
          </a:p>
        </p:txBody>
      </p:sp>
      <p:sp>
        <p:nvSpPr>
          <p:cNvPr id="15" name="Shape 13"/>
          <p:cNvSpPr/>
          <p:nvPr/>
        </p:nvSpPr>
        <p:spPr>
          <a:xfrm>
            <a:off x="4023360" y="2816352"/>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16" name="Text 14"/>
          <p:cNvSpPr txBox="1"/>
          <p:nvPr/>
        </p:nvSpPr>
        <p:spPr>
          <a:xfrm>
            <a:off x="4297680" y="2926080"/>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시스템 처리</a:t>
            </a:r>
            <a:endParaRPr lang="en-US" sz="1150" dirty="0"/>
          </a:p>
        </p:txBody>
      </p:sp>
      <p:sp>
        <p:nvSpPr>
          <p:cNvPr id="17" name="Text 15"/>
          <p:cNvSpPr txBox="1"/>
          <p:nvPr/>
        </p:nvSpPr>
        <p:spPr>
          <a:xfrm>
            <a:off x="4297680" y="3227832"/>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Flow Chart</a:t>
            </a:r>
            <a:endParaRPr lang="en-US" sz="1350" dirty="0"/>
          </a:p>
        </p:txBody>
      </p:sp>
      <p:sp>
        <p:nvSpPr>
          <p:cNvPr id="18" name="Shape 16"/>
          <p:cNvSpPr/>
          <p:nvPr/>
        </p:nvSpPr>
        <p:spPr>
          <a:xfrm>
            <a:off x="7901788" y="2816352"/>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19" name="Text 17"/>
          <p:cNvSpPr txBox="1"/>
          <p:nvPr/>
        </p:nvSpPr>
        <p:spPr>
          <a:xfrm>
            <a:off x="8176108" y="2926080"/>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전체 구조</a:t>
            </a:r>
            <a:endParaRPr lang="en-US" sz="1150" dirty="0"/>
          </a:p>
        </p:txBody>
      </p:sp>
      <p:sp>
        <p:nvSpPr>
          <p:cNvPr id="20" name="Text 18"/>
          <p:cNvSpPr txBox="1"/>
          <p:nvPr/>
        </p:nvSpPr>
        <p:spPr>
          <a:xfrm>
            <a:off x="8176108" y="3227832"/>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시스템 아키텍처</a:t>
            </a:r>
            <a:endParaRPr lang="en-US" sz="1350" dirty="0"/>
          </a:p>
        </p:txBody>
      </p:sp>
      <p:sp>
        <p:nvSpPr>
          <p:cNvPr id="21" name="Shape 19"/>
          <p:cNvSpPr/>
          <p:nvPr/>
        </p:nvSpPr>
        <p:spPr>
          <a:xfrm>
            <a:off x="4023360" y="3849624"/>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22" name="Text 20"/>
          <p:cNvSpPr txBox="1"/>
          <p:nvPr/>
        </p:nvSpPr>
        <p:spPr>
          <a:xfrm>
            <a:off x="4297680" y="3959352"/>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Backend</a:t>
            </a:r>
            <a:endParaRPr lang="en-US" sz="1150" dirty="0"/>
          </a:p>
        </p:txBody>
      </p:sp>
      <p:sp>
        <p:nvSpPr>
          <p:cNvPr id="23" name="Text 21"/>
          <p:cNvSpPr txBox="1"/>
          <p:nvPr/>
        </p:nvSpPr>
        <p:spPr>
          <a:xfrm>
            <a:off x="4297680" y="4261104"/>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Service · Public API · DB 구조</a:t>
            </a:r>
            <a:endParaRPr lang="en-US" sz="1350" dirty="0"/>
          </a:p>
        </p:txBody>
      </p:sp>
      <p:sp>
        <p:nvSpPr>
          <p:cNvPr id="24" name="Shape 22"/>
          <p:cNvSpPr/>
          <p:nvPr/>
        </p:nvSpPr>
        <p:spPr>
          <a:xfrm>
            <a:off x="7901788" y="3849624"/>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25" name="Text 23"/>
          <p:cNvSpPr txBox="1"/>
          <p:nvPr/>
        </p:nvSpPr>
        <p:spPr>
          <a:xfrm>
            <a:off x="8176108" y="3959352"/>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AI Runtime</a:t>
            </a:r>
            <a:endParaRPr lang="en-US" sz="1150" dirty="0"/>
          </a:p>
        </p:txBody>
      </p:sp>
      <p:sp>
        <p:nvSpPr>
          <p:cNvPr id="26" name="Text 24"/>
          <p:cNvSpPr txBox="1"/>
          <p:nvPr/>
        </p:nvSpPr>
        <p:spPr>
          <a:xfrm>
            <a:off x="8176108" y="4261104"/>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Detection → Pose → Mask → Skeleton → Render</a:t>
            </a:r>
            <a:endParaRPr lang="en-US" sz="1350" dirty="0"/>
          </a:p>
        </p:txBody>
      </p:sp>
      <p:sp>
        <p:nvSpPr>
          <p:cNvPr id="27" name="Shape 25"/>
          <p:cNvSpPr/>
          <p:nvPr/>
        </p:nvSpPr>
        <p:spPr>
          <a:xfrm>
            <a:off x="4023360" y="4882896"/>
            <a:ext cx="3649828" cy="868680"/>
          </a:xfrm>
          <a:prstGeom prst="roundRect">
            <a:avLst>
              <a:gd name="adj" fmla="val 23158"/>
            </a:avLst>
          </a:prstGeom>
          <a:solidFill>
            <a:srgbClr val="FDFEFF"/>
          </a:solidFill>
          <a:ln/>
          <a:effectLst>
            <a:outerShdw sx="100000" sy="100000" kx="0" ky="0" algn="bl" rotWithShape="0" blurRad="152400" dist="50800" dir="5400000">
              <a:srgbClr val="5364CE">
                <a:alpha val="13000"/>
              </a:srgbClr>
            </a:outerShdw>
          </a:effectLst>
        </p:spPr>
      </p:sp>
      <p:sp>
        <p:nvSpPr>
          <p:cNvPr id="28" name="Text 26"/>
          <p:cNvSpPr txBox="1"/>
          <p:nvPr/>
        </p:nvSpPr>
        <p:spPr>
          <a:xfrm>
            <a:off x="4297680" y="4992624"/>
            <a:ext cx="3101188" cy="292608"/>
          </a:xfrm>
          <a:prstGeom prst="rect">
            <a:avLst/>
          </a:prstGeom>
          <a:noFill/>
          <a:ln/>
        </p:spPr>
        <p:txBody>
          <a:bodyPr wrap="square" lIns="0" tIns="0" rIns="0" bIns="0" rtlCol="0" anchor="t"/>
          <a:lstStyle/>
          <a:p>
            <a:pPr algn="l" indent="0" marL="0">
              <a:lnSpc>
                <a:spcPct val="115000"/>
              </a:lnSpc>
              <a:buNone/>
            </a:pPr>
            <a:r>
              <a:rPr lang="en-US" sz="1150" b="1" dirty="0">
                <a:solidFill>
                  <a:srgbClr val="4C5CC4"/>
                </a:solidFill>
                <a:latin typeface="Malgun Gothic" pitchFamily="34" charset="0"/>
                <a:ea typeface="Malgun Gothic" pitchFamily="34" charset="-122"/>
                <a:cs typeface="Malgun Gothic" pitchFamily="34" charset="-120"/>
              </a:rPr>
              <a:t>AI Model</a:t>
            </a:r>
            <a:endParaRPr lang="en-US" sz="1150" dirty="0"/>
          </a:p>
        </p:txBody>
      </p:sp>
      <p:sp>
        <p:nvSpPr>
          <p:cNvPr id="29" name="Text 27"/>
          <p:cNvSpPr txBox="1"/>
          <p:nvPr/>
        </p:nvSpPr>
        <p:spPr>
          <a:xfrm>
            <a:off x="4297680" y="5294376"/>
            <a:ext cx="3101188" cy="384048"/>
          </a:xfrm>
          <a:prstGeom prst="rect">
            <a:avLst/>
          </a:prstGeom>
          <a:noFill/>
          <a:ln/>
        </p:spPr>
        <p:txBody>
          <a:bodyPr wrap="square" lIns="0" tIns="0" rIns="0" bIns="0" rtlCol="0" anchor="t"/>
          <a:lstStyle/>
          <a:p>
            <a:pPr algn="l" indent="0" marL="0">
              <a:lnSpc>
                <a:spcPct val="115000"/>
              </a:lnSpc>
              <a:buNone/>
            </a:pPr>
            <a:r>
              <a:rPr lang="en-US" sz="1350" b="1" dirty="0">
                <a:solidFill>
                  <a:srgbClr val="39405C"/>
                </a:solidFill>
                <a:latin typeface="Malgun Gothic" pitchFamily="34" charset="0"/>
                <a:ea typeface="Malgun Gothic" pitchFamily="34" charset="-122"/>
                <a:cs typeface="Malgun Gothic" pitchFamily="34" charset="-120"/>
              </a:rPr>
              <a:t>Dataset → Preprocessing → Training → Evaluation</a:t>
            </a:r>
            <a:endParaRPr lang="en-US" sz="1350" dirty="0"/>
          </a:p>
        </p:txBody>
      </p:sp>
      <p:sp>
        <p:nvSpPr>
          <p:cNvPr id="30" name="Shape 28"/>
          <p:cNvSpPr/>
          <p:nvPr/>
        </p:nvSpPr>
        <p:spPr>
          <a:xfrm>
            <a:off x="7901788" y="4882896"/>
            <a:ext cx="3649828" cy="868680"/>
          </a:xfrm>
          <a:prstGeom prst="roundRect">
            <a:avLst>
              <a:gd name="adj" fmla="val 23158"/>
            </a:avLst>
          </a:prstGeom>
          <a:solidFill>
            <a:srgbClr val="FFEA99"/>
          </a:solidFill>
          <a:ln/>
        </p:spPr>
      </p:sp>
      <p:sp>
        <p:nvSpPr>
          <p:cNvPr id="31" name="Text 29"/>
          <p:cNvSpPr txBox="1"/>
          <p:nvPr/>
        </p:nvSpPr>
        <p:spPr>
          <a:xfrm>
            <a:off x="8176108" y="4882896"/>
            <a:ext cx="3101188" cy="868680"/>
          </a:xfrm>
          <a:prstGeom prst="rect">
            <a:avLst/>
          </a:prstGeom>
          <a:noFill/>
          <a:ln/>
        </p:spPr>
        <p:txBody>
          <a:bodyPr wrap="square" lIns="0" tIns="0" rIns="0" bIns="0" rtlCol="0" anchor="ctr"/>
          <a:lstStyle/>
          <a:p>
            <a:pPr algn="l" indent="0" marL="0">
              <a:lnSpc>
                <a:spcPct val="130000"/>
              </a:lnSpc>
              <a:buNone/>
            </a:pPr>
            <a:r>
              <a:rPr lang="en-US" sz="1200" b="1" dirty="0">
                <a:solidFill>
                  <a:srgbClr val="39405C"/>
                </a:solidFill>
                <a:latin typeface="Malgun Gothic" pitchFamily="34" charset="0"/>
                <a:ea typeface="Malgun Gothic" pitchFamily="34" charset="-122"/>
                <a:cs typeface="Malgun Gothic" pitchFamily="34" charset="-120"/>
              </a:rPr>
              <a:t>하나의 아이디어를</a:t>
            </a:r>
            <a:endParaRPr lang="en-US" sz="1200" dirty="0"/>
          </a:p>
          <a:p>
            <a:pPr algn="l" indent="0" marL="0">
              <a:lnSpc>
                <a:spcPct val="130000"/>
              </a:lnSpc>
              <a:buNone/>
            </a:pPr>
            <a:r>
              <a:rPr lang="en-US" sz="1200" b="1" dirty="0">
                <a:solidFill>
                  <a:srgbClr val="39405C"/>
                </a:solidFill>
                <a:latin typeface="Malgun Gothic" pitchFamily="34" charset="0"/>
                <a:ea typeface="Malgun Gothic" pitchFamily="34" charset="-122"/>
                <a:cs typeface="Malgun Gothic" pitchFamily="34" charset="-120"/>
              </a:rPr>
              <a:t>화면 · 기능 · 데이터 · AI · 시스템 구조로 구체화했습니다.</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20</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PART D · 다음 단계</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설계한 것을 하나로 이어 동작하게 만듭니다</a:t>
            </a:r>
            <a:endParaRPr lang="en-US" sz="3000" dirty="0"/>
          </a:p>
        </p:txBody>
      </p:sp>
      <p:sp>
        <p:nvSpPr>
          <p:cNvPr id="5" name="Shape 3"/>
          <p:cNvSpPr/>
          <p:nvPr/>
        </p:nvSpPr>
        <p:spPr>
          <a:xfrm>
            <a:off x="640080" y="1737360"/>
            <a:ext cx="2011680" cy="566928"/>
          </a:xfrm>
          <a:prstGeom prst="roundRect">
            <a:avLst>
              <a:gd name="adj" fmla="val 50000"/>
            </a:avLst>
          </a:prstGeom>
          <a:solidFill>
            <a:srgbClr val="7FB2F0"/>
          </a:solidFill>
          <a:ln/>
        </p:spPr>
      </p:sp>
      <p:sp>
        <p:nvSpPr>
          <p:cNvPr id="6" name="Text 4"/>
          <p:cNvSpPr txBox="1"/>
          <p:nvPr/>
        </p:nvSpPr>
        <p:spPr>
          <a:xfrm>
            <a:off x="640080" y="1737360"/>
            <a:ext cx="2011680" cy="566928"/>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Frontend</a:t>
            </a:r>
            <a:endParaRPr lang="en-US" sz="1300" dirty="0"/>
          </a:p>
        </p:txBody>
      </p:sp>
      <p:sp>
        <p:nvSpPr>
          <p:cNvPr id="7" name="Shape 5"/>
          <p:cNvSpPr/>
          <p:nvPr/>
        </p:nvSpPr>
        <p:spPr>
          <a:xfrm>
            <a:off x="2926080" y="1737360"/>
            <a:ext cx="1505651" cy="566928"/>
          </a:xfrm>
          <a:prstGeom prst="roundRect">
            <a:avLst>
              <a:gd name="adj" fmla="val 35484"/>
            </a:avLst>
          </a:prstGeom>
          <a:solidFill>
            <a:srgbClr val="FDFEFF"/>
          </a:solidFill>
          <a:ln/>
        </p:spPr>
      </p:sp>
      <p:sp>
        <p:nvSpPr>
          <p:cNvPr id="8" name="Text 6"/>
          <p:cNvSpPr txBox="1"/>
          <p:nvPr/>
        </p:nvSpPr>
        <p:spPr>
          <a:xfrm>
            <a:off x="2926080" y="1737360"/>
            <a:ext cx="1505651"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39405C"/>
                </a:solidFill>
                <a:latin typeface="Malgun Gothic" pitchFamily="34" charset="0"/>
                <a:ea typeface="Malgun Gothic" pitchFamily="34" charset="-122"/>
                <a:cs typeface="Malgun Gothic" pitchFamily="34" charset="-120"/>
              </a:rPr>
              <a:t>화면 구현</a:t>
            </a:r>
            <a:endParaRPr lang="en-US" sz="1100" dirty="0"/>
          </a:p>
        </p:txBody>
      </p:sp>
      <p:sp>
        <p:nvSpPr>
          <p:cNvPr id="9" name="Shape 7"/>
          <p:cNvSpPr/>
          <p:nvPr/>
        </p:nvSpPr>
        <p:spPr>
          <a:xfrm>
            <a:off x="4468307" y="1929384"/>
            <a:ext cx="201168" cy="201168"/>
          </a:xfrm>
          <a:prstGeom prst="rightArrow">
            <a:avLst/>
          </a:prstGeom>
          <a:solidFill>
            <a:srgbClr val="C9D2F7"/>
          </a:solidFill>
          <a:ln/>
        </p:spPr>
      </p:sp>
      <p:sp>
        <p:nvSpPr>
          <p:cNvPr id="10" name="Shape 8"/>
          <p:cNvSpPr/>
          <p:nvPr/>
        </p:nvSpPr>
        <p:spPr>
          <a:xfrm>
            <a:off x="4706051" y="1737360"/>
            <a:ext cx="1505651" cy="566928"/>
          </a:xfrm>
          <a:prstGeom prst="roundRect">
            <a:avLst>
              <a:gd name="adj" fmla="val 35484"/>
            </a:avLst>
          </a:prstGeom>
          <a:solidFill>
            <a:srgbClr val="FDFEFF"/>
          </a:solidFill>
          <a:ln/>
        </p:spPr>
      </p:sp>
      <p:sp>
        <p:nvSpPr>
          <p:cNvPr id="11" name="Text 9"/>
          <p:cNvSpPr txBox="1"/>
          <p:nvPr/>
        </p:nvSpPr>
        <p:spPr>
          <a:xfrm>
            <a:off x="4706051" y="1737360"/>
            <a:ext cx="1505651"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39405C"/>
                </a:solidFill>
                <a:latin typeface="Malgun Gothic" pitchFamily="34" charset="0"/>
                <a:ea typeface="Malgun Gothic" pitchFamily="34" charset="-122"/>
                <a:cs typeface="Malgun Gothic" pitchFamily="34" charset="-120"/>
              </a:rPr>
              <a:t>API 연결</a:t>
            </a:r>
            <a:endParaRPr lang="en-US" sz="1100" dirty="0"/>
          </a:p>
        </p:txBody>
      </p:sp>
      <p:sp>
        <p:nvSpPr>
          <p:cNvPr id="12" name="Shape 10"/>
          <p:cNvSpPr/>
          <p:nvPr/>
        </p:nvSpPr>
        <p:spPr>
          <a:xfrm>
            <a:off x="6248278" y="1929384"/>
            <a:ext cx="201168" cy="201168"/>
          </a:xfrm>
          <a:prstGeom prst="rightArrow">
            <a:avLst/>
          </a:prstGeom>
          <a:solidFill>
            <a:srgbClr val="C9D2F7"/>
          </a:solidFill>
          <a:ln/>
        </p:spPr>
      </p:sp>
      <p:sp>
        <p:nvSpPr>
          <p:cNvPr id="13" name="Shape 11"/>
          <p:cNvSpPr/>
          <p:nvPr/>
        </p:nvSpPr>
        <p:spPr>
          <a:xfrm>
            <a:off x="6486022" y="1737360"/>
            <a:ext cx="1505651" cy="566928"/>
          </a:xfrm>
          <a:prstGeom prst="roundRect">
            <a:avLst>
              <a:gd name="adj" fmla="val 35484"/>
            </a:avLst>
          </a:prstGeom>
          <a:solidFill>
            <a:srgbClr val="FDFEFF"/>
          </a:solidFill>
          <a:ln/>
        </p:spPr>
      </p:sp>
      <p:sp>
        <p:nvSpPr>
          <p:cNvPr id="14" name="Text 12"/>
          <p:cNvSpPr txBox="1"/>
          <p:nvPr/>
        </p:nvSpPr>
        <p:spPr>
          <a:xfrm>
            <a:off x="6486022" y="1737360"/>
            <a:ext cx="1505651"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39405C"/>
                </a:solidFill>
                <a:latin typeface="Malgun Gothic" pitchFamily="34" charset="0"/>
                <a:ea typeface="Malgun Gothic" pitchFamily="34" charset="-122"/>
                <a:cs typeface="Malgun Gothic" pitchFamily="34" charset="-120"/>
              </a:rPr>
              <a:t>Joint Overlay</a:t>
            </a:r>
            <a:endParaRPr lang="en-US" sz="1100" dirty="0"/>
          </a:p>
        </p:txBody>
      </p:sp>
      <p:sp>
        <p:nvSpPr>
          <p:cNvPr id="15" name="Shape 13"/>
          <p:cNvSpPr/>
          <p:nvPr/>
        </p:nvSpPr>
        <p:spPr>
          <a:xfrm>
            <a:off x="8028249" y="1929384"/>
            <a:ext cx="201168" cy="201168"/>
          </a:xfrm>
          <a:prstGeom prst="rightArrow">
            <a:avLst/>
          </a:prstGeom>
          <a:solidFill>
            <a:srgbClr val="C9D2F7"/>
          </a:solidFill>
          <a:ln/>
        </p:spPr>
      </p:sp>
      <p:sp>
        <p:nvSpPr>
          <p:cNvPr id="16" name="Shape 14"/>
          <p:cNvSpPr/>
          <p:nvPr/>
        </p:nvSpPr>
        <p:spPr>
          <a:xfrm>
            <a:off x="8265993" y="1737360"/>
            <a:ext cx="1505651" cy="566928"/>
          </a:xfrm>
          <a:prstGeom prst="roundRect">
            <a:avLst>
              <a:gd name="adj" fmla="val 35484"/>
            </a:avLst>
          </a:prstGeom>
          <a:solidFill>
            <a:srgbClr val="FDFEFF"/>
          </a:solidFill>
          <a:ln/>
        </p:spPr>
      </p:sp>
      <p:sp>
        <p:nvSpPr>
          <p:cNvPr id="17" name="Text 15"/>
          <p:cNvSpPr txBox="1"/>
          <p:nvPr/>
        </p:nvSpPr>
        <p:spPr>
          <a:xfrm>
            <a:off x="8265993" y="1737360"/>
            <a:ext cx="1505651"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39405C"/>
                </a:solidFill>
                <a:latin typeface="Malgun Gothic" pitchFamily="34" charset="0"/>
                <a:ea typeface="Malgun Gothic" pitchFamily="34" charset="-122"/>
                <a:cs typeface="Malgun Gothic" pitchFamily="34" charset="-120"/>
              </a:rPr>
              <a:t>Joint 보정</a:t>
            </a:r>
            <a:endParaRPr lang="en-US" sz="1100" dirty="0"/>
          </a:p>
        </p:txBody>
      </p:sp>
      <p:sp>
        <p:nvSpPr>
          <p:cNvPr id="18" name="Shape 16"/>
          <p:cNvSpPr/>
          <p:nvPr/>
        </p:nvSpPr>
        <p:spPr>
          <a:xfrm>
            <a:off x="9808220" y="1929384"/>
            <a:ext cx="201168" cy="201168"/>
          </a:xfrm>
          <a:prstGeom prst="rightArrow">
            <a:avLst/>
          </a:prstGeom>
          <a:solidFill>
            <a:srgbClr val="C9D2F7"/>
          </a:solidFill>
          <a:ln/>
        </p:spPr>
      </p:sp>
      <p:sp>
        <p:nvSpPr>
          <p:cNvPr id="19" name="Shape 17"/>
          <p:cNvSpPr/>
          <p:nvPr/>
        </p:nvSpPr>
        <p:spPr>
          <a:xfrm>
            <a:off x="10045964" y="1737360"/>
            <a:ext cx="1505651" cy="566928"/>
          </a:xfrm>
          <a:prstGeom prst="roundRect">
            <a:avLst>
              <a:gd name="adj" fmla="val 35484"/>
            </a:avLst>
          </a:prstGeom>
          <a:solidFill>
            <a:srgbClr val="FDFEFF"/>
          </a:solidFill>
          <a:ln/>
        </p:spPr>
      </p:sp>
      <p:sp>
        <p:nvSpPr>
          <p:cNvPr id="20" name="Text 18"/>
          <p:cNvSpPr txBox="1"/>
          <p:nvPr/>
        </p:nvSpPr>
        <p:spPr>
          <a:xfrm>
            <a:off x="10045964" y="1737360"/>
            <a:ext cx="1505651"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39405C"/>
                </a:solidFill>
                <a:latin typeface="Malgun Gothic" pitchFamily="34" charset="0"/>
                <a:ea typeface="Malgun Gothic" pitchFamily="34" charset="-122"/>
                <a:cs typeface="Malgun Gothic" pitchFamily="34" charset="-120"/>
              </a:rPr>
              <a:t>Story · Animation UI</a:t>
            </a:r>
            <a:endParaRPr lang="en-US" sz="1100" dirty="0"/>
          </a:p>
        </p:txBody>
      </p:sp>
      <p:sp>
        <p:nvSpPr>
          <p:cNvPr id="21" name="Shape 19"/>
          <p:cNvSpPr/>
          <p:nvPr/>
        </p:nvSpPr>
        <p:spPr>
          <a:xfrm>
            <a:off x="640080" y="2496312"/>
            <a:ext cx="2011680" cy="566928"/>
          </a:xfrm>
          <a:prstGeom prst="roundRect">
            <a:avLst>
              <a:gd name="adj" fmla="val 50000"/>
            </a:avLst>
          </a:prstGeom>
          <a:solidFill>
            <a:srgbClr val="74CDAE"/>
          </a:solidFill>
          <a:ln/>
        </p:spPr>
      </p:sp>
      <p:sp>
        <p:nvSpPr>
          <p:cNvPr id="22" name="Text 20"/>
          <p:cNvSpPr txBox="1"/>
          <p:nvPr/>
        </p:nvSpPr>
        <p:spPr>
          <a:xfrm>
            <a:off x="640080" y="2496312"/>
            <a:ext cx="2011680" cy="566928"/>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Backend</a:t>
            </a:r>
            <a:endParaRPr lang="en-US" sz="1300" dirty="0"/>
          </a:p>
        </p:txBody>
      </p:sp>
      <p:sp>
        <p:nvSpPr>
          <p:cNvPr id="23" name="Shape 21"/>
          <p:cNvSpPr/>
          <p:nvPr/>
        </p:nvSpPr>
        <p:spPr>
          <a:xfrm>
            <a:off x="2926080" y="2496312"/>
            <a:ext cx="1950644" cy="566928"/>
          </a:xfrm>
          <a:prstGeom prst="roundRect">
            <a:avLst>
              <a:gd name="adj" fmla="val 35484"/>
            </a:avLst>
          </a:prstGeom>
          <a:solidFill>
            <a:srgbClr val="FDFEFF"/>
          </a:solidFill>
          <a:ln/>
        </p:spPr>
      </p:sp>
      <p:sp>
        <p:nvSpPr>
          <p:cNvPr id="24" name="Text 22"/>
          <p:cNvSpPr txBox="1"/>
          <p:nvPr/>
        </p:nvSpPr>
        <p:spPr>
          <a:xfrm>
            <a:off x="2926080" y="2496312"/>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FastAPI 구현</a:t>
            </a:r>
            <a:endParaRPr lang="en-US" sz="1200" dirty="0"/>
          </a:p>
        </p:txBody>
      </p:sp>
      <p:sp>
        <p:nvSpPr>
          <p:cNvPr id="25" name="Shape 23"/>
          <p:cNvSpPr/>
          <p:nvPr/>
        </p:nvSpPr>
        <p:spPr>
          <a:xfrm>
            <a:off x="4913300" y="2688336"/>
            <a:ext cx="201168" cy="201168"/>
          </a:xfrm>
          <a:prstGeom prst="rightArrow">
            <a:avLst/>
          </a:prstGeom>
          <a:solidFill>
            <a:srgbClr val="C9D2F7"/>
          </a:solidFill>
          <a:ln/>
        </p:spPr>
      </p:sp>
      <p:sp>
        <p:nvSpPr>
          <p:cNvPr id="26" name="Shape 24"/>
          <p:cNvSpPr/>
          <p:nvPr/>
        </p:nvSpPr>
        <p:spPr>
          <a:xfrm>
            <a:off x="5151044" y="2496312"/>
            <a:ext cx="1950644" cy="566928"/>
          </a:xfrm>
          <a:prstGeom prst="roundRect">
            <a:avLst>
              <a:gd name="adj" fmla="val 35484"/>
            </a:avLst>
          </a:prstGeom>
          <a:solidFill>
            <a:srgbClr val="FDFEFF"/>
          </a:solidFill>
          <a:ln/>
        </p:spPr>
      </p:sp>
      <p:sp>
        <p:nvSpPr>
          <p:cNvPr id="27" name="Text 25"/>
          <p:cNvSpPr txBox="1"/>
          <p:nvPr/>
        </p:nvSpPr>
        <p:spPr>
          <a:xfrm>
            <a:off x="5151044" y="2496312"/>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DB 구축</a:t>
            </a:r>
            <a:endParaRPr lang="en-US" sz="1200" dirty="0"/>
          </a:p>
        </p:txBody>
      </p:sp>
      <p:sp>
        <p:nvSpPr>
          <p:cNvPr id="28" name="Shape 26"/>
          <p:cNvSpPr/>
          <p:nvPr/>
        </p:nvSpPr>
        <p:spPr>
          <a:xfrm>
            <a:off x="7138264" y="2688336"/>
            <a:ext cx="201168" cy="201168"/>
          </a:xfrm>
          <a:prstGeom prst="rightArrow">
            <a:avLst/>
          </a:prstGeom>
          <a:solidFill>
            <a:srgbClr val="C9D2F7"/>
          </a:solidFill>
          <a:ln/>
        </p:spPr>
      </p:sp>
      <p:sp>
        <p:nvSpPr>
          <p:cNvPr id="29" name="Shape 27"/>
          <p:cNvSpPr/>
          <p:nvPr/>
        </p:nvSpPr>
        <p:spPr>
          <a:xfrm>
            <a:off x="7376008" y="2496312"/>
            <a:ext cx="1950644" cy="566928"/>
          </a:xfrm>
          <a:prstGeom prst="roundRect">
            <a:avLst>
              <a:gd name="adj" fmla="val 35484"/>
            </a:avLst>
          </a:prstGeom>
          <a:solidFill>
            <a:srgbClr val="FDFEFF"/>
          </a:solidFill>
          <a:ln/>
        </p:spPr>
      </p:sp>
      <p:sp>
        <p:nvSpPr>
          <p:cNvPr id="30" name="Text 28"/>
          <p:cNvSpPr txBox="1"/>
          <p:nvPr/>
        </p:nvSpPr>
        <p:spPr>
          <a:xfrm>
            <a:off x="7376008" y="2496312"/>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Character · Story API</a:t>
            </a:r>
            <a:endParaRPr lang="en-US" sz="1200" dirty="0"/>
          </a:p>
        </p:txBody>
      </p:sp>
      <p:sp>
        <p:nvSpPr>
          <p:cNvPr id="31" name="Shape 29"/>
          <p:cNvSpPr/>
          <p:nvPr/>
        </p:nvSpPr>
        <p:spPr>
          <a:xfrm>
            <a:off x="9363227" y="2688336"/>
            <a:ext cx="201168" cy="201168"/>
          </a:xfrm>
          <a:prstGeom prst="rightArrow">
            <a:avLst/>
          </a:prstGeom>
          <a:solidFill>
            <a:srgbClr val="C9D2F7"/>
          </a:solidFill>
          <a:ln/>
        </p:spPr>
      </p:sp>
      <p:sp>
        <p:nvSpPr>
          <p:cNvPr id="32" name="Shape 30"/>
          <p:cNvSpPr/>
          <p:nvPr/>
        </p:nvSpPr>
        <p:spPr>
          <a:xfrm>
            <a:off x="9600971" y="2496312"/>
            <a:ext cx="1950644" cy="566928"/>
          </a:xfrm>
          <a:prstGeom prst="roundRect">
            <a:avLst>
              <a:gd name="adj" fmla="val 35484"/>
            </a:avLst>
          </a:prstGeom>
          <a:solidFill>
            <a:srgbClr val="FDFEFF"/>
          </a:solidFill>
          <a:ln/>
        </p:spPr>
      </p:sp>
      <p:sp>
        <p:nvSpPr>
          <p:cNvPr id="33" name="Text 31"/>
          <p:cNvSpPr txBox="1"/>
          <p:nvPr/>
        </p:nvSpPr>
        <p:spPr>
          <a:xfrm>
            <a:off x="9600971" y="2496312"/>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AI Runtime 연동</a:t>
            </a:r>
            <a:endParaRPr lang="en-US" sz="1200" dirty="0"/>
          </a:p>
        </p:txBody>
      </p:sp>
      <p:sp>
        <p:nvSpPr>
          <p:cNvPr id="34" name="Shape 32"/>
          <p:cNvSpPr/>
          <p:nvPr/>
        </p:nvSpPr>
        <p:spPr>
          <a:xfrm>
            <a:off x="640080" y="3255264"/>
            <a:ext cx="2011680" cy="566928"/>
          </a:xfrm>
          <a:prstGeom prst="roundRect">
            <a:avLst>
              <a:gd name="adj" fmla="val 50000"/>
            </a:avLst>
          </a:prstGeom>
          <a:solidFill>
            <a:srgbClr val="F4909F"/>
          </a:solidFill>
          <a:ln/>
        </p:spPr>
      </p:sp>
      <p:sp>
        <p:nvSpPr>
          <p:cNvPr id="35" name="Text 33"/>
          <p:cNvSpPr txBox="1"/>
          <p:nvPr/>
        </p:nvSpPr>
        <p:spPr>
          <a:xfrm>
            <a:off x="640080" y="3255264"/>
            <a:ext cx="2011680" cy="566928"/>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A1 AI Runtime</a:t>
            </a:r>
            <a:endParaRPr lang="en-US" sz="1300" dirty="0"/>
          </a:p>
        </p:txBody>
      </p:sp>
      <p:sp>
        <p:nvSpPr>
          <p:cNvPr id="36" name="Shape 34"/>
          <p:cNvSpPr/>
          <p:nvPr/>
        </p:nvSpPr>
        <p:spPr>
          <a:xfrm>
            <a:off x="2926080" y="3255264"/>
            <a:ext cx="1950644" cy="566928"/>
          </a:xfrm>
          <a:prstGeom prst="roundRect">
            <a:avLst>
              <a:gd name="adj" fmla="val 35484"/>
            </a:avLst>
          </a:prstGeom>
          <a:solidFill>
            <a:srgbClr val="FDFEFF"/>
          </a:solidFill>
          <a:ln/>
        </p:spPr>
      </p:sp>
      <p:sp>
        <p:nvSpPr>
          <p:cNvPr id="37" name="Text 35"/>
          <p:cNvSpPr txBox="1"/>
          <p:nvPr/>
        </p:nvSpPr>
        <p:spPr>
          <a:xfrm>
            <a:off x="2926080" y="3255264"/>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실행환경 구축</a:t>
            </a:r>
            <a:endParaRPr lang="en-US" sz="1200" dirty="0"/>
          </a:p>
        </p:txBody>
      </p:sp>
      <p:sp>
        <p:nvSpPr>
          <p:cNvPr id="38" name="Shape 36"/>
          <p:cNvSpPr/>
          <p:nvPr/>
        </p:nvSpPr>
        <p:spPr>
          <a:xfrm>
            <a:off x="4913300" y="3447288"/>
            <a:ext cx="201168" cy="201168"/>
          </a:xfrm>
          <a:prstGeom prst="rightArrow">
            <a:avLst/>
          </a:prstGeom>
          <a:solidFill>
            <a:srgbClr val="C9D2F7"/>
          </a:solidFill>
          <a:ln/>
        </p:spPr>
      </p:sp>
      <p:sp>
        <p:nvSpPr>
          <p:cNvPr id="39" name="Shape 37"/>
          <p:cNvSpPr/>
          <p:nvPr/>
        </p:nvSpPr>
        <p:spPr>
          <a:xfrm>
            <a:off x="5151044" y="3255264"/>
            <a:ext cx="1950644" cy="566928"/>
          </a:xfrm>
          <a:prstGeom prst="roundRect">
            <a:avLst>
              <a:gd name="adj" fmla="val 35484"/>
            </a:avLst>
          </a:prstGeom>
          <a:solidFill>
            <a:srgbClr val="FDFEFF"/>
          </a:solidFill>
          <a:ln/>
        </p:spPr>
      </p:sp>
      <p:sp>
        <p:nvSpPr>
          <p:cNvPr id="40" name="Text 38"/>
          <p:cNvSpPr txBox="1"/>
          <p:nvPr/>
        </p:nvSpPr>
        <p:spPr>
          <a:xfrm>
            <a:off x="5151044" y="3255264"/>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Analyze Pipeline</a:t>
            </a:r>
            <a:endParaRPr lang="en-US" sz="1200" dirty="0"/>
          </a:p>
        </p:txBody>
      </p:sp>
      <p:sp>
        <p:nvSpPr>
          <p:cNvPr id="41" name="Shape 39"/>
          <p:cNvSpPr/>
          <p:nvPr/>
        </p:nvSpPr>
        <p:spPr>
          <a:xfrm>
            <a:off x="7138264" y="3447288"/>
            <a:ext cx="201168" cy="201168"/>
          </a:xfrm>
          <a:prstGeom prst="rightArrow">
            <a:avLst/>
          </a:prstGeom>
          <a:solidFill>
            <a:srgbClr val="C9D2F7"/>
          </a:solidFill>
          <a:ln/>
        </p:spPr>
      </p:sp>
      <p:sp>
        <p:nvSpPr>
          <p:cNvPr id="42" name="Shape 40"/>
          <p:cNvSpPr/>
          <p:nvPr/>
        </p:nvSpPr>
        <p:spPr>
          <a:xfrm>
            <a:off x="7376008" y="3255264"/>
            <a:ext cx="1950644" cy="566928"/>
          </a:xfrm>
          <a:prstGeom prst="roundRect">
            <a:avLst>
              <a:gd name="adj" fmla="val 35484"/>
            </a:avLst>
          </a:prstGeom>
          <a:solidFill>
            <a:srgbClr val="FDFEFF"/>
          </a:solidFill>
          <a:ln/>
        </p:spPr>
      </p:sp>
      <p:sp>
        <p:nvSpPr>
          <p:cNvPr id="43" name="Text 41"/>
          <p:cNvSpPr txBox="1"/>
          <p:nvPr/>
        </p:nvSpPr>
        <p:spPr>
          <a:xfrm>
            <a:off x="7376008" y="3255264"/>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Skeleton · Render</a:t>
            </a:r>
            <a:endParaRPr lang="en-US" sz="1200" dirty="0"/>
          </a:p>
        </p:txBody>
      </p:sp>
      <p:sp>
        <p:nvSpPr>
          <p:cNvPr id="44" name="Shape 42"/>
          <p:cNvSpPr/>
          <p:nvPr/>
        </p:nvSpPr>
        <p:spPr>
          <a:xfrm>
            <a:off x="9363227" y="3447288"/>
            <a:ext cx="201168" cy="201168"/>
          </a:xfrm>
          <a:prstGeom prst="rightArrow">
            <a:avLst/>
          </a:prstGeom>
          <a:solidFill>
            <a:srgbClr val="C9D2F7"/>
          </a:solidFill>
          <a:ln/>
        </p:spPr>
      </p:sp>
      <p:sp>
        <p:nvSpPr>
          <p:cNvPr id="45" name="Shape 43"/>
          <p:cNvSpPr/>
          <p:nvPr/>
        </p:nvSpPr>
        <p:spPr>
          <a:xfrm>
            <a:off x="9600971" y="3255264"/>
            <a:ext cx="1950644" cy="566928"/>
          </a:xfrm>
          <a:prstGeom prst="roundRect">
            <a:avLst>
              <a:gd name="adj" fmla="val 35484"/>
            </a:avLst>
          </a:prstGeom>
          <a:solidFill>
            <a:srgbClr val="FDFEFF"/>
          </a:solidFill>
          <a:ln/>
        </p:spPr>
      </p:sp>
      <p:sp>
        <p:nvSpPr>
          <p:cNvPr id="46" name="Text 44"/>
          <p:cNvSpPr txBox="1"/>
          <p:nvPr/>
        </p:nvSpPr>
        <p:spPr>
          <a:xfrm>
            <a:off x="9600971" y="3255264"/>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A2 Model Adapter</a:t>
            </a:r>
            <a:endParaRPr lang="en-US" sz="1200" dirty="0"/>
          </a:p>
        </p:txBody>
      </p:sp>
      <p:sp>
        <p:nvSpPr>
          <p:cNvPr id="47" name="Shape 45"/>
          <p:cNvSpPr/>
          <p:nvPr/>
        </p:nvSpPr>
        <p:spPr>
          <a:xfrm>
            <a:off x="640080" y="4014216"/>
            <a:ext cx="2011680" cy="566928"/>
          </a:xfrm>
          <a:prstGeom prst="roundRect">
            <a:avLst>
              <a:gd name="adj" fmla="val 50000"/>
            </a:avLst>
          </a:prstGeom>
          <a:solidFill>
            <a:srgbClr val="F5C46B"/>
          </a:solidFill>
          <a:ln/>
        </p:spPr>
      </p:sp>
      <p:sp>
        <p:nvSpPr>
          <p:cNvPr id="48" name="Text 46"/>
          <p:cNvSpPr txBox="1"/>
          <p:nvPr/>
        </p:nvSpPr>
        <p:spPr>
          <a:xfrm>
            <a:off x="640080" y="4014216"/>
            <a:ext cx="2011680" cy="566928"/>
          </a:xfrm>
          <a:prstGeom prst="rect">
            <a:avLst/>
          </a:prstGeom>
          <a:noFill/>
          <a:ln/>
        </p:spPr>
        <p:txBody>
          <a:bodyPr wrap="square" lIns="0" tIns="0" rIns="0" bIns="0" rtlCol="0" anchor="ctr"/>
          <a:lstStyle/>
          <a:p>
            <a:pPr algn="ctr" indent="0" marL="0">
              <a:lnSpc>
                <a:spcPct val="115000"/>
              </a:lnSpc>
              <a:buNone/>
            </a:pPr>
            <a:r>
              <a:rPr lang="en-US" sz="1300" b="1" dirty="0">
                <a:solidFill>
                  <a:srgbClr val="FDFEFF"/>
                </a:solidFill>
                <a:latin typeface="Malgun Gothic" pitchFamily="34" charset="0"/>
                <a:ea typeface="Malgun Gothic" pitchFamily="34" charset="-122"/>
                <a:cs typeface="Malgun Gothic" pitchFamily="34" charset="-120"/>
              </a:rPr>
              <a:t>A2 Model</a:t>
            </a:r>
            <a:endParaRPr lang="en-US" sz="1300" dirty="0"/>
          </a:p>
        </p:txBody>
      </p:sp>
      <p:sp>
        <p:nvSpPr>
          <p:cNvPr id="49" name="Shape 47"/>
          <p:cNvSpPr/>
          <p:nvPr/>
        </p:nvSpPr>
        <p:spPr>
          <a:xfrm>
            <a:off x="2926080" y="4014216"/>
            <a:ext cx="1950644" cy="566928"/>
          </a:xfrm>
          <a:prstGeom prst="roundRect">
            <a:avLst>
              <a:gd name="adj" fmla="val 35484"/>
            </a:avLst>
          </a:prstGeom>
          <a:solidFill>
            <a:srgbClr val="FDFEFF"/>
          </a:solidFill>
          <a:ln/>
        </p:spPr>
      </p:sp>
      <p:sp>
        <p:nvSpPr>
          <p:cNvPr id="50" name="Text 48"/>
          <p:cNvSpPr txBox="1"/>
          <p:nvPr/>
        </p:nvSpPr>
        <p:spPr>
          <a:xfrm>
            <a:off x="2926080" y="4014216"/>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전체 Dataset 학습</a:t>
            </a:r>
            <a:endParaRPr lang="en-US" sz="1200" dirty="0"/>
          </a:p>
        </p:txBody>
      </p:sp>
      <p:sp>
        <p:nvSpPr>
          <p:cNvPr id="51" name="Shape 49"/>
          <p:cNvSpPr/>
          <p:nvPr/>
        </p:nvSpPr>
        <p:spPr>
          <a:xfrm>
            <a:off x="4913300" y="4206240"/>
            <a:ext cx="201168" cy="201168"/>
          </a:xfrm>
          <a:prstGeom prst="rightArrow">
            <a:avLst/>
          </a:prstGeom>
          <a:solidFill>
            <a:srgbClr val="C9D2F7"/>
          </a:solidFill>
          <a:ln/>
        </p:spPr>
      </p:sp>
      <p:sp>
        <p:nvSpPr>
          <p:cNvPr id="52" name="Shape 50"/>
          <p:cNvSpPr/>
          <p:nvPr/>
        </p:nvSpPr>
        <p:spPr>
          <a:xfrm>
            <a:off x="5151044" y="4014216"/>
            <a:ext cx="1950644" cy="566928"/>
          </a:xfrm>
          <a:prstGeom prst="roundRect">
            <a:avLst>
              <a:gd name="adj" fmla="val 35484"/>
            </a:avLst>
          </a:prstGeom>
          <a:solidFill>
            <a:srgbClr val="FDFEFF"/>
          </a:solidFill>
          <a:ln/>
        </p:spPr>
      </p:sp>
      <p:sp>
        <p:nvSpPr>
          <p:cNvPr id="53" name="Text 51"/>
          <p:cNvSpPr txBox="1"/>
          <p:nvPr/>
        </p:nvSpPr>
        <p:spPr>
          <a:xfrm>
            <a:off x="5151044" y="4014216"/>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Evaluation</a:t>
            </a:r>
            <a:endParaRPr lang="en-US" sz="1200" dirty="0"/>
          </a:p>
        </p:txBody>
      </p:sp>
      <p:sp>
        <p:nvSpPr>
          <p:cNvPr id="54" name="Shape 52"/>
          <p:cNvSpPr/>
          <p:nvPr/>
        </p:nvSpPr>
        <p:spPr>
          <a:xfrm>
            <a:off x="7138264" y="4206240"/>
            <a:ext cx="201168" cy="201168"/>
          </a:xfrm>
          <a:prstGeom prst="rightArrow">
            <a:avLst/>
          </a:prstGeom>
          <a:solidFill>
            <a:srgbClr val="C9D2F7"/>
          </a:solidFill>
          <a:ln/>
        </p:spPr>
      </p:sp>
      <p:sp>
        <p:nvSpPr>
          <p:cNvPr id="55" name="Shape 53"/>
          <p:cNvSpPr/>
          <p:nvPr/>
        </p:nvSpPr>
        <p:spPr>
          <a:xfrm>
            <a:off x="7376008" y="4014216"/>
            <a:ext cx="1950644" cy="566928"/>
          </a:xfrm>
          <a:prstGeom prst="roundRect">
            <a:avLst>
              <a:gd name="adj" fmla="val 35484"/>
            </a:avLst>
          </a:prstGeom>
          <a:solidFill>
            <a:srgbClr val="FDFEFF"/>
          </a:solidFill>
          <a:ln/>
        </p:spPr>
      </p:sp>
      <p:sp>
        <p:nvSpPr>
          <p:cNvPr id="56" name="Text 54"/>
          <p:cNvSpPr txBox="1"/>
          <p:nvPr/>
        </p:nvSpPr>
        <p:spPr>
          <a:xfrm>
            <a:off x="7376008" y="4014216"/>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Model 개선</a:t>
            </a:r>
            <a:endParaRPr lang="en-US" sz="1200" dirty="0"/>
          </a:p>
        </p:txBody>
      </p:sp>
      <p:sp>
        <p:nvSpPr>
          <p:cNvPr id="57" name="Shape 55"/>
          <p:cNvSpPr/>
          <p:nvPr/>
        </p:nvSpPr>
        <p:spPr>
          <a:xfrm>
            <a:off x="9363227" y="4206240"/>
            <a:ext cx="201168" cy="201168"/>
          </a:xfrm>
          <a:prstGeom prst="rightArrow">
            <a:avLst/>
          </a:prstGeom>
          <a:solidFill>
            <a:srgbClr val="C9D2F7"/>
          </a:solidFill>
          <a:ln/>
        </p:spPr>
      </p:sp>
      <p:sp>
        <p:nvSpPr>
          <p:cNvPr id="58" name="Shape 56"/>
          <p:cNvSpPr/>
          <p:nvPr/>
        </p:nvSpPr>
        <p:spPr>
          <a:xfrm>
            <a:off x="9600971" y="4014216"/>
            <a:ext cx="1950644" cy="566928"/>
          </a:xfrm>
          <a:prstGeom prst="roundRect">
            <a:avLst>
              <a:gd name="adj" fmla="val 35484"/>
            </a:avLst>
          </a:prstGeom>
          <a:solidFill>
            <a:srgbClr val="FDFEFF"/>
          </a:solidFill>
          <a:ln/>
        </p:spPr>
      </p:sp>
      <p:sp>
        <p:nvSpPr>
          <p:cNvPr id="59" name="Text 57"/>
          <p:cNvSpPr txBox="1"/>
          <p:nvPr/>
        </p:nvSpPr>
        <p:spPr>
          <a:xfrm>
            <a:off x="9600971" y="4014216"/>
            <a:ext cx="1950644" cy="566928"/>
          </a:xfrm>
          <a:prstGeom prst="rect">
            <a:avLst/>
          </a:prstGeom>
          <a:noFill/>
          <a:ln/>
        </p:spPr>
        <p:txBody>
          <a:bodyPr wrap="square" lIns="0" tIns="0" rIns="0" bIns="0" rtlCol="0" anchor="ctr"/>
          <a:lstStyle/>
          <a:p>
            <a:pPr algn="ctr" indent="0" marL="0">
              <a:lnSpc>
                <a:spcPct val="115000"/>
              </a:lnSpc>
              <a:buNone/>
            </a:pPr>
            <a:r>
              <a:rPr lang="en-US" sz="1200" b="1" dirty="0">
                <a:solidFill>
                  <a:srgbClr val="39405C"/>
                </a:solidFill>
                <a:latin typeface="Malgun Gothic" pitchFamily="34" charset="0"/>
                <a:ea typeface="Malgun Gothic" pitchFamily="34" charset="-122"/>
                <a:cs typeface="Malgun Gothic" pitchFamily="34" charset="-120"/>
              </a:rPr>
              <a:t>A1 Runtime 통합</a:t>
            </a:r>
            <a:endParaRPr lang="en-US" sz="1200" dirty="0"/>
          </a:p>
        </p:txBody>
      </p:sp>
      <p:sp>
        <p:nvSpPr>
          <p:cNvPr id="60" name="Shape 58"/>
          <p:cNvSpPr/>
          <p:nvPr/>
        </p:nvSpPr>
        <p:spPr>
          <a:xfrm>
            <a:off x="640080" y="4892040"/>
            <a:ext cx="10911535" cy="1051560"/>
          </a:xfrm>
          <a:prstGeom prst="roundRect">
            <a:avLst>
              <a:gd name="adj" fmla="val 19130"/>
            </a:avLst>
          </a:prstGeom>
          <a:solidFill>
            <a:srgbClr val="4C5CC4"/>
          </a:solidFill>
          <a:ln/>
          <a:effectLst>
            <a:outerShdw sx="100000" sy="100000" kx="0" ky="0" algn="bl" rotWithShape="0" blurRad="152400" dist="50800" dir="5400000">
              <a:srgbClr val="5364CE">
                <a:alpha val="13000"/>
              </a:srgbClr>
            </a:outerShdw>
          </a:effectLst>
        </p:spPr>
      </p:sp>
      <p:sp>
        <p:nvSpPr>
          <p:cNvPr id="61" name="Text 59"/>
          <p:cNvSpPr txBox="1"/>
          <p:nvPr/>
        </p:nvSpPr>
        <p:spPr>
          <a:xfrm>
            <a:off x="960120" y="4892040"/>
            <a:ext cx="1371600" cy="1051560"/>
          </a:xfrm>
          <a:prstGeom prst="rect">
            <a:avLst/>
          </a:prstGeom>
          <a:noFill/>
          <a:ln/>
        </p:spPr>
        <p:txBody>
          <a:bodyPr wrap="square" lIns="0" tIns="0" rIns="0" bIns="0" rtlCol="0" anchor="ctr"/>
          <a:lstStyle/>
          <a:p>
            <a:pPr algn="l" indent="0" marL="0">
              <a:lnSpc>
                <a:spcPct val="115000"/>
              </a:lnSpc>
              <a:buNone/>
            </a:pPr>
            <a:r>
              <a:rPr lang="en-US" sz="1300" b="1" dirty="0">
                <a:solidFill>
                  <a:srgbClr val="FFEA99"/>
                </a:solidFill>
                <a:latin typeface="Malgun Gothic" pitchFamily="34" charset="0"/>
                <a:ea typeface="Malgun Gothic" pitchFamily="34" charset="-122"/>
                <a:cs typeface="Malgun Gothic" pitchFamily="34" charset="-120"/>
              </a:rPr>
              <a:t>최종 목표</a:t>
            </a:r>
            <a:endParaRPr lang="en-US" sz="1300" dirty="0"/>
          </a:p>
        </p:txBody>
      </p:sp>
      <p:sp>
        <p:nvSpPr>
          <p:cNvPr id="62" name="Shape 60"/>
          <p:cNvSpPr/>
          <p:nvPr/>
        </p:nvSpPr>
        <p:spPr>
          <a:xfrm>
            <a:off x="2377440" y="5166360"/>
            <a:ext cx="1554480" cy="502920"/>
          </a:xfrm>
          <a:prstGeom prst="roundRect">
            <a:avLst>
              <a:gd name="adj" fmla="val 50000"/>
            </a:avLst>
          </a:prstGeom>
          <a:solidFill>
            <a:srgbClr val="FDFEFF"/>
          </a:solidFill>
          <a:ln/>
        </p:spPr>
      </p:sp>
      <p:sp>
        <p:nvSpPr>
          <p:cNvPr id="63" name="Text 61"/>
          <p:cNvSpPr txBox="1"/>
          <p:nvPr/>
        </p:nvSpPr>
        <p:spPr>
          <a:xfrm>
            <a:off x="2377440" y="5166360"/>
            <a:ext cx="1554480" cy="502920"/>
          </a:xfrm>
          <a:prstGeom prst="rect">
            <a:avLst/>
          </a:prstGeom>
          <a:noFill/>
          <a:ln/>
        </p:spPr>
        <p:txBody>
          <a:bodyPr wrap="square" lIns="0" tIns="0" rIns="0" bIns="0" rtlCol="0" anchor="ctr"/>
          <a:lstStyle/>
          <a:p>
            <a:pPr algn="ctr" indent="0" marL="0">
              <a:lnSpc>
                <a:spcPct val="115000"/>
              </a:lnSpc>
              <a:buNone/>
            </a:pPr>
            <a:r>
              <a:rPr lang="en-US" sz="1250" b="1" dirty="0">
                <a:solidFill>
                  <a:srgbClr val="4C5CC4"/>
                </a:solidFill>
                <a:latin typeface="Malgun Gothic" pitchFamily="34" charset="0"/>
                <a:ea typeface="Malgun Gothic" pitchFamily="34" charset="-122"/>
                <a:cs typeface="Malgun Gothic" pitchFamily="34" charset="-120"/>
              </a:rPr>
              <a:t>Draw</a:t>
            </a:r>
            <a:endParaRPr lang="en-US" sz="1250" dirty="0"/>
          </a:p>
        </p:txBody>
      </p:sp>
      <p:sp>
        <p:nvSpPr>
          <p:cNvPr id="64" name="Shape 62"/>
          <p:cNvSpPr/>
          <p:nvPr/>
        </p:nvSpPr>
        <p:spPr>
          <a:xfrm>
            <a:off x="3968496" y="5321808"/>
            <a:ext cx="201168" cy="201168"/>
          </a:xfrm>
          <a:prstGeom prst="rightArrow">
            <a:avLst/>
          </a:prstGeom>
          <a:solidFill>
            <a:srgbClr val="FFEA99"/>
          </a:solidFill>
          <a:ln/>
        </p:spPr>
      </p:sp>
      <p:sp>
        <p:nvSpPr>
          <p:cNvPr id="65" name="Shape 63"/>
          <p:cNvSpPr/>
          <p:nvPr/>
        </p:nvSpPr>
        <p:spPr>
          <a:xfrm>
            <a:off x="4187952" y="5166360"/>
            <a:ext cx="1554480" cy="502920"/>
          </a:xfrm>
          <a:prstGeom prst="roundRect">
            <a:avLst>
              <a:gd name="adj" fmla="val 50000"/>
            </a:avLst>
          </a:prstGeom>
          <a:solidFill>
            <a:srgbClr val="FDFEFF"/>
          </a:solidFill>
          <a:ln/>
        </p:spPr>
      </p:sp>
      <p:sp>
        <p:nvSpPr>
          <p:cNvPr id="66" name="Text 64"/>
          <p:cNvSpPr txBox="1"/>
          <p:nvPr/>
        </p:nvSpPr>
        <p:spPr>
          <a:xfrm>
            <a:off x="4187952" y="5166360"/>
            <a:ext cx="1554480" cy="502920"/>
          </a:xfrm>
          <a:prstGeom prst="rect">
            <a:avLst/>
          </a:prstGeom>
          <a:noFill/>
          <a:ln/>
        </p:spPr>
        <p:txBody>
          <a:bodyPr wrap="square" lIns="0" tIns="0" rIns="0" bIns="0" rtlCol="0" anchor="ctr"/>
          <a:lstStyle/>
          <a:p>
            <a:pPr algn="ctr" indent="0" marL="0">
              <a:lnSpc>
                <a:spcPct val="115000"/>
              </a:lnSpc>
              <a:buNone/>
            </a:pPr>
            <a:r>
              <a:rPr lang="en-US" sz="1250" b="1" dirty="0">
                <a:solidFill>
                  <a:srgbClr val="4C5CC4"/>
                </a:solidFill>
                <a:latin typeface="Malgun Gothic" pitchFamily="34" charset="0"/>
                <a:ea typeface="Malgun Gothic" pitchFamily="34" charset="-122"/>
                <a:cs typeface="Malgun Gothic" pitchFamily="34" charset="-120"/>
              </a:rPr>
              <a:t>AI Understands</a:t>
            </a:r>
            <a:endParaRPr lang="en-US" sz="1250" dirty="0"/>
          </a:p>
        </p:txBody>
      </p:sp>
      <p:sp>
        <p:nvSpPr>
          <p:cNvPr id="67" name="Shape 65"/>
          <p:cNvSpPr/>
          <p:nvPr/>
        </p:nvSpPr>
        <p:spPr>
          <a:xfrm>
            <a:off x="5779008" y="5321808"/>
            <a:ext cx="201168" cy="201168"/>
          </a:xfrm>
          <a:prstGeom prst="rightArrow">
            <a:avLst/>
          </a:prstGeom>
          <a:solidFill>
            <a:srgbClr val="FFEA99"/>
          </a:solidFill>
          <a:ln/>
        </p:spPr>
      </p:sp>
      <p:sp>
        <p:nvSpPr>
          <p:cNvPr id="68" name="Shape 66"/>
          <p:cNvSpPr/>
          <p:nvPr/>
        </p:nvSpPr>
        <p:spPr>
          <a:xfrm>
            <a:off x="5998464" y="5166360"/>
            <a:ext cx="1554480" cy="502920"/>
          </a:xfrm>
          <a:prstGeom prst="roundRect">
            <a:avLst>
              <a:gd name="adj" fmla="val 50000"/>
            </a:avLst>
          </a:prstGeom>
          <a:solidFill>
            <a:srgbClr val="FDFEFF"/>
          </a:solidFill>
          <a:ln/>
        </p:spPr>
      </p:sp>
      <p:sp>
        <p:nvSpPr>
          <p:cNvPr id="69" name="Text 67"/>
          <p:cNvSpPr txBox="1"/>
          <p:nvPr/>
        </p:nvSpPr>
        <p:spPr>
          <a:xfrm>
            <a:off x="5998464" y="5166360"/>
            <a:ext cx="1554480" cy="502920"/>
          </a:xfrm>
          <a:prstGeom prst="rect">
            <a:avLst/>
          </a:prstGeom>
          <a:noFill/>
          <a:ln/>
        </p:spPr>
        <p:txBody>
          <a:bodyPr wrap="square" lIns="0" tIns="0" rIns="0" bIns="0" rtlCol="0" anchor="ctr"/>
          <a:lstStyle/>
          <a:p>
            <a:pPr algn="ctr" indent="0" marL="0">
              <a:lnSpc>
                <a:spcPct val="115000"/>
              </a:lnSpc>
              <a:buNone/>
            </a:pPr>
            <a:r>
              <a:rPr lang="en-US" sz="1250" b="1" dirty="0">
                <a:solidFill>
                  <a:srgbClr val="4C5CC4"/>
                </a:solidFill>
                <a:latin typeface="Malgun Gothic" pitchFamily="34" charset="0"/>
                <a:ea typeface="Malgun Gothic" pitchFamily="34" charset="-122"/>
                <a:cs typeface="Malgun Gothic" pitchFamily="34" charset="-120"/>
              </a:rPr>
              <a:t>Character Moves</a:t>
            </a:r>
            <a:endParaRPr lang="en-US" sz="1250" dirty="0"/>
          </a:p>
        </p:txBody>
      </p:sp>
      <p:sp>
        <p:nvSpPr>
          <p:cNvPr id="70" name="Shape 68"/>
          <p:cNvSpPr/>
          <p:nvPr/>
        </p:nvSpPr>
        <p:spPr>
          <a:xfrm>
            <a:off x="7589520" y="5321808"/>
            <a:ext cx="201168" cy="201168"/>
          </a:xfrm>
          <a:prstGeom prst="rightArrow">
            <a:avLst/>
          </a:prstGeom>
          <a:solidFill>
            <a:srgbClr val="FFEA99"/>
          </a:solidFill>
          <a:ln/>
        </p:spPr>
      </p:sp>
      <p:sp>
        <p:nvSpPr>
          <p:cNvPr id="71" name="Shape 69"/>
          <p:cNvSpPr/>
          <p:nvPr/>
        </p:nvSpPr>
        <p:spPr>
          <a:xfrm>
            <a:off x="7808976" y="5166360"/>
            <a:ext cx="1554480" cy="502920"/>
          </a:xfrm>
          <a:prstGeom prst="roundRect">
            <a:avLst>
              <a:gd name="adj" fmla="val 50000"/>
            </a:avLst>
          </a:prstGeom>
          <a:solidFill>
            <a:srgbClr val="FDFEFF"/>
          </a:solidFill>
          <a:ln/>
        </p:spPr>
      </p:sp>
      <p:sp>
        <p:nvSpPr>
          <p:cNvPr id="72" name="Text 70"/>
          <p:cNvSpPr txBox="1"/>
          <p:nvPr/>
        </p:nvSpPr>
        <p:spPr>
          <a:xfrm>
            <a:off x="7808976" y="5166360"/>
            <a:ext cx="1554480" cy="502920"/>
          </a:xfrm>
          <a:prstGeom prst="rect">
            <a:avLst/>
          </a:prstGeom>
          <a:noFill/>
          <a:ln/>
        </p:spPr>
        <p:txBody>
          <a:bodyPr wrap="square" lIns="0" tIns="0" rIns="0" bIns="0" rtlCol="0" anchor="ctr"/>
          <a:lstStyle/>
          <a:p>
            <a:pPr algn="ctr" indent="0" marL="0">
              <a:lnSpc>
                <a:spcPct val="115000"/>
              </a:lnSpc>
              <a:buNone/>
            </a:pPr>
            <a:r>
              <a:rPr lang="en-US" sz="1250" b="1" dirty="0">
                <a:solidFill>
                  <a:srgbClr val="4C5CC4"/>
                </a:solidFill>
                <a:latin typeface="Malgun Gothic" pitchFamily="34" charset="0"/>
                <a:ea typeface="Malgun Gothic" pitchFamily="34" charset="-122"/>
                <a:cs typeface="Malgun Gothic" pitchFamily="34" charset="-120"/>
              </a:rPr>
              <a:t>Child Chooses</a:t>
            </a:r>
            <a:endParaRPr lang="en-US" sz="1250" dirty="0"/>
          </a:p>
        </p:txBody>
      </p:sp>
      <p:sp>
        <p:nvSpPr>
          <p:cNvPr id="73" name="Shape 71"/>
          <p:cNvSpPr/>
          <p:nvPr/>
        </p:nvSpPr>
        <p:spPr>
          <a:xfrm>
            <a:off x="9400032" y="5321808"/>
            <a:ext cx="201168" cy="201168"/>
          </a:xfrm>
          <a:prstGeom prst="rightArrow">
            <a:avLst/>
          </a:prstGeom>
          <a:solidFill>
            <a:srgbClr val="FFEA99"/>
          </a:solidFill>
          <a:ln/>
        </p:spPr>
      </p:sp>
      <p:sp>
        <p:nvSpPr>
          <p:cNvPr id="74" name="Shape 72"/>
          <p:cNvSpPr/>
          <p:nvPr/>
        </p:nvSpPr>
        <p:spPr>
          <a:xfrm>
            <a:off x="9619488" y="5166360"/>
            <a:ext cx="1554480" cy="502920"/>
          </a:xfrm>
          <a:prstGeom prst="roundRect">
            <a:avLst>
              <a:gd name="adj" fmla="val 50000"/>
            </a:avLst>
          </a:prstGeom>
          <a:solidFill>
            <a:srgbClr val="FDFEFF"/>
          </a:solidFill>
          <a:ln/>
        </p:spPr>
      </p:sp>
      <p:sp>
        <p:nvSpPr>
          <p:cNvPr id="75" name="Text 73"/>
          <p:cNvSpPr txBox="1"/>
          <p:nvPr/>
        </p:nvSpPr>
        <p:spPr>
          <a:xfrm>
            <a:off x="9619488" y="5166360"/>
            <a:ext cx="1554480" cy="502920"/>
          </a:xfrm>
          <a:prstGeom prst="rect">
            <a:avLst/>
          </a:prstGeom>
          <a:noFill/>
          <a:ln/>
        </p:spPr>
        <p:txBody>
          <a:bodyPr wrap="square" lIns="0" tIns="0" rIns="0" bIns="0" rtlCol="0" anchor="ctr"/>
          <a:lstStyle/>
          <a:p>
            <a:pPr algn="ctr" indent="0" marL="0">
              <a:lnSpc>
                <a:spcPct val="115000"/>
              </a:lnSpc>
              <a:buNone/>
            </a:pPr>
            <a:r>
              <a:rPr lang="en-US" sz="1250" b="1" dirty="0">
                <a:solidFill>
                  <a:srgbClr val="4C5CC4"/>
                </a:solidFill>
                <a:latin typeface="Malgun Gothic" pitchFamily="34" charset="0"/>
                <a:ea typeface="Malgun Gothic" pitchFamily="34" charset="-122"/>
                <a:cs typeface="Malgun Gothic" pitchFamily="34" charset="-120"/>
              </a:rPr>
              <a:t>Story Grows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920240"/>
            <a:ext cx="6400800" cy="365760"/>
          </a:xfrm>
          <a:prstGeom prst="rect">
            <a:avLst/>
          </a:prstGeom>
          <a:noFill/>
          <a:ln/>
        </p:spPr>
        <p:txBody>
          <a:bodyPr wrap="square" lIns="0" tIns="0" rIns="0" bIns="0" rtlCol="0" anchor="t"/>
          <a:lstStyle/>
          <a:p>
            <a:pPr algn="l" indent="0" marL="0">
              <a:lnSpc>
                <a:spcPct val="115000"/>
              </a:lnSpc>
              <a:buNone/>
            </a:pPr>
            <a:r>
              <a:rPr lang="en-US" sz="1600" b="1" dirty="0">
                <a:solidFill>
                  <a:srgbClr val="4C5CC4"/>
                </a:solidFill>
                <a:latin typeface="Malgun Gothic" pitchFamily="34" charset="0"/>
                <a:ea typeface="Malgun Gothic" pitchFamily="34" charset="-122"/>
                <a:cs typeface="Malgun Gothic" pitchFamily="34" charset="-120"/>
              </a:rPr>
              <a:t>그리고 모두 오래오래 행복하게 지냈답니다</a:t>
            </a:r>
            <a:endParaRPr lang="en-US" sz="1600" dirty="0"/>
          </a:p>
        </p:txBody>
      </p:sp>
      <p:sp>
        <p:nvSpPr>
          <p:cNvPr id="3" name="Text 1"/>
          <p:cNvSpPr txBox="1"/>
          <p:nvPr/>
        </p:nvSpPr>
        <p:spPr>
          <a:xfrm>
            <a:off x="640080" y="2423160"/>
            <a:ext cx="6400800" cy="1005840"/>
          </a:xfrm>
          <a:prstGeom prst="rect">
            <a:avLst/>
          </a:prstGeom>
          <a:noFill/>
          <a:ln/>
        </p:spPr>
        <p:txBody>
          <a:bodyPr wrap="square" lIns="0" tIns="0" rIns="0" bIns="0" rtlCol="0" anchor="t"/>
          <a:lstStyle/>
          <a:p>
            <a:pPr algn="l" indent="0" marL="0">
              <a:lnSpc>
                <a:spcPct val="115000"/>
              </a:lnSpc>
              <a:buNone/>
            </a:pPr>
            <a:r>
              <a:rPr lang="en-US" sz="5600" b="1" dirty="0">
                <a:solidFill>
                  <a:srgbClr val="39405C"/>
                </a:solidFill>
                <a:latin typeface="Malgun Gothic" pitchFamily="34" charset="0"/>
                <a:ea typeface="Malgun Gothic" pitchFamily="34" charset="-122"/>
                <a:cs typeface="Malgun Gothic" pitchFamily="34" charset="-120"/>
              </a:rPr>
              <a:t>감사합니다</a:t>
            </a:r>
            <a:endParaRPr lang="en-US" sz="5600" dirty="0"/>
          </a:p>
        </p:txBody>
      </p:sp>
      <p:sp>
        <p:nvSpPr>
          <p:cNvPr id="4" name="Text 2"/>
          <p:cNvSpPr txBox="1"/>
          <p:nvPr/>
        </p:nvSpPr>
        <p:spPr>
          <a:xfrm>
            <a:off x="640080" y="3611880"/>
            <a:ext cx="6400800" cy="457200"/>
          </a:xfrm>
          <a:prstGeom prst="rect">
            <a:avLst/>
          </a:prstGeom>
          <a:noFill/>
          <a:ln/>
        </p:spPr>
        <p:txBody>
          <a:bodyPr wrap="square" lIns="0" tIns="0" rIns="0" bIns="0" rtlCol="0" anchor="t"/>
          <a:lstStyle/>
          <a:p>
            <a:pPr algn="l" indent="0" marL="0">
              <a:lnSpc>
                <a:spcPct val="115000"/>
              </a:lnSpc>
              <a:buNone/>
            </a:pPr>
            <a:r>
              <a:rPr lang="en-US" sz="2000" dirty="0">
                <a:solidFill>
                  <a:srgbClr val="39405C"/>
                </a:solidFill>
                <a:latin typeface="Malgun Gothic" pitchFamily="34" charset="0"/>
                <a:ea typeface="Malgun Gothic" pitchFamily="34" charset="-122"/>
                <a:cs typeface="Malgun Gothic" pitchFamily="34" charset="-120"/>
              </a:rPr>
              <a:t>궁금한 점을 들려주세요</a:t>
            </a:r>
            <a:endParaRPr lang="en-US" sz="2000" dirty="0"/>
          </a:p>
        </p:txBody>
      </p:sp>
      <p:sp>
        <p:nvSpPr>
          <p:cNvPr id="5" name="Text 3">
            <a:hlinkClick r:id="rId2" tooltip=""/>
          </p:cNvPr>
          <p:cNvSpPr txBox="1"/>
          <p:nvPr/>
        </p:nvSpPr>
        <p:spPr>
          <a:xfrm>
            <a:off x="640080" y="4251960"/>
            <a:ext cx="6400800" cy="365760"/>
          </a:xfrm>
          <a:prstGeom prst="rect">
            <a:avLst/>
          </a:prstGeom>
          <a:noFill/>
          <a:ln/>
        </p:spPr>
        <p:txBody>
          <a:bodyPr wrap="square" lIns="0" tIns="0" rIns="0" bIns="0" rtlCol="0" anchor="t"/>
          <a:lstStyle/>
          <a:p>
            <a:pPr algn="l" indent="0" marL="0">
              <a:lnSpc>
                <a:spcPct val="115000"/>
              </a:lnSpc>
              <a:buNone/>
            </a:pPr>
            <a:r>
              <a:rPr lang="en-US" sz="1300" u="sng" dirty="0">
                <a:solidFill>
                  <a:srgbClr val="5A6282"/>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설계 문서  github.com/seominji58/drawtale-pt_docs</a:t>
            </a:r>
            <a:endParaRPr lang="en-US" sz="1300" dirty="0"/>
          </a:p>
        </p:txBody>
      </p:sp>
      <p:sp>
        <p:nvSpPr>
          <p:cNvPr id="6" name="Shape 4"/>
          <p:cNvSpPr/>
          <p:nvPr/>
        </p:nvSpPr>
        <p:spPr>
          <a:xfrm rot="240000">
            <a:off x="7589520" y="1737360"/>
            <a:ext cx="1645920" cy="1645920"/>
          </a:xfrm>
          <a:prstGeom prst="roundRect">
            <a:avLst>
              <a:gd name="adj" fmla="val 26000"/>
            </a:avLst>
          </a:prstGeom>
          <a:solidFill>
            <a:srgbClr val="7FB2F0"/>
          </a:solidFill>
          <a:ln/>
          <a:effectLst>
            <a:outerShdw sx="100000" sy="100000" kx="0" ky="0" algn="bl" rotWithShape="0" blurRad="152400" dist="50800" dir="5400000">
              <a:srgbClr val="5364CE">
                <a:alpha val="13000"/>
              </a:srgbClr>
            </a:outerShdw>
          </a:effectLst>
        </p:spPr>
      </p:sp>
      <p:sp>
        <p:nvSpPr>
          <p:cNvPr id="7" name="Text 5"/>
          <p:cNvSpPr txBox="1"/>
          <p:nvPr/>
        </p:nvSpPr>
        <p:spPr>
          <a:xfrm rot="240000">
            <a:off x="7589520" y="1737360"/>
            <a:ext cx="1645920" cy="1645920"/>
          </a:xfrm>
          <a:prstGeom prst="rect">
            <a:avLst/>
          </a:prstGeom>
          <a:noFill/>
          <a:ln/>
        </p:spPr>
        <p:txBody>
          <a:bodyPr wrap="square" lIns="0" tIns="0" rIns="0" bIns="0" rtlCol="0" anchor="ctr"/>
          <a:lstStyle/>
          <a:p>
            <a:pPr algn="ctr" indent="0" marL="0">
              <a:buNone/>
            </a:pPr>
            <a:r>
              <a:rPr lang="en-US" sz="2000" b="1" dirty="0">
                <a:solidFill>
                  <a:srgbClr val="FDFEFF"/>
                </a:solidFill>
                <a:latin typeface="Malgun Gothic" pitchFamily="34" charset="0"/>
                <a:ea typeface="Malgun Gothic" pitchFamily="34" charset="-122"/>
                <a:cs typeface="Malgun Gothic" pitchFamily="34" charset="-120"/>
              </a:rPr>
              <a:t>장소</a:t>
            </a:r>
            <a:endParaRPr lang="en-US" sz="2000" dirty="0"/>
          </a:p>
        </p:txBody>
      </p:sp>
      <p:sp>
        <p:nvSpPr>
          <p:cNvPr id="8" name="Shape 6"/>
          <p:cNvSpPr/>
          <p:nvPr/>
        </p:nvSpPr>
        <p:spPr>
          <a:xfrm rot="-300000">
            <a:off x="9464040" y="1554480"/>
            <a:ext cx="1645920" cy="1645920"/>
          </a:xfrm>
          <a:prstGeom prst="roundRect">
            <a:avLst>
              <a:gd name="adj" fmla="val 26000"/>
            </a:avLst>
          </a:prstGeom>
          <a:solidFill>
            <a:srgbClr val="F4909F"/>
          </a:solidFill>
          <a:ln/>
          <a:effectLst>
            <a:outerShdw sx="100000" sy="100000" kx="0" ky="0" algn="bl" rotWithShape="0" blurRad="152400" dist="50800" dir="5400000">
              <a:srgbClr val="5364CE">
                <a:alpha val="13000"/>
              </a:srgbClr>
            </a:outerShdw>
          </a:effectLst>
        </p:spPr>
      </p:sp>
      <p:sp>
        <p:nvSpPr>
          <p:cNvPr id="9" name="Text 7"/>
          <p:cNvSpPr txBox="1"/>
          <p:nvPr/>
        </p:nvSpPr>
        <p:spPr>
          <a:xfrm rot="-300000">
            <a:off x="9464040" y="1554480"/>
            <a:ext cx="1645920" cy="1645920"/>
          </a:xfrm>
          <a:prstGeom prst="rect">
            <a:avLst/>
          </a:prstGeom>
          <a:noFill/>
          <a:ln/>
        </p:spPr>
        <p:txBody>
          <a:bodyPr wrap="square" lIns="0" tIns="0" rIns="0" bIns="0" rtlCol="0" anchor="ctr"/>
          <a:lstStyle/>
          <a:p>
            <a:pPr algn="ctr" indent="0" marL="0">
              <a:buNone/>
            </a:pPr>
            <a:r>
              <a:rPr lang="en-US" sz="2000" b="1" dirty="0">
                <a:solidFill>
                  <a:srgbClr val="FDFEFF"/>
                </a:solidFill>
                <a:latin typeface="Malgun Gothic" pitchFamily="34" charset="0"/>
                <a:ea typeface="Malgun Gothic" pitchFamily="34" charset="-122"/>
                <a:cs typeface="Malgun Gothic" pitchFamily="34" charset="-120"/>
              </a:rPr>
              <a:t>문제</a:t>
            </a:r>
            <a:endParaRPr lang="en-US" sz="2000" dirty="0"/>
          </a:p>
        </p:txBody>
      </p:sp>
      <p:sp>
        <p:nvSpPr>
          <p:cNvPr id="10" name="Shape 8"/>
          <p:cNvSpPr/>
          <p:nvPr/>
        </p:nvSpPr>
        <p:spPr>
          <a:xfrm rot="-180000">
            <a:off x="7726680" y="3611880"/>
            <a:ext cx="1645920" cy="1645920"/>
          </a:xfrm>
          <a:prstGeom prst="roundRect">
            <a:avLst>
              <a:gd name="adj" fmla="val 26000"/>
            </a:avLst>
          </a:prstGeom>
          <a:solidFill>
            <a:srgbClr val="74CDAE"/>
          </a:solidFill>
          <a:ln/>
          <a:effectLst>
            <a:outerShdw sx="100000" sy="100000" kx="0" ky="0" algn="bl" rotWithShape="0" blurRad="152400" dist="50800" dir="5400000">
              <a:srgbClr val="5364CE">
                <a:alpha val="13000"/>
              </a:srgbClr>
            </a:outerShdw>
          </a:effectLst>
        </p:spPr>
      </p:sp>
      <p:sp>
        <p:nvSpPr>
          <p:cNvPr id="11" name="Text 9"/>
          <p:cNvSpPr txBox="1"/>
          <p:nvPr/>
        </p:nvSpPr>
        <p:spPr>
          <a:xfrm rot="-180000">
            <a:off x="7726680" y="3611880"/>
            <a:ext cx="1645920" cy="1645920"/>
          </a:xfrm>
          <a:prstGeom prst="rect">
            <a:avLst/>
          </a:prstGeom>
          <a:noFill/>
          <a:ln/>
        </p:spPr>
        <p:txBody>
          <a:bodyPr wrap="square" lIns="0" tIns="0" rIns="0" bIns="0" rtlCol="0" anchor="ctr"/>
          <a:lstStyle/>
          <a:p>
            <a:pPr algn="ctr" indent="0" marL="0">
              <a:buNone/>
            </a:pPr>
            <a:r>
              <a:rPr lang="en-US" sz="2000" b="1" dirty="0">
                <a:solidFill>
                  <a:srgbClr val="FDFEFF"/>
                </a:solidFill>
                <a:latin typeface="Malgun Gothic" pitchFamily="34" charset="0"/>
                <a:ea typeface="Malgun Gothic" pitchFamily="34" charset="-122"/>
                <a:cs typeface="Malgun Gothic" pitchFamily="34" charset="-120"/>
              </a:rPr>
              <a:t>행동</a:t>
            </a:r>
            <a:endParaRPr lang="en-US" sz="2000" dirty="0"/>
          </a:p>
        </p:txBody>
      </p:sp>
      <p:sp>
        <p:nvSpPr>
          <p:cNvPr id="12" name="Shape 10"/>
          <p:cNvSpPr/>
          <p:nvPr/>
        </p:nvSpPr>
        <p:spPr>
          <a:xfrm rot="360000">
            <a:off x="9601200" y="3474720"/>
            <a:ext cx="1645920" cy="1645920"/>
          </a:xfrm>
          <a:prstGeom prst="roundRect">
            <a:avLst>
              <a:gd name="adj" fmla="val 26000"/>
            </a:avLst>
          </a:prstGeom>
          <a:solidFill>
            <a:srgbClr val="F5C46B"/>
          </a:solidFill>
          <a:ln/>
          <a:effectLst>
            <a:outerShdw sx="100000" sy="100000" kx="0" ky="0" algn="bl" rotWithShape="0" blurRad="152400" dist="50800" dir="5400000">
              <a:srgbClr val="5364CE">
                <a:alpha val="13000"/>
              </a:srgbClr>
            </a:outerShdw>
          </a:effectLst>
        </p:spPr>
      </p:sp>
      <p:sp>
        <p:nvSpPr>
          <p:cNvPr id="13" name="Text 11"/>
          <p:cNvSpPr txBox="1"/>
          <p:nvPr/>
        </p:nvSpPr>
        <p:spPr>
          <a:xfrm rot="360000">
            <a:off x="9601200" y="3474720"/>
            <a:ext cx="1645920" cy="1645920"/>
          </a:xfrm>
          <a:prstGeom prst="rect">
            <a:avLst/>
          </a:prstGeom>
          <a:noFill/>
          <a:ln/>
        </p:spPr>
        <p:txBody>
          <a:bodyPr wrap="square" lIns="0" tIns="0" rIns="0" bIns="0" rtlCol="0" anchor="ctr"/>
          <a:lstStyle/>
          <a:p>
            <a:pPr algn="ctr" indent="0" marL="0">
              <a:buNone/>
            </a:pPr>
            <a:r>
              <a:rPr lang="en-US" sz="2000" b="1" dirty="0">
                <a:solidFill>
                  <a:srgbClr val="FDFEFF"/>
                </a:solidFill>
                <a:latin typeface="Malgun Gothic" pitchFamily="34" charset="0"/>
                <a:ea typeface="Malgun Gothic" pitchFamily="34" charset="-122"/>
                <a:cs typeface="Malgun Gothic" pitchFamily="34" charset="-120"/>
              </a:rPr>
              <a:t>결과</a:t>
            </a:r>
            <a:endParaRPr lang="en-US" sz="2000" dirty="0"/>
          </a:p>
        </p:txBody>
      </p:sp>
      <p:sp>
        <p:nvSpPr>
          <p:cNvPr id="14" name="Shape 12"/>
          <p:cNvSpPr/>
          <p:nvPr/>
        </p:nvSpPr>
        <p:spPr>
          <a:xfrm>
            <a:off x="11338560" y="1280160"/>
            <a:ext cx="365760" cy="365760"/>
          </a:xfrm>
          <a:prstGeom prst="ellipse">
            <a:avLst/>
          </a:prstGeom>
          <a:solidFill>
            <a:srgbClr val="FDFEFF"/>
          </a:solidFill>
          <a:ln/>
        </p:spPr>
      </p:sp>
      <p:sp>
        <p:nvSpPr>
          <p:cNvPr id="15" name="Shape 13"/>
          <p:cNvSpPr/>
          <p:nvPr/>
        </p:nvSpPr>
        <p:spPr>
          <a:xfrm>
            <a:off x="7223760" y="1417320"/>
            <a:ext cx="228600" cy="228600"/>
          </a:xfrm>
          <a:prstGeom prst="ellipse">
            <a:avLst/>
          </a:prstGeom>
          <a:solidFill>
            <a:srgbClr val="F5C46B">
              <a:alpha val="70000"/>
            </a:srgbClr>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85855" y="6355080"/>
            <a:ext cx="457200" cy="274320"/>
          </a:xfrm>
          <a:prstGeom prst="rect">
            <a:avLst/>
          </a:prstGeom>
          <a:noFill/>
          <a:ln/>
        </p:spPr>
        <p:txBody>
          <a:bodyPr wrap="square" lIns="0" tIns="0" rIns="0" bIns="0" rtlCol="0" anchor="ctr"/>
          <a:lstStyle/>
          <a:p>
            <a:pPr algn="r" indent="0" marL="0">
              <a:buNone/>
            </a:pPr>
            <a:r>
              <a:rPr lang="en-US" sz="1000" dirty="0">
                <a:solidFill>
                  <a:srgbClr val="8A91AA"/>
                </a:solidFill>
                <a:latin typeface="Malgun Gothic" pitchFamily="34" charset="0"/>
                <a:ea typeface="Malgun Gothic" pitchFamily="34" charset="-122"/>
                <a:cs typeface="Malgun Gothic" pitchFamily="34" charset="-120"/>
              </a:rPr>
              <a:t>22</a:t>
            </a:r>
            <a:endParaRPr lang="en-US" sz="1000" dirty="0"/>
          </a:p>
        </p:txBody>
      </p:sp>
      <p:sp>
        <p:nvSpPr>
          <p:cNvPr id="3" name="Text 1"/>
          <p:cNvSpPr txBox="1"/>
          <p:nvPr/>
        </p:nvSpPr>
        <p:spPr>
          <a:xfrm>
            <a:off x="640080" y="457200"/>
            <a:ext cx="10911535" cy="320040"/>
          </a:xfrm>
          <a:prstGeom prst="rect">
            <a:avLst/>
          </a:prstGeom>
          <a:noFill/>
          <a:ln/>
        </p:spPr>
        <p:txBody>
          <a:bodyPr wrap="square" lIns="0" tIns="0" rIns="0" bIns="0" rtlCol="0" anchor="ctr"/>
          <a:lstStyle/>
          <a:p>
            <a:pPr indent="0" marL="0">
              <a:buNone/>
            </a:pPr>
            <a:r>
              <a:rPr lang="en-US" sz="1300" b="1" dirty="0">
                <a:solidFill>
                  <a:srgbClr val="4C5CC4"/>
                </a:solidFill>
                <a:latin typeface="Malgun Gothic" pitchFamily="34" charset="0"/>
                <a:ea typeface="Malgun Gothic" pitchFamily="34" charset="-122"/>
                <a:cs typeface="Malgun Gothic" pitchFamily="34" charset="-120"/>
              </a:rPr>
              <a:t>참고 자료</a:t>
            </a:r>
            <a:endParaRPr lang="en-US" sz="1300" dirty="0"/>
          </a:p>
        </p:txBody>
      </p:sp>
      <p:sp>
        <p:nvSpPr>
          <p:cNvPr id="4" name="Text 2"/>
          <p:cNvSpPr txBox="1"/>
          <p:nvPr/>
        </p:nvSpPr>
        <p:spPr>
          <a:xfrm>
            <a:off x="640080" y="804672"/>
            <a:ext cx="10911535" cy="731520"/>
          </a:xfrm>
          <a:prstGeom prst="rect">
            <a:avLst/>
          </a:prstGeom>
          <a:noFill/>
          <a:ln/>
        </p:spPr>
        <p:txBody>
          <a:bodyPr wrap="square" lIns="0" tIns="0" rIns="0" bIns="0" rtlCol="0" anchor="t"/>
          <a:lstStyle/>
          <a:p>
            <a:pPr indent="0" marL="0">
              <a:buNone/>
            </a:pPr>
            <a:r>
              <a:rPr lang="en-US" sz="3000" b="1" dirty="0">
                <a:solidFill>
                  <a:srgbClr val="39405C"/>
                </a:solidFill>
                <a:latin typeface="Malgun Gothic" pitchFamily="34" charset="0"/>
                <a:ea typeface="Malgun Gothic" pitchFamily="34" charset="-122"/>
                <a:cs typeface="Malgun Gothic" pitchFamily="34" charset="-120"/>
              </a:rPr>
              <a:t>배경조사 출처</a:t>
            </a:r>
            <a:endParaRPr lang="en-US" sz="3000" dirty="0"/>
          </a:p>
        </p:txBody>
      </p:sp>
      <p:sp>
        <p:nvSpPr>
          <p:cNvPr id="5" name="Text 3"/>
          <p:cNvSpPr txBox="1"/>
          <p:nvPr/>
        </p:nvSpPr>
        <p:spPr>
          <a:xfrm>
            <a:off x="640080" y="1691640"/>
            <a:ext cx="5364328" cy="4572000"/>
          </a:xfrm>
          <a:prstGeom prst="rect">
            <a:avLst/>
          </a:prstGeom>
          <a:noFill/>
          <a:ln/>
        </p:spPr>
        <p:txBody>
          <a:bodyPr wrap="square" lIns="0" tIns="0" rIns="0" bIns="0" rtlCol="0" anchor="t"/>
          <a:lstStyle/>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1. 김초은 · 임해영 · 김초영 (2023). 경계선 지적지능 아동청소년 자녀를 둔 어머니 양육 경험에 관한 연구</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한국가족복지학 70(1), 5–41</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https://www.dbpia.co.kr/journal/articleDetail?nodeId=NODE11606563</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2. 손성화 · 백수진 (2025). 경계선지능 청년의 평생교육에 대한 어머니의 인식과 지원요구</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특수교육논총 41(1), 167–201</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https://www.dbpia.co.kr/journal/articleDetail?nodeId=NODE12094286</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3. 임희진 · 구자경 (2019). 경계선 지능 자녀를 둔 어머니가 양육과정에서 경험한 어려움과 대처에 관한 내러티브 탐구</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독서치료연구 11(1), 63–84</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https://www.kci.go.kr/kciportal/landing/article.kci?arti_id=ART002484150</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4. 특수교육대상 '자폐성 장애' 학생 2만9천명 육박…4년만에 69%↑ (교육부 2026 특수교육통계)</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연합뉴스, 2026.9.5 (재게재)</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https://supple.kr/news/cmtnign6n0025e2tr63rvpb5o</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5. 경계선 지능 첫 실태조사 (한국보건사회연구원 · 보건복지부)</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연합뉴스, 2026.7.29</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https://v.daum.net/v/20260729061254633</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6. Pitri, E. &amp; Michaelidou, A. (2025). The contribution of narrative drawing in early literacy</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Frontiers in Education, 10. doi:10.3389/feduc.2025.1465714</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https://www.frontiersin.org/journals/education/articles/10.3389/feduc.2025.1465714/full</a:t>
            </a:r>
            <a:endParaRPr lang="en-US" sz="1050" dirty="0"/>
          </a:p>
        </p:txBody>
      </p:sp>
      <p:sp>
        <p:nvSpPr>
          <p:cNvPr id="6" name="Text 4"/>
          <p:cNvSpPr txBox="1"/>
          <p:nvPr/>
        </p:nvSpPr>
        <p:spPr>
          <a:xfrm>
            <a:off x="6187288" y="1691640"/>
            <a:ext cx="5364328" cy="4572000"/>
          </a:xfrm>
          <a:prstGeom prst="rect">
            <a:avLst/>
          </a:prstGeom>
          <a:noFill/>
          <a:ln/>
        </p:spPr>
        <p:txBody>
          <a:bodyPr wrap="square" lIns="0" tIns="0" rIns="0" bIns="0" rtlCol="0" anchor="t"/>
          <a:lstStyle/>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7. CAST (2024). UDL Guidelines 3.0 — 5.1 Use multiple media for communication</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CAST</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https://udlguidelines.cast.org/action-expression/expression-communication/multiple-media/</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8. Smith, H. J. et al. (2023). A Method for Animating Children's Drawings of the Human Figure</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ACM Transactions on Graphics 42(3). arXiv:2303.12741</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https://arxiv.org/abs/2303.12741</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9. Meta AI (2023). Animated Drawings 데이터셋 · 코드 오픈소스 공개</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Meta AI Blog, 2023.4.13</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https://ai.meta.com/blog/ai-dataset-animation-drawings/</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10. Drawings Alive — 아이 그림을 AI 애니메이션 · 3D로</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공식 사이트 (2026.9.30 확인)</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https://drawingsalive.com/</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11. Drawalive — 그림 + 이야기 녹음을 움직이는 콘텐츠로</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공식 사이트 (2026.9.30 확인)</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https://drawalive.app/</a:t>
            </a:r>
            <a:endParaRPr lang="en-US" sz="1050" dirty="0"/>
          </a:p>
          <a:p>
            <a:pPr algn="l" indent="0" marL="0">
              <a:lnSpc>
                <a:spcPct val="115000"/>
              </a:lnSpc>
              <a:buNone/>
            </a:pPr>
            <a:r>
              <a:rPr lang="en-US" sz="400" dirty="0">
                <a:solidFill>
                  <a:srgbClr val="39405C"/>
                </a:solidFill>
                <a:latin typeface="Malgun Gothic" pitchFamily="34" charset="0"/>
                <a:ea typeface="Malgun Gothic" pitchFamily="34" charset="-122"/>
                <a:cs typeface="Malgun Gothic" pitchFamily="34" charset="-120"/>
              </a:rPr>
              <a:t> </a:t>
            </a:r>
            <a:endParaRPr lang="en-US" sz="1050" dirty="0"/>
          </a:p>
          <a:p>
            <a:pPr algn="l" indent="0" marL="0">
              <a:lnSpc>
                <a:spcPct val="115000"/>
              </a:lnSpc>
              <a:buNone/>
            </a:pPr>
            <a:r>
              <a:rPr lang="en-US" sz="1050" b="1" dirty="0">
                <a:solidFill>
                  <a:srgbClr val="39405C"/>
                </a:solidFill>
                <a:latin typeface="Malgun Gothic" pitchFamily="34" charset="0"/>
                <a:ea typeface="Malgun Gothic" pitchFamily="34" charset="-122"/>
                <a:cs typeface="Malgun Gothic" pitchFamily="34" charset="-120"/>
              </a:rPr>
              <a:t>12. The Alan Turing Institute (2025). Understanding the Impacts of Generative AI Use on Children</a:t>
            </a:r>
            <a:endParaRPr lang="en-US" sz="1050" dirty="0"/>
          </a:p>
          <a:p>
            <a:pPr algn="l" indent="0" marL="0">
              <a:lnSpc>
                <a:spcPct val="115000"/>
              </a:lnSpc>
              <a:buNone/>
            </a:pPr>
            <a:r>
              <a:rPr lang="en-US" sz="1050" dirty="0">
                <a:solidFill>
                  <a:srgbClr val="5A6282"/>
                </a:solidFill>
                <a:latin typeface="Malgun Gothic" pitchFamily="34" charset="0"/>
                <a:ea typeface="Malgun Gothic" pitchFamily="34" charset="-122"/>
                <a:cs typeface="Malgun Gothic" pitchFamily="34" charset="-120"/>
              </a:rPr>
              <a:t>LEGO Foundation 후원 브리핑</a:t>
            </a:r>
            <a:endParaRPr lang="en-US" sz="1050" dirty="0"/>
          </a:p>
          <a:p>
            <a:pPr algn="l" indent="0" marL="0">
              <a:lnSpc>
                <a:spcPct val="115000"/>
              </a:lnSpc>
              <a:buNone/>
            </a:pPr>
            <a:r>
              <a:rPr lang="en-US" sz="1050" u="sng" dirty="0">
                <a:solidFill>
                  <a:srgbClr val="4C5CC4"/>
                </a:solidFill>
                <a:latin typeface="Malgun Gothic" pitchFamily="34" charset="0"/>
                <a:ea typeface="Malgun Gothic" pitchFamily="34" charset="-122"/>
                <a:cs typeface="Malgun Gothic"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https://www.turing.ac.uk/sites/default/files/2025-05/combined_briefing_-_understanding_the_impacts_of_generative_ai_use_on_children.pdf</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DrawTale 중간 발표</dc:title>
  <dc:subject>PptxGenJS Presentation</dc:subject>
  <dc:creator>DrawTale 팀</dc:creator>
  <cp:lastModifiedBy>DrawTale 팀</cp:lastModifiedBy>
  <cp:revision>1</cp:revision>
  <dcterms:created xsi:type="dcterms:W3CDTF">2026-09-30T03:27:23Z</dcterms:created>
  <dcterms:modified xsi:type="dcterms:W3CDTF">2026-09-30T03:27:23Z</dcterms:modified>
</cp:coreProperties>
</file>